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dd7c957c3754f3a" /><Relationship Type="http://schemas.openxmlformats.org/officeDocument/2006/relationships/extended-properties" Target="/docProps/app.xml" Id="R4efee28f36da465c" /><Relationship Type="http://schemas.openxmlformats.org/officeDocument/2006/relationships/officeDocument" Target="/ppt/presentation.xml" Id="R399178ed10ce4545" /></Relationships>
</file>

<file path=ppt/presentation.xml><?xml version="1.0" encoding="utf-8"?>
<p:presentation xmlns:p="http://schemas.openxmlformats.org/presentationml/2006/main">
  <p:sldMasterIdLst>
    <p:sldMasterId xmlns:r="http://schemas.openxmlformats.org/officeDocument/2006/relationships" id="2147483648" r:id="R784308286fc24d3f"/>
  </p:sldMasterIdLst>
  <p:notesMasterIdLst>
    <p:notesMasterId xmlns:r="http://schemas.openxmlformats.org/officeDocument/2006/relationships" r:id="Ra26f24792ec14302"/>
  </p:notesMasterIdLst>
  <p:sldIdLst>
    <p:sldId xmlns:r="http://schemas.openxmlformats.org/officeDocument/2006/relationships" id="256" r:id="Rdec92f3c940d4436"/>
    <p:sldId xmlns:r="http://schemas.openxmlformats.org/officeDocument/2006/relationships" id="257" r:id="R6e3d872ac47b4206"/>
    <p:sldId xmlns:r="http://schemas.openxmlformats.org/officeDocument/2006/relationships" id="258" r:id="Rf61e99e341c24aeb"/>
    <p:sldId xmlns:r="http://schemas.openxmlformats.org/officeDocument/2006/relationships" id="259" r:id="R82efdd5433944908"/>
    <p:sldId xmlns:r="http://schemas.openxmlformats.org/officeDocument/2006/relationships" id="260" r:id="Ra389ce08ae90411a"/>
    <p:sldId xmlns:r="http://schemas.openxmlformats.org/officeDocument/2006/relationships" id="261" r:id="R942995ec0dd9492b"/>
    <p:sldId xmlns:r="http://schemas.openxmlformats.org/officeDocument/2006/relationships" id="262" r:id="R5b49408e062d4695"/>
    <p:sldId xmlns:r="http://schemas.openxmlformats.org/officeDocument/2006/relationships" id="263" r:id="R727db3ee03464362"/>
    <p:sldId xmlns:r="http://schemas.openxmlformats.org/officeDocument/2006/relationships" id="264" r:id="R8fb7992fea5b45e7"/>
    <p:sldId xmlns:r="http://schemas.openxmlformats.org/officeDocument/2006/relationships" id="265" r:id="Rad757edb50c5434b"/>
    <p:sldId xmlns:r="http://schemas.openxmlformats.org/officeDocument/2006/relationships" id="266" r:id="Rc948f616905f48ad"/>
    <p:sldId xmlns:r="http://schemas.openxmlformats.org/officeDocument/2006/relationships" id="267" r:id="R74948f452d66481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8689f73f81e4644" /><Relationship Type="http://schemas.openxmlformats.org/officeDocument/2006/relationships/slideMaster" Target="/ppt/slideMasters/slideMaster1.xml" Id="R784308286fc24d3f" /><Relationship Type="http://schemas.openxmlformats.org/officeDocument/2006/relationships/notesMaster" Target="/ppt/notesMasters/notesMaster1.xml" Id="Ra26f24792ec14302" /><Relationship Type="http://schemas.openxmlformats.org/officeDocument/2006/relationships/presProps" Target="/ppt/presProps.xml" Id="R05f1fe381bcd4202" /><Relationship Type="http://schemas.openxmlformats.org/officeDocument/2006/relationships/tableStyles" Target="/ppt/tableStyles.xml" Id="R2b7314dc5e88428d" /><Relationship Type="http://schemas.openxmlformats.org/officeDocument/2006/relationships/slide" Target="/ppt/slides/slide1.xml" Id="Rdec92f3c940d4436" /><Relationship Type="http://schemas.openxmlformats.org/officeDocument/2006/relationships/slide" Target="/ppt/slides/slide2.xml" Id="R6e3d872ac47b4206" /><Relationship Type="http://schemas.openxmlformats.org/officeDocument/2006/relationships/slide" Target="/ppt/slides/slide3.xml" Id="Rf61e99e341c24aeb" /><Relationship Type="http://schemas.openxmlformats.org/officeDocument/2006/relationships/slide" Target="/ppt/slides/slide4.xml" Id="R82efdd5433944908" /><Relationship Type="http://schemas.openxmlformats.org/officeDocument/2006/relationships/slide" Target="/ppt/slides/slide5.xml" Id="Ra389ce08ae90411a" /><Relationship Type="http://schemas.openxmlformats.org/officeDocument/2006/relationships/slide" Target="/ppt/slides/slide6.xml" Id="R942995ec0dd9492b" /><Relationship Type="http://schemas.openxmlformats.org/officeDocument/2006/relationships/slide" Target="/ppt/slides/slide7.xml" Id="R5b49408e062d4695" /><Relationship Type="http://schemas.openxmlformats.org/officeDocument/2006/relationships/slide" Target="/ppt/slides/slide8.xml" Id="R727db3ee03464362" /><Relationship Type="http://schemas.openxmlformats.org/officeDocument/2006/relationships/slide" Target="/ppt/slides/slide9.xml" Id="R8fb7992fea5b45e7" /><Relationship Type="http://schemas.openxmlformats.org/officeDocument/2006/relationships/slide" Target="/ppt/slides/slide10.xml" Id="Rad757edb50c5434b" /><Relationship Type="http://schemas.openxmlformats.org/officeDocument/2006/relationships/slide" Target="/ppt/slides/slide11.xml" Id="Rc948f616905f48ad" /><Relationship Type="http://schemas.openxmlformats.org/officeDocument/2006/relationships/slide" Target="/ppt/slides/slide12.xml" Id="R74948f452d66481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c1c073dfccf464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4c04b0529784b65" /><Relationship Type="http://schemas.openxmlformats.org/officeDocument/2006/relationships/notesMaster" Target="/ppt/notesMasters/notesMaster1.xml" Id="Rfb12027601fd4555" /></Relationships>
</file>

<file path=ppt/notesSlides/_rels/notesSlide2.xml.rels>&#65279;<?xml version="1.0" encoding="utf-8"?><Relationships xmlns="http://schemas.openxmlformats.org/package/2006/relationships"><Relationship Type="http://schemas.openxmlformats.org/officeDocument/2006/relationships/slide" Target="/ppt/slides/slide2.xml" Id="R4da0785f172343e2" /><Relationship Type="http://schemas.openxmlformats.org/officeDocument/2006/relationships/notesMaster" Target="/ppt/notesMasters/notesMaster1.xml" Id="R588a806e77224982" /></Relationships>
</file>

<file path=ppt/notesSlides/_rels/notesSlide3.xml.rels>&#65279;<?xml version="1.0" encoding="utf-8"?><Relationships xmlns="http://schemas.openxmlformats.org/package/2006/relationships"><Relationship Type="http://schemas.openxmlformats.org/officeDocument/2006/relationships/slide" Target="/ppt/slides/slide3.xml" Id="Rfb2cb642e4234968" /><Relationship Type="http://schemas.openxmlformats.org/officeDocument/2006/relationships/notesMaster" Target="/ppt/notesMasters/notesMaster1.xml" Id="Rd2993f518c694997" /></Relationships>
</file>

<file path=ppt/notesSlides/_rels/notesSlide4.xml.rels>&#65279;<?xml version="1.0" encoding="utf-8"?><Relationships xmlns="http://schemas.openxmlformats.org/package/2006/relationships"><Relationship Type="http://schemas.openxmlformats.org/officeDocument/2006/relationships/slide" Target="/ppt/slides/slide4.xml" Id="R9ecbd58d3cf44484" /><Relationship Type="http://schemas.openxmlformats.org/officeDocument/2006/relationships/notesMaster" Target="/ppt/notesMasters/notesMaster1.xml" Id="R362928312ba1436e" /></Relationships>
</file>

<file path=ppt/notesSlides/_rels/notesSlide5.xml.rels>&#65279;<?xml version="1.0" encoding="utf-8"?><Relationships xmlns="http://schemas.openxmlformats.org/package/2006/relationships"><Relationship Type="http://schemas.openxmlformats.org/officeDocument/2006/relationships/slide" Target="/ppt/slides/slide5.xml" Id="R2aafcce6245c4873" /><Relationship Type="http://schemas.openxmlformats.org/officeDocument/2006/relationships/notesMaster" Target="/ppt/notesMasters/notesMaster1.xml" Id="Rad98df6a29304f9a" /></Relationships>
</file>

<file path=ppt/notesSlides/_rels/notesSlide6.xml.rels>&#65279;<?xml version="1.0" encoding="utf-8"?><Relationships xmlns="http://schemas.openxmlformats.org/package/2006/relationships"><Relationship Type="http://schemas.openxmlformats.org/officeDocument/2006/relationships/slide" Target="/ppt/slides/slide6.xml" Id="R5cddb7a798de45c1" /><Relationship Type="http://schemas.openxmlformats.org/officeDocument/2006/relationships/notesMaster" Target="/ppt/notesMasters/notesMaster1.xml" Id="Rcbd4c6c26e70421b" /></Relationships>
</file>

<file path=ppt/notesSlides/_rels/notesSlide7.xml.rels>&#65279;<?xml version="1.0" encoding="utf-8"?><Relationships xmlns="http://schemas.openxmlformats.org/package/2006/relationships"><Relationship Type="http://schemas.openxmlformats.org/officeDocument/2006/relationships/slide" Target="/ppt/slides/slide7.xml" Id="R618bf06ff1c1454d" /><Relationship Type="http://schemas.openxmlformats.org/officeDocument/2006/relationships/notesMaster" Target="/ppt/notesMasters/notesMaster1.xml" Id="R4be663856d4347f0" /></Relationships>
</file>

<file path=ppt/notesSlides/_rels/notesSlide8.xml.rels>&#65279;<?xml version="1.0" encoding="utf-8"?><Relationships xmlns="http://schemas.openxmlformats.org/package/2006/relationships"><Relationship Type="http://schemas.openxmlformats.org/officeDocument/2006/relationships/slide" Target="/ppt/slides/slide8.xml" Id="R413567c7fc9d43fc" /><Relationship Type="http://schemas.openxmlformats.org/officeDocument/2006/relationships/notesMaster" Target="/ppt/notesMasters/notesMaster1.xml" Id="R6f5ec36f45ca4d26" /></Relationships>
</file>

<file path=ppt/notesSlides/_rels/notesSlide9.xml.rels>&#65279;<?xml version="1.0" encoding="utf-8"?><Relationships xmlns="http://schemas.openxmlformats.org/package/2006/relationships"><Relationship Type="http://schemas.openxmlformats.org/officeDocument/2006/relationships/slide" Target="/ppt/slides/slide9.xml" Id="R8c9e9c46dbe64944" /><Relationship Type="http://schemas.openxmlformats.org/officeDocument/2006/relationships/notesMaster" Target="/ppt/notesMasters/notesMaster1.xml" Id="R4fbc1de0625e42d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f65f18d94c747bf" /><Relationship Type="http://schemas.openxmlformats.org/officeDocument/2006/relationships/notesMaster" Target="/ppt/notesMasters/notesMaster1.xml" Id="Reb6684c84d264af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6d2b507563d4fd9" /><Relationship Type="http://schemas.openxmlformats.org/officeDocument/2006/relationships/notesMaster" Target="/ppt/notesMasters/notesMaster1.xml" Id="R1e14e046e16f425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32b4cc517665439a" /><Relationship Type="http://schemas.openxmlformats.org/officeDocument/2006/relationships/notesMaster" Target="/ppt/notesMasters/notesMaster1.xml" Id="R80ba4fc131ba478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with the core question: what actually happens after someone types or speaks into Talk?</a:t>
            </a:r>
          </a:p>
          <a:p xmlns:a="http://schemas.openxmlformats.org/drawingml/2006/main">
            <a:r>
              <a:t/>
            </a:r>
          </a:p>
          <a:p xmlns:a="http://schemas.openxmlformats.org/drawingml/2006/main">
            <a:r>
              <a:t>[Sources]</a:t>
            </a:r>
          </a:p>
          <a:p xmlns:a="http://schemas.openxmlformats.org/drawingml/2006/main">
            <a:r>
              <a:t>- /Users/orilerman/Downloads/HealthyFlow/TARGET.md#L3-L38</a:t>
            </a:r>
          </a:p>
          <a:p xmlns:a="http://schemas.openxmlformats.org/drawingml/2006/main">
            <a:r>
              <a:t>- /Users/orilerman/Downloads/HealthyFlow/src/pages/AssistantPage.tsx#L436-L780</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Talk is one visible surface, but the backend has a legacy regular path and a durable plan_work path.</a:t>
            </a:r>
          </a:p>
          <a:p xmlns:a="http://schemas.openxmlformats.org/drawingml/2006/main">
            <a:r>
              <a:t/>
            </a:r>
          </a:p>
          <a:p xmlns:a="http://schemas.openxmlformats.org/drawingml/2006/main">
            <a:r>
              <a:t>[Sources]</a:t>
            </a:r>
          </a:p>
          <a:p xmlns:a="http://schemas.openxmlformats.org/drawingml/2006/main">
            <a:r>
              <a:t>- /Users/orilerman/Downloads/HealthyFlow/backend/src/routes/ai.ts#L384-L468</a:t>
            </a:r>
          </a:p>
          <a:p xmlns:a="http://schemas.openxmlformats.org/drawingml/2006/main">
            <a:r>
              <a:t>- /Users/orilerman/Downloads/HealthyFlow/backend/src/talk-workflow-definitions.ts#L15-L40</a:t>
            </a:r>
          </a:p>
          <a:p xmlns:a="http://schemas.openxmlformats.org/drawingml/2006/main">
            <a:r>
              <a:t>- /Users/orilerman/Downloads/HealthyFlow/backend/src/talk-workflow-definitions.ts#L350-L390</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client separates the durable conversation from the smaller model context. A retry replays the captured TalkRequest rather than rebuilding it from mutable UI state.</a:t>
            </a:r>
          </a:p>
          <a:p xmlns:a="http://schemas.openxmlformats.org/drawingml/2006/main">
            <a:r>
              <a:t/>
            </a:r>
          </a:p>
          <a:p xmlns:a="http://schemas.openxmlformats.org/drawingml/2006/main">
            <a:r>
              <a:t>[Sources]</a:t>
            </a:r>
          </a:p>
          <a:p xmlns:a="http://schemas.openxmlformats.org/drawingml/2006/main">
            <a:r>
              <a:t>- /Users/orilerman/Downloads/HealthyFlow/src/pages/AssistantPage.tsx#L330-L332</a:t>
            </a:r>
          </a:p>
          <a:p xmlns:a="http://schemas.openxmlformats.org/drawingml/2006/main">
            <a:r>
              <a:t>- /Users/orilerman/Downloads/HealthyFlow/src/pages/AssistantPage.tsx#L676-L727</a:t>
            </a:r>
          </a:p>
          <a:p xmlns:a="http://schemas.openxmlformats.org/drawingml/2006/main">
            <a:r>
              <a:t>- /Users/orilerman/Downloads/HealthyFlow/src/pages/AssistantPage.tsx#L731-L779</a:t>
            </a:r>
          </a:p>
          <a:p xmlns:a="http://schemas.openxmlformats.org/drawingml/2006/main">
            <a:r>
              <a:t>- /Users/orilerman/Downloads/HealthyFlow/src/services/api.ts#L854-L871</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route validates attachment placement and size, checks per-user rate limits, then gives an existing workflow precedence over reinterpreting the newest message.</a:t>
            </a:r>
          </a:p>
          <a:p xmlns:a="http://schemas.openxmlformats.org/drawingml/2006/main">
            <a:r>
              <a:t/>
            </a:r>
          </a:p>
          <a:p xmlns:a="http://schemas.openxmlformats.org/drawingml/2006/main">
            <a:r>
              <a:t>[Sources]</a:t>
            </a:r>
          </a:p>
          <a:p xmlns:a="http://schemas.openxmlformats.org/drawingml/2006/main">
            <a:r>
              <a:t>- /Users/orilerman/Downloads/HealthyFlow/backend/src/routes/ai.ts#L88-L125</a:t>
            </a:r>
          </a:p>
          <a:p xmlns:a="http://schemas.openxmlformats.org/drawingml/2006/main">
            <a:r>
              <a:t>- /Users/orilerman/Downloads/HealthyFlow/backend/src/routes/ai.ts#L384-L437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system message and conversation enter a Chat Completions loop. Each tool result is appended to model context; the default iteration ceiling is four.</a:t>
            </a:r>
          </a:p>
          <a:p xmlns:a="http://schemas.openxmlformats.org/drawingml/2006/main">
            <a:r>
              <a:t/>
            </a:r>
          </a:p>
          <a:p xmlns:a="http://schemas.openxmlformats.org/drawingml/2006/main">
            <a:r>
              <a:t>[Sources]</a:t>
            </a:r>
          </a:p>
          <a:p xmlns:a="http://schemas.openxmlformats.org/drawingml/2006/main">
            <a:r>
              <a:t>- /Users/orilerman/Downloads/HealthyFlow/backend/src/routes/ai.ts#L158-L272</a:t>
            </a:r>
          </a:p>
          <a:p xmlns:a="http://schemas.openxmlformats.org/drawingml/2006/main">
            <a:r>
              <a:t>- /Users/orilerman/Downloads/HealthyFlow/backend/src/routes/ai.ts#L439-L468</a:t>
            </a:r>
          </a:p>
          <a:p xmlns:a="http://schemas.openxmlformats.org/drawingml/2006/main">
            <a:r>
              <a:t>- /Users/orilerman/Downloads/HealthyFlow/backend/src/openai.ts#L904-L955</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generic route calls aiCapabilityTools with default filtering, excluding capabilities marked registered. This is why the general prompt is broader than one module but still cannot use the Daily Plan or Work proposal tools.</a:t>
            </a:r>
          </a:p>
          <a:p xmlns:a="http://schemas.openxmlformats.org/drawingml/2006/main">
            <a:r>
              <a:t/>
            </a:r>
          </a:p>
          <a:p xmlns:a="http://schemas.openxmlformats.org/drawingml/2006/main">
            <a:r>
              <a:t>[Sources]</a:t>
            </a:r>
          </a:p>
          <a:p xmlns:a="http://schemas.openxmlformats.org/drawingml/2006/main">
            <a:r>
              <a:t>- /Users/orilerman/Downloads/HealthyFlow/backend/src/ai-capabilities.ts#L918-L1015</a:t>
            </a:r>
          </a:p>
          <a:p xmlns:a="http://schemas.openxmlformats.org/drawingml/2006/main">
            <a:r>
              <a:t>- /Users/orilerman/Downloads/HealthyFlow/backend/src/ai-capabilities.ts#L1511-L1749</a:t>
            </a:r>
          </a:p>
          <a:p xmlns:a="http://schemas.openxmlformats.org/drawingml/2006/main">
            <a:r>
              <a:t>- /Users/orilerman/Downloads/HealthyFlow/backend/src/ai-capabilities.ts#L1934-L1958</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writes require preview and confirmation. The continuation mechanism differs: generic Talk fabricates a hidden follow-up message; the durable workflow resumes server-side from a typed confirmation event.</a:t>
            </a:r>
          </a:p>
          <a:p xmlns:a="http://schemas.openxmlformats.org/drawingml/2006/main">
            <a:r>
              <a:t/>
            </a:r>
          </a:p>
          <a:p xmlns:a="http://schemas.openxmlformats.org/drawingml/2006/main">
            <a:r>
              <a:t>[Sources]</a:t>
            </a:r>
          </a:p>
          <a:p xmlns:a="http://schemas.openxmlformats.org/drawingml/2006/main">
            <a:r>
              <a:t>- /Users/orilerman/Downloads/HealthyFlow/backend/src/routes/ai.ts#L489-L567</a:t>
            </a:r>
          </a:p>
          <a:p xmlns:a="http://schemas.openxmlformats.org/drawingml/2006/main">
            <a:r>
              <a:t>- /Users/orilerman/Downloads/HealthyFlow/src/pages/AssistantPage.tsx#L246-L258</a:t>
            </a:r>
          </a:p>
          <a:p xmlns:a="http://schemas.openxmlformats.org/drawingml/2006/main">
            <a:r>
              <a:t>- /Users/orilerman/Downloads/HealthyFlow/src/pages/AssistantPage.tsx#L900-L985</a:t>
            </a:r>
          </a:p>
          <a:p xmlns:a="http://schemas.openxmlformats.org/drawingml/2006/main">
            <a:r>
              <a:t>- /Users/orilerman/Downloads/HealthyFlow/backend/src/ai-capabilities.ts#L1875-L1905</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application owns workflow selection and legal transitions. Agent output becomes a typed event; it cannot choose an arbitrary next stage. Waiting stages run no model.</a:t>
            </a:r>
          </a:p>
          <a:p xmlns:a="http://schemas.openxmlformats.org/drawingml/2006/main">
            <a:r>
              <a:t/>
            </a:r>
          </a:p>
          <a:p xmlns:a="http://schemas.openxmlformats.org/drawingml/2006/main">
            <a:r>
              <a:t>[Sources]</a:t>
            </a:r>
          </a:p>
          <a:p xmlns:a="http://schemas.openxmlformats.org/drawingml/2006/main">
            <a:r>
              <a:t>- /Users/orilerman/Downloads/HealthyFlow/docs/adr/0009-application-owned-talk-state-machine.md</a:t>
            </a:r>
          </a:p>
          <a:p xmlns:a="http://schemas.openxmlformats.org/drawingml/2006/main">
            <a:r>
              <a:t>- /Users/orilerman/Downloads/HealthyFlow/backend/src/talk-workflow-definitions.ts#L69-L170</a:t>
            </a:r>
          </a:p>
          <a:p xmlns:a="http://schemas.openxmlformats.org/drawingml/2006/main">
            <a:r>
              <a:t>- /Users/orilerman/Downloads/HealthyFlow/backend/src/talk-workflow-definitions.ts#L216-L272</a:t>
            </a:r>
          </a:p>
          <a:p xmlns:a="http://schemas.openxmlformats.org/drawingml/2006/main">
            <a:r>
              <a:t>- /Users/orilerman/Downloads/HealthyFlow/backend/src/talk-agent-runtime.ts#L493-L529</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model path remains the same whether the response is later spoken or the request is retried. Attachments are encoded only on the last user message in regular Talk.</a:t>
            </a:r>
          </a:p>
          <a:p xmlns:a="http://schemas.openxmlformats.org/drawingml/2006/main">
            <a:r>
              <a:t/>
            </a:r>
          </a:p>
          <a:p xmlns:a="http://schemas.openxmlformats.org/drawingml/2006/main">
            <a:r>
              <a:t>[Sources]</a:t>
            </a:r>
          </a:p>
          <a:p xmlns:a="http://schemas.openxmlformats.org/drawingml/2006/main">
            <a:r>
              <a:t>- /Users/orilerman/Downloads/HealthyFlow/backend/src/routes/ai.ts#L275-L298</a:t>
            </a:r>
          </a:p>
          <a:p xmlns:a="http://schemas.openxmlformats.org/drawingml/2006/main">
            <a:r>
              <a:t>- /Users/orilerman/Downloads/HealthyFlow/backend/src/routes/ai.ts#L388-L418</a:t>
            </a:r>
          </a:p>
          <a:p xmlns:a="http://schemas.openxmlformats.org/drawingml/2006/main">
            <a:r>
              <a:t>- /Users/orilerman/Downloads/HealthyFlow/src/pages/AssistantPage.tsx#L676-L727</a:t>
            </a:r>
          </a:p>
          <a:p xmlns:a="http://schemas.openxmlformats.org/drawingml/2006/main">
            <a:r>
              <a:t>- /Users/orilerman/Downloads/HealthyFlow/src/hooks/useTTS.ts</a:t>
            </a:r>
          </a:p>
          <a:p xmlns:a="http://schemas.openxmlformats.org/drawingml/2006/main">
            <a:r>
              <a:t>- /Users/orilerman/Downloads/HealthyFlow/src/services/ttsService.ts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Human-visible history and durable machine workflow state are intentionally different records. The app persists structured checkpoints rather than opaque Agents SDK run state.</a:t>
            </a:r>
          </a:p>
          <a:p xmlns:a="http://schemas.openxmlformats.org/drawingml/2006/main">
            <a:r>
              <a:t/>
            </a:r>
          </a:p>
          <a:p xmlns:a="http://schemas.openxmlformats.org/drawingml/2006/main">
            <a:r>
              <a:t>[Sources]</a:t>
            </a:r>
          </a:p>
          <a:p xmlns:a="http://schemas.openxmlformats.org/drawingml/2006/main">
            <a:r>
              <a:t>- /Users/orilerman/Downloads/HealthyFlow/backend/src/routes/ai.ts#L127-L151</a:t>
            </a:r>
          </a:p>
          <a:p xmlns:a="http://schemas.openxmlformats.org/drawingml/2006/main">
            <a:r>
              <a:t>- /Users/orilerman/Downloads/HealthyFlow/src/pages/AssistantPage.tsx#L42-L49</a:t>
            </a:r>
          </a:p>
          <a:p xmlns:a="http://schemas.openxmlformats.org/drawingml/2006/main">
            <a:r>
              <a:t>- /Users/orilerman/Downloads/HealthyFlow/src/pages/AssistantPage.tsx#L330-L332</a:t>
            </a:r>
          </a:p>
          <a:p xmlns:a="http://schemas.openxmlformats.org/drawingml/2006/main">
            <a:r>
              <a:t>- /Users/orilerman/Downloads/HealthyFlow/backend/src/talk-agent-runtime.ts#L225-L259</a:t>
            </a:r>
          </a:p>
          <a:p xmlns:a="http://schemas.openxmlformats.org/drawingml/2006/main">
            <a:r>
              <a:t>- /Users/orilerman/Downloads/HealthyFlow/docs/adr/0008-durable-talk-agent-workflows.md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Separate what the architecture already guarantees from what the regular Talk path still cannot observe or carry. These are current boundaries, not proposed changes.</a:t>
            </a:r>
          </a:p>
          <a:p xmlns:a="http://schemas.openxmlformats.org/drawingml/2006/main">
            <a:r>
              <a:t/>
            </a:r>
          </a:p>
          <a:p xmlns:a="http://schemas.openxmlformats.org/drawingml/2006/main">
            <a:r>
              <a:t>[Sources]</a:t>
            </a:r>
          </a:p>
          <a:p xmlns:a="http://schemas.openxmlformats.org/drawingml/2006/main">
            <a:r>
              <a:t>- /Users/orilerman/Downloads/HealthyFlow/TARGET.md#L3-L88</a:t>
            </a:r>
          </a:p>
          <a:p xmlns:a="http://schemas.openxmlformats.org/drawingml/2006/main">
            <a:r>
              <a:t>- /Users/orilerman/Downloads/HealthyFlow/CONTEXT.md#L59-L73</a:t>
            </a:r>
          </a:p>
          <a:p xmlns:a="http://schemas.openxmlformats.org/drawingml/2006/main">
            <a:r>
              <a:t>- /Users/orilerman/Downloads/HealthyFlow/backend/src/ai-capabilities.ts#L918-L998</a:t>
            </a:r>
          </a:p>
          <a:p xmlns:a="http://schemas.openxmlformats.org/drawingml/2006/main">
            <a:r>
              <a:t>- /Users/orilerman/Downloads/HealthyFlow/backend/src/talk-workflow-definitions.ts#L376-L390</a:t>
            </a:r>
          </a:p>
          <a:p xmlns:a="http://schemas.openxmlformats.org/drawingml/2006/main">
            <a:r>
              <a:t>- /Users/orilerman/Downloads/HealthyFlow/src/featureFlags.ts#L1-L11</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by reinforcing ownership boundaries. The model is a bounded reasoning activity; HealthyFlow remains the product workflow engine.</a:t>
            </a:r>
          </a:p>
          <a:p xmlns:a="http://schemas.openxmlformats.org/drawingml/2006/main">
            <a:r>
              <a:t/>
            </a:r>
          </a:p>
          <a:p xmlns:a="http://schemas.openxmlformats.org/drawingml/2006/main">
            <a:r>
              <a:t>[Sources]</a:t>
            </a:r>
          </a:p>
          <a:p xmlns:a="http://schemas.openxmlformats.org/drawingml/2006/main">
            <a:r>
              <a:t>- /Users/orilerman/Downloads/HealthyFlow/docs/adr/0003-llm-data-access-interface.md</a:t>
            </a:r>
          </a:p>
          <a:p xmlns:a="http://schemas.openxmlformats.org/drawingml/2006/main">
            <a:r>
              <a:t>- /Users/orilerman/Downloads/HealthyFlow/docs/adr/0009-application-owned-talk-state-machine.md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c1a8b410c50477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463950274c54fce" /><Relationship Type="http://schemas.openxmlformats.org/officeDocument/2006/relationships/slideLayout" Target="/ppt/slideLayouts/slideLayout1.xml" Id="R36a6df6d3cb3431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6a6df6d3cb3431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9190889e6b82427e" /><Relationship Type="http://schemas.openxmlformats.org/officeDocument/2006/relationships/notesSlide" Target="/ppt/notesSlides/notesSlide1.xml" Id="R65f4e4f5b0bb486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c577108c196c4b85" /><Relationship Type="http://schemas.openxmlformats.org/officeDocument/2006/relationships/notesSlide" Target="/ppt/notesSlides/notesSlide2.xml" Id="R6b4c394ee0b24ea8"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bd4d9856c05740eb" /><Relationship Type="http://schemas.openxmlformats.org/officeDocument/2006/relationships/notesSlide" Target="/ppt/notesSlides/notesSlide3.xml" Id="R0b79f1d612e94213"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4eaa774e22ff4ca2" /><Relationship Type="http://schemas.openxmlformats.org/officeDocument/2006/relationships/notesSlide" Target="/ppt/notesSlides/notesSlide4.xml" Id="Rd9ba2a220a6f402b"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787926662e51482c" /><Relationship Type="http://schemas.openxmlformats.org/officeDocument/2006/relationships/notesSlide" Target="/ppt/notesSlides/notesSlide5.xml" Id="R3e2ecd136bc042d3"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625ade29e4504009" /><Relationship Type="http://schemas.openxmlformats.org/officeDocument/2006/relationships/notesSlide" Target="/ppt/notesSlides/notesSlide6.xml" Id="Reb974ac518674768"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55227da29e994ad0" /><Relationship Type="http://schemas.openxmlformats.org/officeDocument/2006/relationships/notesSlide" Target="/ppt/notesSlides/notesSlide7.xml" Id="R71843c7cfb5a4abb"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d6d78a3bdf304775" /><Relationship Type="http://schemas.openxmlformats.org/officeDocument/2006/relationships/notesSlide" Target="/ppt/notesSlides/notesSlide8.xml" Id="R2e4448f02e594dcd"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5aafd3e6982a45ca" /><Relationship Type="http://schemas.openxmlformats.org/officeDocument/2006/relationships/notesSlide" Target="/ppt/notesSlides/notesSlide9.xml" Id="Rb59103793b7e429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d59183e957e64828" /><Relationship Type="http://schemas.openxmlformats.org/officeDocument/2006/relationships/notesSlide" Target="/ppt/notesSlides/notesSlide10.xml" Id="R34d885c099a2493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157aa6b5a2eb45ae" /><Relationship Type="http://schemas.openxmlformats.org/officeDocument/2006/relationships/notesSlide" Target="/ppt/notesSlides/notesSlide11.xml" Id="Ra0abb56f57cc4d72"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ad8a0e43e6c948c0" /><Relationship Type="http://schemas.openxmlformats.org/officeDocument/2006/relationships/notesSlide" Target="/ppt/notesSlides/notesSlide12.xml" Id="R5a0a3bea3c644f76"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cover-accent">
            <a:extLst xmlns:a="http://schemas.openxmlformats.org/drawingml/2006/main">
              <a:ext uri="{FF2B5EF4-FFF2-40B4-BE49-F238E27FC236}">
                <a16:creationId xmlns:a16="http://schemas.microsoft.com/office/drawing/2014/main" id="{438FEEDD-AAAB-4E00-A018-E95196AC5F3B}"/>
              </a:ext>
            </a:extLst>
          </p:cNvPr>
          <p:cNvSpPr>
            <a:spLocks xmlns:a="http://schemas.openxmlformats.org/drawingml/2006/main" noGrp="1"/>
          </p:cNvSpPr>
          <p:nvPr/>
        </p:nvSpPr>
        <p:spPr>
          <a:xfrm xmlns:a="http://schemas.openxmlformats.org/drawingml/2006/main">
            <a:off x="495300" y="1676400"/>
            <a:ext cx="114300" cy="281940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2" name="cover-eyebrow">
            <a:extLst xmlns:a="http://schemas.openxmlformats.org/drawingml/2006/main">
              <a:ext uri="{FF2B5EF4-FFF2-40B4-BE49-F238E27FC236}">
                <a16:creationId xmlns:a16="http://schemas.microsoft.com/office/drawing/2014/main" id="{D5B06B3E-4868-4D9E-8411-FBAAF047BD26}"/>
              </a:ext>
            </a:extLst>
          </p:cNvPr>
          <p:cNvSpPr>
            <a:spLocks xmlns:a="http://schemas.openxmlformats.org/drawingml/2006/main" noGrp="1"/>
          </p:cNvSpPr>
          <p:nvPr/>
        </p:nvSpPr>
        <p:spPr>
          <a:xfrm xmlns:a="http://schemas.openxmlformats.org/drawingml/2006/main">
            <a:off x="495300" y="419100"/>
            <a:ext cx="4762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1">
                <a:solidFill>
                  <a:srgbClr val="5E6470"/>
                </a:solidFill>
                <a:latin typeface="Helvetica Neue"/>
                <a:ea typeface="Helvetica Neue"/>
                <a:cs typeface="Helvetica Neue"/>
              </a:defRPr>
            </a:pPr>
            <a:r>
              <a:rPr sz="1500" b="1">
                <a:solidFill>
                  <a:srgbClr val="5E6470"/>
                </a:solidFill>
                <a:latin typeface="Helvetica Neue"/>
                <a:ea typeface="Helvetica Neue"/>
                <a:cs typeface="Helvetica Neue"/>
              </a:rPr>
              <a:t>HEALTHYFLOW · SYSTEM MAP</a:t>
            </a:r>
          </a:p>
        </p:txBody>
      </p:sp>
      <p:sp>
        <p:nvSpPr>
          <p:cNvPr id="3" name="cover-title">
            <a:extLst xmlns:a="http://schemas.openxmlformats.org/drawingml/2006/main">
              <a:ext uri="{FF2B5EF4-FFF2-40B4-BE49-F238E27FC236}">
                <a16:creationId xmlns:a16="http://schemas.microsoft.com/office/drawing/2014/main" id="{DAF5CC58-6119-4DE0-AA1E-30B94CFF9513}"/>
              </a:ext>
            </a:extLst>
          </p:cNvPr>
          <p:cNvSpPr>
            <a:spLocks xmlns:a="http://schemas.openxmlformats.org/drawingml/2006/main" noGrp="1"/>
          </p:cNvSpPr>
          <p:nvPr/>
        </p:nvSpPr>
        <p:spPr>
          <a:xfrm xmlns:a="http://schemas.openxmlformats.org/drawingml/2006/main">
            <a:off x="876300" y="1657350"/>
            <a:ext cx="95250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b">
            <a:noAutofit/>
          </a:bodyPr>
          <a:lstStyle xmlns:a="http://schemas.openxmlformats.org/drawingml/2006/main"/>
          <a:p xmlns:a="http://schemas.openxmlformats.org/drawingml/2006/main">
            <a:pPr algn="l">
              <a:defRPr sz="6000" b="1">
                <a:solidFill>
                  <a:srgbClr val="000000"/>
                </a:solidFill>
                <a:latin typeface="Helvetica Neue"/>
                <a:ea typeface="Helvetica Neue"/>
                <a:cs typeface="Helvetica Neue"/>
              </a:defRPr>
            </a:pPr>
            <a:r>
              <a:rPr sz="6000" b="1">
                <a:solidFill>
                  <a:srgbClr val="000000"/>
                </a:solidFill>
                <a:latin typeface="Helvetica Neue"/>
                <a:ea typeface="Helvetica Neue"/>
                <a:cs typeface="Helvetica Neue"/>
              </a:rPr>
              <a:t>Talk to your day</a:t>
            </a:r>
          </a:p>
        </p:txBody>
      </p:sp>
      <p:sp>
        <p:nvSpPr>
          <p:cNvPr id="4" name="cover-subtitle">
            <a:extLst xmlns:a="http://schemas.openxmlformats.org/drawingml/2006/main">
              <a:ext uri="{FF2B5EF4-FFF2-40B4-BE49-F238E27FC236}">
                <a16:creationId xmlns:a16="http://schemas.microsoft.com/office/drawing/2014/main" id="{AF4591FA-D477-448B-A1EE-65A3A1AC0233}"/>
              </a:ext>
            </a:extLst>
          </p:cNvPr>
          <p:cNvSpPr>
            <a:spLocks xmlns:a="http://schemas.openxmlformats.org/drawingml/2006/main" noGrp="1"/>
          </p:cNvSpPr>
          <p:nvPr/>
        </p:nvSpPr>
        <p:spPr>
          <a:xfrm xmlns:a="http://schemas.openxmlformats.org/drawingml/2006/main">
            <a:off x="876300" y="2971800"/>
            <a:ext cx="8382000" cy="1257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550" b="0">
                <a:solidFill>
                  <a:srgbClr val="5E6470"/>
                </a:solidFill>
                <a:latin typeface="Helvetica Neue"/>
                <a:ea typeface="Helvetica Neue"/>
                <a:cs typeface="Helvetica Neue"/>
              </a:defRPr>
            </a:pPr>
            <a:r>
              <a:rPr sz="2550" b="0">
                <a:solidFill>
                  <a:srgbClr val="5E6470"/>
                </a:solidFill>
                <a:latin typeface="Helvetica Neue"/>
                <a:ea typeface="Helvetica Neue"/>
                <a:cs typeface="Helvetica Neue"/>
              </a:rPr>
              <a:t>How one message becomes context, tools, a preview, and a confirmed change</a:t>
            </a:r>
          </a:p>
        </p:txBody>
      </p:sp>
      <p:sp>
        <p:nvSpPr>
          <p:cNvPr id="5" name="cover-date">
            <a:extLst xmlns:a="http://schemas.openxmlformats.org/drawingml/2006/main">
              <a:ext uri="{FF2B5EF4-FFF2-40B4-BE49-F238E27FC236}">
                <a16:creationId xmlns:a16="http://schemas.microsoft.com/office/drawing/2014/main" id="{D6B94A3B-E212-42D7-A2C0-EF718B77E3D3}"/>
              </a:ext>
            </a:extLst>
          </p:cNvPr>
          <p:cNvSpPr>
            <a:spLocks xmlns:a="http://schemas.openxmlformats.org/drawingml/2006/main" noGrp="1"/>
          </p:cNvSpPr>
          <p:nvPr/>
        </p:nvSpPr>
        <p:spPr>
          <a:xfrm xmlns:a="http://schemas.openxmlformats.org/drawingml/2006/main">
            <a:off x="876300" y="5391150"/>
            <a:ext cx="495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5E6470"/>
                </a:solidFill>
                <a:latin typeface="Helvetica Neue"/>
                <a:ea typeface="Helvetica Neue"/>
                <a:cs typeface="Helvetica Neue"/>
              </a:defRPr>
            </a:pPr>
            <a:r>
              <a:rPr sz="1500" b="0">
                <a:solidFill>
                  <a:srgbClr val="5E6470"/>
                </a:solidFill>
                <a:latin typeface="Helvetica Neue"/>
                <a:ea typeface="Helvetica Neue"/>
                <a:cs typeface="Helvetica Neue"/>
              </a:rPr>
              <a:t>Current implementation · 26 August 2026</a:t>
            </a:r>
          </a:p>
        </p:txBody>
      </p:sp>
    </p:spTree>
    <p:extLst>
      <p:ext uri="{BB962C8B-B14F-4D97-AF65-F5344CB8AC3E}">
        <p14:creationId xmlns:p14="http://schemas.microsoft.com/office/powerpoint/2010/main" val="4096396"/>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eyebrow-2">
            <a:extLst xmlns:a="http://schemas.openxmlformats.org/drawingml/2006/main">
              <a:ext uri="{FF2B5EF4-FFF2-40B4-BE49-F238E27FC236}">
                <a16:creationId xmlns:a16="http://schemas.microsoft.com/office/drawing/2014/main" id="{24178BE9-122C-4832-92BE-852F4620CC75}"/>
              </a:ext>
            </a:extLst>
          </p:cNvPr>
          <p:cNvSpPr>
            <a:spLocks xmlns:a="http://schemas.openxmlformats.org/drawingml/2006/main" noGrp="1"/>
          </p:cNvSpPr>
          <p:nvPr/>
        </p:nvSpPr>
        <p:spPr>
          <a:xfrm xmlns:a="http://schemas.openxmlformats.org/drawingml/2006/main">
            <a:off x="495300" y="32385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1">
                <a:solidFill>
                  <a:srgbClr val="5E6470"/>
                </a:solidFill>
                <a:latin typeface="Helvetica Neue"/>
                <a:ea typeface="Helvetica Neue"/>
                <a:cs typeface="Helvetica Neue"/>
              </a:defRPr>
            </a:pPr>
            <a:r>
              <a:rPr sz="1350" b="1">
                <a:solidFill>
                  <a:srgbClr val="5E6470"/>
                </a:solidFill>
                <a:latin typeface="Helvetica Neue"/>
                <a:ea typeface="Helvetica Neue"/>
                <a:cs typeface="Helvetica Neue"/>
              </a:rPr>
              <a:t>HEALTHYFLOW · TALK</a:t>
            </a:r>
          </a:p>
        </p:txBody>
      </p:sp>
      <p:sp>
        <p:nvSpPr>
          <p:cNvPr id="2" name="title-2">
            <a:extLst xmlns:a="http://schemas.openxmlformats.org/drawingml/2006/main">
              <a:ext uri="{FF2B5EF4-FFF2-40B4-BE49-F238E27FC236}">
                <a16:creationId xmlns:a16="http://schemas.microsoft.com/office/drawing/2014/main" id="{CC876F97-5B5E-4249-8127-65A444AB70E9}"/>
              </a:ext>
            </a:extLst>
          </p:cNvPr>
          <p:cNvSpPr>
            <a:spLocks xmlns:a="http://schemas.openxmlformats.org/drawingml/2006/main" noGrp="1"/>
          </p:cNvSpPr>
          <p:nvPr/>
        </p:nvSpPr>
        <p:spPr>
          <a:xfrm xmlns:a="http://schemas.openxmlformats.org/drawingml/2006/main">
            <a:off x="495300" y="72390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600" b="1">
                <a:solidFill>
                  <a:srgbClr val="000000"/>
                </a:solidFill>
                <a:latin typeface="Helvetica Neue"/>
                <a:ea typeface="Helvetica Neue"/>
                <a:cs typeface="Helvetica Neue"/>
              </a:defRPr>
            </a:pPr>
            <a:r>
              <a:rPr sz="3600" b="1">
                <a:solidFill>
                  <a:srgbClr val="000000"/>
                </a:solidFill>
                <a:latin typeface="Helvetica Neue"/>
                <a:ea typeface="Helvetica Neue"/>
                <a:cs typeface="Helvetica Neue"/>
              </a:rPr>
              <a:t>One surface, two execution paths</a:t>
            </a:r>
          </a:p>
        </p:txBody>
      </p:sp>
      <p:sp>
        <p:nvSpPr>
          <p:cNvPr id="3" name="page-2">
            <a:extLst xmlns:a="http://schemas.openxmlformats.org/drawingml/2006/main">
              <a:ext uri="{FF2B5EF4-FFF2-40B4-BE49-F238E27FC236}">
                <a16:creationId xmlns:a16="http://schemas.microsoft.com/office/drawing/2014/main" id="{B51A09E2-97CC-4842-A80A-852C034B9C1D}"/>
              </a:ext>
            </a:extLst>
          </p:cNvPr>
          <p:cNvSpPr>
            <a:spLocks xmlns:a="http://schemas.openxmlformats.org/drawingml/2006/main" noGrp="1"/>
          </p:cNvSpPr>
          <p:nvPr/>
        </p:nvSpPr>
        <p:spPr>
          <a:xfrm xmlns:a="http://schemas.openxmlformats.org/drawingml/2006/main">
            <a:off x="11277600" y="626745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E6470"/>
                </a:solidFill>
                <a:latin typeface="Helvetica Neue"/>
                <a:ea typeface="Helvetica Neue"/>
                <a:cs typeface="Helvetica Neue"/>
              </a:defRPr>
            </a:pPr>
            <a:r>
              <a:rPr sz="1125" b="0">
                <a:solidFill>
                  <a:srgbClr val="5E6470"/>
                </a:solidFill>
                <a:latin typeface="Helvetica Neue"/>
                <a:ea typeface="Helvetica Neue"/>
                <a:cs typeface="Helvetica Neue"/>
              </a:rPr>
              <a:t>02</a:t>
            </a:r>
          </a:p>
        </p:txBody>
      </p:sp>
      <p:cxnSp>
        <p:nvCxnSpPr>
          <p:cNvPr id="16" name="split-rule"/>
          <p:cNvCxnSpPr/>
          <p:nvPr/>
        </p:nvCxnSpPr>
        <p:spPr>
          <a:xfrm xmlns:a="http://schemas.openxmlformats.org/drawingml/2006/main">
            <a:off x="6076950" y="1809750"/>
            <a:ext cx="0" cy="3790950"/>
          </a:xfrm>
          <a:prstGeom xmlns:a="http://schemas.openxmlformats.org/drawingml/2006/main" prst="straightConnector1">
            <a:avLst/>
          </a:prstGeom>
          <a:ln xmlns:a="http://schemas.openxmlformats.org/drawingml/2006/main" w="19050">
            <a:solidFill>
              <a:srgbClr val="B8BCC4"/>
            </a:solidFill>
            <a:prstDash val="solid"/>
          </a:ln>
        </p:spPr>
      </p:cxnSp>
      <p:sp>
        <p:nvSpPr>
          <p:cNvPr id="5" name="regular-number">
            <a:extLst xmlns:a="http://schemas.openxmlformats.org/drawingml/2006/main">
              <a:ext uri="{FF2B5EF4-FFF2-40B4-BE49-F238E27FC236}">
                <a16:creationId xmlns:a16="http://schemas.microsoft.com/office/drawing/2014/main" id="{57666C0D-CD92-417A-86FE-3A9B41201FB8}"/>
              </a:ext>
            </a:extLst>
          </p:cNvPr>
          <p:cNvSpPr>
            <a:spLocks xmlns:a="http://schemas.openxmlformats.org/drawingml/2006/main" noGrp="1"/>
          </p:cNvSpPr>
          <p:nvPr/>
        </p:nvSpPr>
        <p:spPr>
          <a:xfrm xmlns:a="http://schemas.openxmlformats.org/drawingml/2006/main">
            <a:off x="514350" y="1847850"/>
            <a:ext cx="914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2949"/>
          </a:bodyPr>
          <a:lstStyle xmlns:a="http://schemas.openxmlformats.org/drawingml/2006/main"/>
          <a:p xmlns:a="http://schemas.openxmlformats.org/drawingml/2006/main">
            <a:pPr algn="l">
              <a:defRPr sz="3900" b="1">
                <a:solidFill>
                  <a:srgbClr val="3D8DFF"/>
                </a:solidFill>
                <a:latin typeface="Helvetica Neue"/>
                <a:ea typeface="Helvetica Neue"/>
                <a:cs typeface="Helvetica Neue"/>
              </a:defRPr>
            </a:pPr>
            <a:r>
              <a:rPr sz="3900" b="1">
                <a:solidFill>
                  <a:srgbClr val="3D8DFF"/>
                </a:solidFill>
                <a:latin typeface="Helvetica Neue"/>
                <a:ea typeface="Helvetica Neue"/>
                <a:cs typeface="Helvetica Neue"/>
              </a:rPr>
              <a:t>01</a:t>
            </a:r>
          </a:p>
        </p:txBody>
      </p:sp>
      <p:sp>
        <p:nvSpPr>
          <p:cNvPr id="6" name="regular-heading">
            <a:extLst xmlns:a="http://schemas.openxmlformats.org/drawingml/2006/main">
              <a:ext uri="{FF2B5EF4-FFF2-40B4-BE49-F238E27FC236}">
                <a16:creationId xmlns:a16="http://schemas.microsoft.com/office/drawing/2014/main" id="{4AB687E4-3C54-4F96-81D5-25186C996E98}"/>
              </a:ext>
            </a:extLst>
          </p:cNvPr>
          <p:cNvSpPr>
            <a:spLocks xmlns:a="http://schemas.openxmlformats.org/drawingml/2006/main" noGrp="1"/>
          </p:cNvSpPr>
          <p:nvPr/>
        </p:nvSpPr>
        <p:spPr>
          <a:xfrm xmlns:a="http://schemas.openxmlformats.org/drawingml/2006/main">
            <a:off x="514350" y="2571750"/>
            <a:ext cx="4762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550" b="1">
                <a:solidFill>
                  <a:srgbClr val="000000"/>
                </a:solidFill>
                <a:latin typeface="Helvetica Neue"/>
                <a:ea typeface="Helvetica Neue"/>
                <a:cs typeface="Helvetica Neue"/>
              </a:defRPr>
            </a:pPr>
            <a:r>
              <a:rPr sz="2550" b="1">
                <a:solidFill>
                  <a:srgbClr val="000000"/>
                </a:solidFill>
                <a:latin typeface="Helvetica Neue"/>
                <a:ea typeface="Helvetica Neue"/>
                <a:cs typeface="Helvetica Neue"/>
              </a:rPr>
              <a:t>Regular Talk</a:t>
            </a:r>
          </a:p>
        </p:txBody>
      </p:sp>
      <p:sp>
        <p:nvSpPr>
          <p:cNvPr id="7" name="regular-body">
            <a:extLst xmlns:a="http://schemas.openxmlformats.org/drawingml/2006/main">
              <a:ext uri="{FF2B5EF4-FFF2-40B4-BE49-F238E27FC236}">
                <a16:creationId xmlns:a16="http://schemas.microsoft.com/office/drawing/2014/main" id="{0D2CCC63-31B9-40A9-A67A-F904954381B8}"/>
              </a:ext>
            </a:extLst>
          </p:cNvPr>
          <p:cNvSpPr>
            <a:spLocks xmlns:a="http://schemas.openxmlformats.org/drawingml/2006/main" noGrp="1"/>
          </p:cNvSpPr>
          <p:nvPr/>
        </p:nvSpPr>
        <p:spPr>
          <a:xfrm xmlns:a="http://schemas.openxmlformats.org/drawingml/2006/main">
            <a:off x="514350" y="3181350"/>
            <a:ext cx="476250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0">
                <a:solidFill>
                  <a:srgbClr val="5E6470"/>
                </a:solidFill>
                <a:latin typeface="Helvetica Neue"/>
                <a:ea typeface="Helvetica Neue"/>
                <a:cs typeface="Helvetica Neue"/>
              </a:defRPr>
            </a:pPr>
            <a:r>
              <a:rPr sz="1650" b="0">
                <a:solidFill>
                  <a:srgbClr val="5E6470"/>
                </a:solidFill>
                <a:latin typeface="Helvetica Neue"/>
                <a:ea typeface="Helvetica Neue"/>
                <a:cs typeface="Helvetica Neue"/>
              </a:rPr>
              <a:t>• Everyday questions, reads, and requested changes</a:t>
            </a:r>
          </a:p>
          <a:p xmlns:a="http://schemas.openxmlformats.org/drawingml/2006/main">
            <a:pPr algn="l">
              <a:defRPr sz="1650" b="0">
                <a:solidFill>
                  <a:srgbClr val="5E6470"/>
                </a:solidFill>
                <a:latin typeface="Helvetica Neue"/>
                <a:ea typeface="Helvetica Neue"/>
                <a:cs typeface="Helvetica Neue"/>
              </a:defRPr>
            </a:pPr>
            <a:r>
              <a:rPr sz="1650" b="0">
                <a:solidFill>
                  <a:srgbClr val="5E6470"/>
                </a:solidFill>
                <a:latin typeface="Helvetica Neue"/>
                <a:ea typeface="Helvetica Neue"/>
                <a:cs typeface="Helvetica Neue"/>
              </a:rPr>
              <a:t>• General HealthyFlow system prompt plus date context</a:t>
            </a:r>
          </a:p>
          <a:p xmlns:a="http://schemas.openxmlformats.org/drawingml/2006/main">
            <a:pPr algn="l">
              <a:defRPr sz="1650" b="0">
                <a:solidFill>
                  <a:srgbClr val="5E6470"/>
                </a:solidFill>
                <a:latin typeface="Helvetica Neue"/>
                <a:ea typeface="Helvetica Neue"/>
                <a:cs typeface="Helvetica Neue"/>
              </a:defRPr>
            </a:pPr>
            <a:r>
              <a:rPr sz="1650" b="0">
                <a:solidFill>
                  <a:srgbClr val="5E6470"/>
                </a:solidFill>
                <a:latin typeface="Helvetica Neue"/>
                <a:ea typeface="Helvetica Neue"/>
                <a:cs typeface="Helvetica Neue"/>
              </a:rPr>
              <a:t>• Latest 30 conversation messages</a:t>
            </a:r>
          </a:p>
          <a:p xmlns:a="http://schemas.openxmlformats.org/drawingml/2006/main">
            <a:pPr algn="l">
              <a:defRPr sz="1650" b="0">
                <a:solidFill>
                  <a:srgbClr val="5E6470"/>
                </a:solidFill>
                <a:latin typeface="Helvetica Neue"/>
                <a:ea typeface="Helvetica Neue"/>
                <a:cs typeface="Helvetica Neue"/>
              </a:defRPr>
            </a:pPr>
            <a:r>
              <a:rPr sz="1650" b="0">
                <a:solidFill>
                  <a:srgbClr val="5E6470"/>
                </a:solidFill>
                <a:latin typeface="Helvetica Neue"/>
                <a:ea typeface="Helvetica Neue"/>
                <a:cs typeface="Helvetica Neue"/>
              </a:rPr>
              <a:t>• Broad regular capability set</a:t>
            </a:r>
          </a:p>
        </p:txBody>
      </p:sp>
      <p:sp>
        <p:nvSpPr>
          <p:cNvPr id="8" name="workflow-number">
            <a:extLst xmlns:a="http://schemas.openxmlformats.org/drawingml/2006/main">
              <a:ext uri="{FF2B5EF4-FFF2-40B4-BE49-F238E27FC236}">
                <a16:creationId xmlns:a16="http://schemas.microsoft.com/office/drawing/2014/main" id="{55BC31F2-2A50-415B-A740-8CF6D80A951C}"/>
              </a:ext>
            </a:extLst>
          </p:cNvPr>
          <p:cNvSpPr>
            <a:spLocks xmlns:a="http://schemas.openxmlformats.org/drawingml/2006/main" noGrp="1"/>
          </p:cNvSpPr>
          <p:nvPr/>
        </p:nvSpPr>
        <p:spPr>
          <a:xfrm xmlns:a="http://schemas.openxmlformats.org/drawingml/2006/main">
            <a:off x="6591300" y="1847850"/>
            <a:ext cx="914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2949"/>
          </a:bodyPr>
          <a:lstStyle xmlns:a="http://schemas.openxmlformats.org/drawingml/2006/main"/>
          <a:p xmlns:a="http://schemas.openxmlformats.org/drawingml/2006/main">
            <a:pPr algn="l">
              <a:defRPr sz="3900" b="1">
                <a:solidFill>
                  <a:srgbClr val="3D8DFF"/>
                </a:solidFill>
                <a:latin typeface="Helvetica Neue"/>
                <a:ea typeface="Helvetica Neue"/>
                <a:cs typeface="Helvetica Neue"/>
              </a:defRPr>
            </a:pPr>
            <a:r>
              <a:rPr sz="3900" b="1">
                <a:solidFill>
                  <a:srgbClr val="3D8DFF"/>
                </a:solidFill>
                <a:latin typeface="Helvetica Neue"/>
                <a:ea typeface="Helvetica Neue"/>
                <a:cs typeface="Helvetica Neue"/>
              </a:rPr>
              <a:t>02</a:t>
            </a:r>
          </a:p>
        </p:txBody>
      </p:sp>
      <p:sp>
        <p:nvSpPr>
          <p:cNvPr id="9" name="workflow-heading">
            <a:extLst xmlns:a="http://schemas.openxmlformats.org/drawingml/2006/main">
              <a:ext uri="{FF2B5EF4-FFF2-40B4-BE49-F238E27FC236}">
                <a16:creationId xmlns:a16="http://schemas.microsoft.com/office/drawing/2014/main" id="{C10B251B-E3E2-465A-BCC8-6C052484E670}"/>
              </a:ext>
            </a:extLst>
          </p:cNvPr>
          <p:cNvSpPr>
            <a:spLocks xmlns:a="http://schemas.openxmlformats.org/drawingml/2006/main" noGrp="1"/>
          </p:cNvSpPr>
          <p:nvPr/>
        </p:nvSpPr>
        <p:spPr>
          <a:xfrm xmlns:a="http://schemas.openxmlformats.org/drawingml/2006/main">
            <a:off x="6591300" y="2571750"/>
            <a:ext cx="4762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550" b="1">
                <a:solidFill>
                  <a:srgbClr val="000000"/>
                </a:solidFill>
                <a:latin typeface="Helvetica Neue"/>
                <a:ea typeface="Helvetica Neue"/>
                <a:cs typeface="Helvetica Neue"/>
              </a:defRPr>
            </a:pPr>
            <a:r>
              <a:rPr sz="2550" b="1">
                <a:solidFill>
                  <a:srgbClr val="000000"/>
                </a:solidFill>
                <a:latin typeface="Helvetica Neue"/>
                <a:ea typeface="Helvetica Neue"/>
                <a:cs typeface="Helvetica Neue"/>
              </a:rPr>
              <a:t>Plan in Talk</a:t>
            </a:r>
          </a:p>
        </p:txBody>
      </p:sp>
      <p:sp>
        <p:nvSpPr>
          <p:cNvPr id="10" name="workflow-body">
            <a:extLst xmlns:a="http://schemas.openxmlformats.org/drawingml/2006/main">
              <a:ext uri="{FF2B5EF4-FFF2-40B4-BE49-F238E27FC236}">
                <a16:creationId xmlns:a16="http://schemas.microsoft.com/office/drawing/2014/main" id="{FC1C9DE2-2E38-40C1-A77A-24CDDD064F0C}"/>
              </a:ext>
            </a:extLst>
          </p:cNvPr>
          <p:cNvSpPr>
            <a:spLocks xmlns:a="http://schemas.openxmlformats.org/drawingml/2006/main" noGrp="1"/>
          </p:cNvSpPr>
          <p:nvPr/>
        </p:nvSpPr>
        <p:spPr>
          <a:xfrm xmlns:a="http://schemas.openxmlformats.org/drawingml/2006/main">
            <a:off x="6591300" y="3181350"/>
            <a:ext cx="476250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0">
                <a:solidFill>
                  <a:srgbClr val="5E6470"/>
                </a:solidFill>
                <a:latin typeface="Helvetica Neue"/>
                <a:ea typeface="Helvetica Neue"/>
                <a:cs typeface="Helvetica Neue"/>
              </a:defRPr>
            </a:pPr>
            <a:r>
              <a:rPr sz="1650" b="0">
                <a:solidFill>
                  <a:srgbClr val="5E6470"/>
                </a:solidFill>
                <a:latin typeface="Helvetica Neue"/>
                <a:ea typeface="Helvetica Neue"/>
                <a:cs typeface="Helvetica Neue"/>
              </a:rPr>
              <a:t>• Only when the conversation carries or resumes plan_work</a:t>
            </a:r>
          </a:p>
          <a:p xmlns:a="http://schemas.openxmlformats.org/drawingml/2006/main">
            <a:pPr algn="l">
              <a:defRPr sz="1650" b="0">
                <a:solidFill>
                  <a:srgbClr val="5E6470"/>
                </a:solidFill>
                <a:latin typeface="Helvetica Neue"/>
                <a:ea typeface="Helvetica Neue"/>
                <a:cs typeface="Helvetica Neue"/>
              </a:defRPr>
            </a:pPr>
            <a:r>
              <a:rPr sz="1650" b="0">
                <a:solidFill>
                  <a:srgbClr val="5E6470"/>
                </a:solidFill>
                <a:latin typeface="Helvetica Neue"/>
                <a:ea typeface="Helvetica Neue"/>
                <a:cs typeface="Helvetica Neue"/>
              </a:rPr>
              <a:t>• Application-owned stages and transitions</a:t>
            </a:r>
          </a:p>
          <a:p xmlns:a="http://schemas.openxmlformats.org/drawingml/2006/main">
            <a:pPr algn="l">
              <a:defRPr sz="1650" b="0">
                <a:solidFill>
                  <a:srgbClr val="5E6470"/>
                </a:solidFill>
                <a:latin typeface="Helvetica Neue"/>
                <a:ea typeface="Helvetica Neue"/>
                <a:cs typeface="Helvetica Neue"/>
              </a:defRPr>
            </a:pPr>
            <a:r>
              <a:rPr sz="1650" b="0">
                <a:solidFill>
                  <a:srgbClr val="5E6470"/>
                </a:solidFill>
                <a:latin typeface="Helvetica Neue"/>
                <a:ea typeface="Helvetica Neue"/>
                <a:cs typeface="Helvetica Neue"/>
              </a:rPr>
              <a:t>• Latest 12 messages plus verified stage context</a:t>
            </a:r>
          </a:p>
          <a:p xmlns:a="http://schemas.openxmlformats.org/drawingml/2006/main">
            <a:pPr algn="l">
              <a:defRPr sz="1650" b="0">
                <a:solidFill>
                  <a:srgbClr val="5E6470"/>
                </a:solidFill>
                <a:latin typeface="Helvetica Neue"/>
                <a:ea typeface="Helvetica Neue"/>
                <a:cs typeface="Helvetica Neue"/>
              </a:defRPr>
            </a:pPr>
            <a:r>
              <a:rPr sz="1650" b="0">
                <a:solidFill>
                  <a:srgbClr val="5E6470"/>
                </a:solidFill>
                <a:latin typeface="Helvetica Neue"/>
                <a:ea typeface="Helvetica Neue"/>
                <a:cs typeface="Helvetica Neue"/>
              </a:rPr>
              <a:t>• One prompt pack, tool allowlist, and output schema per stage</a:t>
            </a:r>
          </a:p>
        </p:txBody>
      </p:sp>
      <p:sp>
        <p:nvSpPr>
          <p:cNvPr id="11" name="route-takeaway-bg">
            <a:extLst xmlns:a="http://schemas.openxmlformats.org/drawingml/2006/main">
              <a:ext uri="{FF2B5EF4-FFF2-40B4-BE49-F238E27FC236}">
                <a16:creationId xmlns:a16="http://schemas.microsoft.com/office/drawing/2014/main" id="{16AB70C9-E881-4476-9CEC-AE022E016230}"/>
              </a:ext>
            </a:extLst>
          </p:cNvPr>
          <p:cNvSpPr>
            <a:spLocks xmlns:a="http://schemas.openxmlformats.org/drawingml/2006/main" noGrp="1"/>
          </p:cNvSpPr>
          <p:nvPr/>
        </p:nvSpPr>
        <p:spPr>
          <a:xfrm xmlns:a="http://schemas.openxmlformats.org/drawingml/2006/main">
            <a:off x="514350" y="5695950"/>
            <a:ext cx="10839450" cy="495300"/>
          </a:xfrm>
          <a:prstGeom xmlns:a="http://schemas.openxmlformats.org/drawingml/2006/main" prst="rect">
            <a:avLst/>
          </a:prstGeom>
          <a:solidFill xmlns:a="http://schemas.openxmlformats.org/drawingml/2006/main">
            <a:srgbClr val="E7F6FD"/>
          </a:solidFill>
          <a:ln xmlns:a="http://schemas.openxmlformats.org/drawingml/2006/main" w="0">
            <a:noFill/>
            <a:prstDash val="solid"/>
          </a:ln>
        </p:spPr>
      </p:sp>
      <p:sp>
        <p:nvSpPr>
          <p:cNvPr id="12" name="route-takeaway">
            <a:extLst xmlns:a="http://schemas.openxmlformats.org/drawingml/2006/main">
              <a:ext uri="{FF2B5EF4-FFF2-40B4-BE49-F238E27FC236}">
                <a16:creationId xmlns:a16="http://schemas.microsoft.com/office/drawing/2014/main" id="{D98FFFDB-5B29-47F9-B7E5-8EC1DA16B78A}"/>
              </a:ext>
            </a:extLst>
          </p:cNvPr>
          <p:cNvSpPr>
            <a:spLocks xmlns:a="http://schemas.openxmlformats.org/drawingml/2006/main" noGrp="1"/>
          </p:cNvSpPr>
          <p:nvPr/>
        </p:nvSpPr>
        <p:spPr>
          <a:xfrm xmlns:a="http://schemas.openxmlformats.org/drawingml/2006/main">
            <a:off x="723900" y="5810250"/>
            <a:ext cx="103632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3D8DFF"/>
                </a:solidFill>
                <a:latin typeface="Helvetica Neue"/>
                <a:ea typeface="Helvetica Neue"/>
                <a:cs typeface="Helvetica Neue"/>
              </a:defRPr>
            </a:pPr>
            <a:r>
              <a:rPr sz="1800" b="1">
                <a:solidFill>
                  <a:srgbClr val="3D8DFF"/>
                </a:solidFill>
                <a:latin typeface="Helvetica Neue"/>
                <a:ea typeface="Helvetica Neue"/>
                <a:cs typeface="Helvetica Neue"/>
              </a:rPr>
              <a:t>The backend chooses the path before any model call.</a:t>
            </a:r>
          </a:p>
        </p:txBody>
      </p:sp>
    </p:spTree>
    <p:extLst>
      <p:ext uri="{BB962C8B-B14F-4D97-AF65-F5344CB8AC3E}">
        <p14:creationId xmlns:p14="http://schemas.microsoft.com/office/powerpoint/2010/main" val="1216453015"/>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7" name="eyebrow-3">
            <a:extLst xmlns:a="http://schemas.openxmlformats.org/drawingml/2006/main">
              <a:ext uri="{FF2B5EF4-FFF2-40B4-BE49-F238E27FC236}">
                <a16:creationId xmlns:a16="http://schemas.microsoft.com/office/drawing/2014/main" id="{DB87BACA-0F0B-4BB6-BD24-3E214F25B8CB}"/>
              </a:ext>
            </a:extLst>
          </p:cNvPr>
          <p:cNvSpPr>
            <a:spLocks xmlns:a="http://schemas.openxmlformats.org/drawingml/2006/main" noGrp="1"/>
          </p:cNvSpPr>
          <p:nvPr/>
        </p:nvSpPr>
        <p:spPr>
          <a:xfrm xmlns:a="http://schemas.openxmlformats.org/drawingml/2006/main">
            <a:off x="495300" y="32385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1">
                <a:solidFill>
                  <a:srgbClr val="5E6470"/>
                </a:solidFill>
                <a:latin typeface="Helvetica Neue"/>
                <a:ea typeface="Helvetica Neue"/>
                <a:cs typeface="Helvetica Neue"/>
              </a:defRPr>
            </a:pPr>
            <a:r>
              <a:rPr sz="1350" b="1">
                <a:solidFill>
                  <a:srgbClr val="5E6470"/>
                </a:solidFill>
                <a:latin typeface="Helvetica Neue"/>
                <a:ea typeface="Helvetica Neue"/>
                <a:cs typeface="Helvetica Neue"/>
              </a:rPr>
              <a:t>HEALTHYFLOW · TALK</a:t>
            </a:r>
          </a:p>
        </p:txBody>
      </p:sp>
      <p:sp>
        <p:nvSpPr>
          <p:cNvPr id="2" name="title-3">
            <a:extLst xmlns:a="http://schemas.openxmlformats.org/drawingml/2006/main">
              <a:ext uri="{FF2B5EF4-FFF2-40B4-BE49-F238E27FC236}">
                <a16:creationId xmlns:a16="http://schemas.microsoft.com/office/drawing/2014/main" id="{201C678E-08FE-4AEB-8B8C-9508B5F09F56}"/>
              </a:ext>
            </a:extLst>
          </p:cNvPr>
          <p:cNvSpPr>
            <a:spLocks xmlns:a="http://schemas.openxmlformats.org/drawingml/2006/main" noGrp="1"/>
          </p:cNvSpPr>
          <p:nvPr/>
        </p:nvSpPr>
        <p:spPr>
          <a:xfrm xmlns:a="http://schemas.openxmlformats.org/drawingml/2006/main">
            <a:off x="495300" y="72390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600" b="1">
                <a:solidFill>
                  <a:srgbClr val="000000"/>
                </a:solidFill>
                <a:latin typeface="Helvetica Neue"/>
                <a:ea typeface="Helvetica Neue"/>
                <a:cs typeface="Helvetica Neue"/>
              </a:defRPr>
            </a:pPr>
            <a:r>
              <a:rPr sz="3600" b="1">
                <a:solidFill>
                  <a:srgbClr val="000000"/>
                </a:solidFill>
                <a:latin typeface="Helvetica Neue"/>
                <a:ea typeface="Helvetica Neue"/>
                <a:cs typeface="Helvetica Neue"/>
              </a:rPr>
              <a:t>The composer packages one bounded request</a:t>
            </a:r>
          </a:p>
        </p:txBody>
      </p:sp>
      <p:sp>
        <p:nvSpPr>
          <p:cNvPr id="3" name="page-3">
            <a:extLst xmlns:a="http://schemas.openxmlformats.org/drawingml/2006/main">
              <a:ext uri="{FF2B5EF4-FFF2-40B4-BE49-F238E27FC236}">
                <a16:creationId xmlns:a16="http://schemas.microsoft.com/office/drawing/2014/main" id="{A469658A-AF91-4D45-8B5B-A2FE4B538CA4}"/>
              </a:ext>
            </a:extLst>
          </p:cNvPr>
          <p:cNvSpPr>
            <a:spLocks xmlns:a="http://schemas.openxmlformats.org/drawingml/2006/main" noGrp="1"/>
          </p:cNvSpPr>
          <p:nvPr/>
        </p:nvSpPr>
        <p:spPr>
          <a:xfrm xmlns:a="http://schemas.openxmlformats.org/drawingml/2006/main">
            <a:off x="11277600" y="626745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E6470"/>
                </a:solidFill>
                <a:latin typeface="Helvetica Neue"/>
                <a:ea typeface="Helvetica Neue"/>
                <a:cs typeface="Helvetica Neue"/>
              </a:defRPr>
            </a:pPr>
            <a:r>
              <a:rPr sz="1125" b="0">
                <a:solidFill>
                  <a:srgbClr val="5E6470"/>
                </a:solidFill>
                <a:latin typeface="Helvetica Neue"/>
                <a:ea typeface="Helvetica Neue"/>
                <a:cs typeface="Helvetica Neue"/>
              </a:rPr>
              <a:t>03</a:t>
            </a:r>
          </a:p>
        </p:txBody>
      </p:sp>
      <p:cxnSp>
        <p:nvCxnSpPr>
          <p:cNvPr id="30" name="composer-line"/>
          <p:cNvCxnSpPr/>
          <p:nvPr/>
        </p:nvCxnSpPr>
        <p:spPr>
          <a:xfrm xmlns:a="http://schemas.openxmlformats.org/drawingml/2006/main">
            <a:off x="781050" y="3048000"/>
            <a:ext cx="10248900" cy="0"/>
          </a:xfrm>
          <a:prstGeom xmlns:a="http://schemas.openxmlformats.org/drawingml/2006/main" prst="straightConnector1">
            <a:avLst/>
          </a:prstGeom>
          <a:ln xmlns:a="http://schemas.openxmlformats.org/drawingml/2006/main" w="19050">
            <a:solidFill>
              <a:srgbClr val="000000"/>
            </a:solidFill>
            <a:prstDash val="solid"/>
          </a:ln>
        </p:spPr>
      </p:cxnSp>
      <p:sp>
        <p:nvSpPr>
          <p:cNvPr id="5" name="request-dot-0">
            <a:extLst xmlns:a="http://schemas.openxmlformats.org/drawingml/2006/main">
              <a:ext uri="{FF2B5EF4-FFF2-40B4-BE49-F238E27FC236}">
                <a16:creationId xmlns:a16="http://schemas.microsoft.com/office/drawing/2014/main" id="{EC0F3ACA-CB8B-424B-9D0F-E6A26FDAFE42}"/>
              </a:ext>
            </a:extLst>
          </p:cNvPr>
          <p:cNvSpPr>
            <a:spLocks xmlns:a="http://schemas.openxmlformats.org/drawingml/2006/main" noGrp="1"/>
          </p:cNvSpPr>
          <p:nvPr/>
        </p:nvSpPr>
        <p:spPr>
          <a:xfrm xmlns:a="http://schemas.openxmlformats.org/drawingml/2006/main">
            <a:off x="714375" y="2981325"/>
            <a:ext cx="133350" cy="133350"/>
          </a:xfrm>
          <a:prstGeom xmlns:a="http://schemas.openxmlformats.org/drawingml/2006/main" prst="ellipse">
            <a:avLst/>
          </a:prstGeom>
          <a:solidFill xmlns:a="http://schemas.openxmlformats.org/drawingml/2006/main">
            <a:srgbClr val="000000"/>
          </a:solidFill>
          <a:ln xmlns:a="http://schemas.openxmlformats.org/drawingml/2006/main" w="0">
            <a:noFill/>
            <a:prstDash val="solid"/>
          </a:ln>
        </p:spPr>
      </p:sp>
      <p:sp>
        <p:nvSpPr>
          <p:cNvPr id="6" name="request-num-0">
            <a:extLst xmlns:a="http://schemas.openxmlformats.org/drawingml/2006/main">
              <a:ext uri="{FF2B5EF4-FFF2-40B4-BE49-F238E27FC236}">
                <a16:creationId xmlns:a16="http://schemas.microsoft.com/office/drawing/2014/main" id="{426B0A38-B53D-4929-B54A-D6678AE14F64}"/>
              </a:ext>
            </a:extLst>
          </p:cNvPr>
          <p:cNvSpPr>
            <a:spLocks xmlns:a="http://schemas.openxmlformats.org/drawingml/2006/main" noGrp="1"/>
          </p:cNvSpPr>
          <p:nvPr/>
        </p:nvSpPr>
        <p:spPr>
          <a:xfrm xmlns:a="http://schemas.openxmlformats.org/drawingml/2006/main">
            <a:off x="723900" y="2247900"/>
            <a:ext cx="762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5E6470"/>
                </a:solidFill>
                <a:latin typeface="Helvetica Neue"/>
                <a:ea typeface="Helvetica Neue"/>
                <a:cs typeface="Helvetica Neue"/>
              </a:defRPr>
            </a:pPr>
            <a:r>
              <a:rPr sz="1350" b="1">
                <a:solidFill>
                  <a:srgbClr val="5E6470"/>
                </a:solidFill>
                <a:latin typeface="Helvetica Neue"/>
                <a:ea typeface="Helvetica Neue"/>
                <a:cs typeface="Helvetica Neue"/>
              </a:rPr>
              <a:t>01</a:t>
            </a:r>
          </a:p>
        </p:txBody>
      </p:sp>
      <p:sp>
        <p:nvSpPr>
          <p:cNvPr id="7" name="request-title-0">
            <a:extLst xmlns:a="http://schemas.openxmlformats.org/drawingml/2006/main">
              <a:ext uri="{FF2B5EF4-FFF2-40B4-BE49-F238E27FC236}">
                <a16:creationId xmlns:a16="http://schemas.microsoft.com/office/drawing/2014/main" id="{F3C0DA5F-AAD3-421E-ACE2-489C0D604C86}"/>
              </a:ext>
            </a:extLst>
          </p:cNvPr>
          <p:cNvSpPr>
            <a:spLocks xmlns:a="http://schemas.openxmlformats.org/drawingml/2006/main" noGrp="1"/>
          </p:cNvSpPr>
          <p:nvPr/>
        </p:nvSpPr>
        <p:spPr>
          <a:xfrm xmlns:a="http://schemas.openxmlformats.org/drawingml/2006/main">
            <a:off x="723900" y="3333750"/>
            <a:ext cx="16764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100" b="1">
                <a:solidFill>
                  <a:srgbClr val="000000"/>
                </a:solidFill>
                <a:latin typeface="Helvetica Neue"/>
                <a:ea typeface="Helvetica Neue"/>
                <a:cs typeface="Helvetica Neue"/>
              </a:defRPr>
            </a:pPr>
            <a:r>
              <a:rPr sz="2100" b="1">
                <a:solidFill>
                  <a:srgbClr val="000000"/>
                </a:solidFill>
                <a:latin typeface="Helvetica Neue"/>
                <a:ea typeface="Helvetica Neue"/>
                <a:cs typeface="Helvetica Neue"/>
              </a:rPr>
              <a:t>Message</a:t>
            </a:r>
          </a:p>
        </p:txBody>
      </p:sp>
      <p:sp>
        <p:nvSpPr>
          <p:cNvPr id="8" name="request-body-0">
            <a:extLst xmlns:a="http://schemas.openxmlformats.org/drawingml/2006/main">
              <a:ext uri="{FF2B5EF4-FFF2-40B4-BE49-F238E27FC236}">
                <a16:creationId xmlns:a16="http://schemas.microsoft.com/office/drawing/2014/main" id="{32213073-123C-450E-8BFE-91B400802789}"/>
              </a:ext>
            </a:extLst>
          </p:cNvPr>
          <p:cNvSpPr>
            <a:spLocks xmlns:a="http://schemas.openxmlformats.org/drawingml/2006/main" noGrp="1"/>
          </p:cNvSpPr>
          <p:nvPr/>
        </p:nvSpPr>
        <p:spPr>
          <a:xfrm xmlns:a="http://schemas.openxmlformats.org/drawingml/2006/main">
            <a:off x="723900" y="3790950"/>
            <a:ext cx="171450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0">
                <a:solidFill>
                  <a:srgbClr val="5E6470"/>
                </a:solidFill>
                <a:latin typeface="Helvetica Neue"/>
                <a:ea typeface="Helvetica Neue"/>
                <a:cs typeface="Helvetica Neue"/>
              </a:defRPr>
            </a:pPr>
            <a:r>
              <a:rPr sz="1575" b="0">
                <a:solidFill>
                  <a:srgbClr val="5E6470"/>
                </a:solidFill>
                <a:latin typeface="Helvetica Neue"/>
                <a:ea typeface="Helvetica Neue"/>
                <a:cs typeface="Helvetica Neue"/>
              </a:rPr>
              <a:t>Text or one current attachment</a:t>
            </a:r>
          </a:p>
        </p:txBody>
      </p:sp>
      <p:sp>
        <p:nvSpPr>
          <p:cNvPr id="9" name="request-dot-1">
            <a:extLst xmlns:a="http://schemas.openxmlformats.org/drawingml/2006/main">
              <a:ext uri="{FF2B5EF4-FFF2-40B4-BE49-F238E27FC236}">
                <a16:creationId xmlns:a16="http://schemas.microsoft.com/office/drawing/2014/main" id="{80666AB3-E8E9-4834-A41B-8DFB488F9DB0}"/>
              </a:ext>
            </a:extLst>
          </p:cNvPr>
          <p:cNvSpPr>
            <a:spLocks xmlns:a="http://schemas.openxmlformats.org/drawingml/2006/main" noGrp="1"/>
          </p:cNvSpPr>
          <p:nvPr/>
        </p:nvSpPr>
        <p:spPr>
          <a:xfrm xmlns:a="http://schemas.openxmlformats.org/drawingml/2006/main">
            <a:off x="3038475" y="2981325"/>
            <a:ext cx="133350" cy="133350"/>
          </a:xfrm>
          <a:prstGeom xmlns:a="http://schemas.openxmlformats.org/drawingml/2006/main" prst="ellipse">
            <a:avLst/>
          </a:prstGeom>
          <a:solidFill xmlns:a="http://schemas.openxmlformats.org/drawingml/2006/main">
            <a:srgbClr val="3D8DFF"/>
          </a:solidFill>
          <a:ln xmlns:a="http://schemas.openxmlformats.org/drawingml/2006/main" w="0">
            <a:noFill/>
            <a:prstDash val="solid"/>
          </a:ln>
        </p:spPr>
      </p:sp>
      <p:sp>
        <p:nvSpPr>
          <p:cNvPr id="10" name="request-num-1">
            <a:extLst xmlns:a="http://schemas.openxmlformats.org/drawingml/2006/main">
              <a:ext uri="{FF2B5EF4-FFF2-40B4-BE49-F238E27FC236}">
                <a16:creationId xmlns:a16="http://schemas.microsoft.com/office/drawing/2014/main" id="{CD2FECFA-6D13-41F3-B5A8-5CB9CCBD6B13}"/>
              </a:ext>
            </a:extLst>
          </p:cNvPr>
          <p:cNvSpPr>
            <a:spLocks xmlns:a="http://schemas.openxmlformats.org/drawingml/2006/main" noGrp="1"/>
          </p:cNvSpPr>
          <p:nvPr/>
        </p:nvSpPr>
        <p:spPr>
          <a:xfrm xmlns:a="http://schemas.openxmlformats.org/drawingml/2006/main">
            <a:off x="3048000" y="2247900"/>
            <a:ext cx="762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5E6470"/>
                </a:solidFill>
                <a:latin typeface="Helvetica Neue"/>
                <a:ea typeface="Helvetica Neue"/>
                <a:cs typeface="Helvetica Neue"/>
              </a:defRPr>
            </a:pPr>
            <a:r>
              <a:rPr sz="1350" b="1">
                <a:solidFill>
                  <a:srgbClr val="5E6470"/>
                </a:solidFill>
                <a:latin typeface="Helvetica Neue"/>
                <a:ea typeface="Helvetica Neue"/>
                <a:cs typeface="Helvetica Neue"/>
              </a:rPr>
              <a:t>02</a:t>
            </a:r>
          </a:p>
        </p:txBody>
      </p:sp>
      <p:sp>
        <p:nvSpPr>
          <p:cNvPr id="11" name="request-title-1">
            <a:extLst xmlns:a="http://schemas.openxmlformats.org/drawingml/2006/main">
              <a:ext uri="{FF2B5EF4-FFF2-40B4-BE49-F238E27FC236}">
                <a16:creationId xmlns:a16="http://schemas.microsoft.com/office/drawing/2014/main" id="{F029C9D2-692C-4442-9D82-33BA683EA847}"/>
              </a:ext>
            </a:extLst>
          </p:cNvPr>
          <p:cNvSpPr>
            <a:spLocks xmlns:a="http://schemas.openxmlformats.org/drawingml/2006/main" noGrp="1"/>
          </p:cNvSpPr>
          <p:nvPr/>
        </p:nvSpPr>
        <p:spPr>
          <a:xfrm xmlns:a="http://schemas.openxmlformats.org/drawingml/2006/main">
            <a:off x="3048000" y="3333750"/>
            <a:ext cx="16764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100" b="1">
                <a:solidFill>
                  <a:srgbClr val="000000"/>
                </a:solidFill>
                <a:latin typeface="Helvetica Neue"/>
                <a:ea typeface="Helvetica Neue"/>
                <a:cs typeface="Helvetica Neue"/>
              </a:defRPr>
            </a:pPr>
            <a:r>
              <a:rPr sz="2100" b="1">
                <a:solidFill>
                  <a:srgbClr val="000000"/>
                </a:solidFill>
                <a:latin typeface="Helvetica Neue"/>
                <a:ea typeface="Helvetica Neue"/>
                <a:cs typeface="Helvetica Neue"/>
              </a:rPr>
              <a:t>Context</a:t>
            </a:r>
          </a:p>
        </p:txBody>
      </p:sp>
      <p:sp>
        <p:nvSpPr>
          <p:cNvPr id="12" name="request-body-1">
            <a:extLst xmlns:a="http://schemas.openxmlformats.org/drawingml/2006/main">
              <a:ext uri="{FF2B5EF4-FFF2-40B4-BE49-F238E27FC236}">
                <a16:creationId xmlns:a16="http://schemas.microsoft.com/office/drawing/2014/main" id="{B0C4B62C-26A3-4F95-9F12-6CCBCDC39F58}"/>
              </a:ext>
            </a:extLst>
          </p:cNvPr>
          <p:cNvSpPr>
            <a:spLocks xmlns:a="http://schemas.openxmlformats.org/drawingml/2006/main" noGrp="1"/>
          </p:cNvSpPr>
          <p:nvPr/>
        </p:nvSpPr>
        <p:spPr>
          <a:xfrm xmlns:a="http://schemas.openxmlformats.org/drawingml/2006/main">
            <a:off x="3048000" y="3790950"/>
            <a:ext cx="171450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0">
                <a:solidFill>
                  <a:srgbClr val="5E6470"/>
                </a:solidFill>
                <a:latin typeface="Helvetica Neue"/>
                <a:ea typeface="Helvetica Neue"/>
                <a:cs typeface="Helvetica Neue"/>
              </a:defRPr>
            </a:pPr>
            <a:r>
              <a:rPr sz="1575" b="0">
                <a:solidFill>
                  <a:srgbClr val="5E6470"/>
                </a:solidFill>
                <a:latin typeface="Helvetica Neue"/>
                <a:ea typeface="Helvetica Neue"/>
                <a:cs typeface="Helvetica Neue"/>
              </a:rPr>
              <a:t>Latest 30 non-error messages</a:t>
            </a:r>
          </a:p>
        </p:txBody>
      </p:sp>
      <p:sp>
        <p:nvSpPr>
          <p:cNvPr id="13" name="request-dot-2">
            <a:extLst xmlns:a="http://schemas.openxmlformats.org/drawingml/2006/main">
              <a:ext uri="{FF2B5EF4-FFF2-40B4-BE49-F238E27FC236}">
                <a16:creationId xmlns:a16="http://schemas.microsoft.com/office/drawing/2014/main" id="{DAD71C34-B937-42D4-AFCA-0299F5F2CC9C}"/>
              </a:ext>
            </a:extLst>
          </p:cNvPr>
          <p:cNvSpPr>
            <a:spLocks xmlns:a="http://schemas.openxmlformats.org/drawingml/2006/main" noGrp="1"/>
          </p:cNvSpPr>
          <p:nvPr/>
        </p:nvSpPr>
        <p:spPr>
          <a:xfrm xmlns:a="http://schemas.openxmlformats.org/drawingml/2006/main">
            <a:off x="5362575" y="2981325"/>
            <a:ext cx="133350" cy="133350"/>
          </a:xfrm>
          <a:prstGeom xmlns:a="http://schemas.openxmlformats.org/drawingml/2006/main" prst="ellipse">
            <a:avLst/>
          </a:prstGeom>
          <a:solidFill xmlns:a="http://schemas.openxmlformats.org/drawingml/2006/main">
            <a:srgbClr val="000000"/>
          </a:solidFill>
          <a:ln xmlns:a="http://schemas.openxmlformats.org/drawingml/2006/main" w="0">
            <a:noFill/>
            <a:prstDash val="solid"/>
          </a:ln>
        </p:spPr>
      </p:sp>
      <p:sp>
        <p:nvSpPr>
          <p:cNvPr id="14" name="request-num-2">
            <a:extLst xmlns:a="http://schemas.openxmlformats.org/drawingml/2006/main">
              <a:ext uri="{FF2B5EF4-FFF2-40B4-BE49-F238E27FC236}">
                <a16:creationId xmlns:a16="http://schemas.microsoft.com/office/drawing/2014/main" id="{20174C83-D37B-4B7E-8319-ED4BA618925A}"/>
              </a:ext>
            </a:extLst>
          </p:cNvPr>
          <p:cNvSpPr>
            <a:spLocks xmlns:a="http://schemas.openxmlformats.org/drawingml/2006/main" noGrp="1"/>
          </p:cNvSpPr>
          <p:nvPr/>
        </p:nvSpPr>
        <p:spPr>
          <a:xfrm xmlns:a="http://schemas.openxmlformats.org/drawingml/2006/main">
            <a:off x="5372100" y="2247900"/>
            <a:ext cx="762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5E6470"/>
                </a:solidFill>
                <a:latin typeface="Helvetica Neue"/>
                <a:ea typeface="Helvetica Neue"/>
                <a:cs typeface="Helvetica Neue"/>
              </a:defRPr>
            </a:pPr>
            <a:r>
              <a:rPr sz="1350" b="1">
                <a:solidFill>
                  <a:srgbClr val="5E6470"/>
                </a:solidFill>
                <a:latin typeface="Helvetica Neue"/>
                <a:ea typeface="Helvetica Neue"/>
                <a:cs typeface="Helvetica Neue"/>
              </a:rPr>
              <a:t>03</a:t>
            </a:r>
          </a:p>
        </p:txBody>
      </p:sp>
      <p:sp>
        <p:nvSpPr>
          <p:cNvPr id="15" name="request-title-2">
            <a:extLst xmlns:a="http://schemas.openxmlformats.org/drawingml/2006/main">
              <a:ext uri="{FF2B5EF4-FFF2-40B4-BE49-F238E27FC236}">
                <a16:creationId xmlns:a16="http://schemas.microsoft.com/office/drawing/2014/main" id="{9D7C179F-EBBA-46A3-A12D-B30BEE216D4D}"/>
              </a:ext>
            </a:extLst>
          </p:cNvPr>
          <p:cNvSpPr>
            <a:spLocks xmlns:a="http://schemas.openxmlformats.org/drawingml/2006/main" noGrp="1"/>
          </p:cNvSpPr>
          <p:nvPr/>
        </p:nvSpPr>
        <p:spPr>
          <a:xfrm xmlns:a="http://schemas.openxmlformats.org/drawingml/2006/main">
            <a:off x="5372100" y="3333750"/>
            <a:ext cx="16764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100" b="1">
                <a:solidFill>
                  <a:srgbClr val="000000"/>
                </a:solidFill>
                <a:latin typeface="Helvetica Neue"/>
                <a:ea typeface="Helvetica Neue"/>
                <a:cs typeface="Helvetica Neue"/>
              </a:defRPr>
            </a:pPr>
            <a:r>
              <a:rPr sz="2100" b="1">
                <a:solidFill>
                  <a:srgbClr val="000000"/>
                </a:solidFill>
                <a:latin typeface="Helvetica Neue"/>
                <a:ea typeface="Helvetica Neue"/>
                <a:cs typeface="Helvetica Neue"/>
              </a:rPr>
              <a:t>Model</a:t>
            </a:r>
          </a:p>
        </p:txBody>
      </p:sp>
      <p:sp>
        <p:nvSpPr>
          <p:cNvPr id="16" name="request-body-2">
            <a:extLst xmlns:a="http://schemas.openxmlformats.org/drawingml/2006/main">
              <a:ext uri="{FF2B5EF4-FFF2-40B4-BE49-F238E27FC236}">
                <a16:creationId xmlns:a16="http://schemas.microsoft.com/office/drawing/2014/main" id="{73700EC8-CC9E-493F-A165-E0150F2F60B8}"/>
              </a:ext>
            </a:extLst>
          </p:cNvPr>
          <p:cNvSpPr>
            <a:spLocks xmlns:a="http://schemas.openxmlformats.org/drawingml/2006/main" noGrp="1"/>
          </p:cNvSpPr>
          <p:nvPr/>
        </p:nvSpPr>
        <p:spPr>
          <a:xfrm xmlns:a="http://schemas.openxmlformats.org/drawingml/2006/main">
            <a:off x="5372100" y="3790950"/>
            <a:ext cx="171450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0">
                <a:solidFill>
                  <a:srgbClr val="5E6470"/>
                </a:solidFill>
                <a:latin typeface="Helvetica Neue"/>
                <a:ea typeface="Helvetica Neue"/>
                <a:cs typeface="Helvetica Neue"/>
              </a:defRPr>
            </a:pPr>
            <a:r>
              <a:rPr sz="1575" b="0">
                <a:solidFill>
                  <a:srgbClr val="5E6470"/>
                </a:solidFill>
                <a:latin typeface="Helvetica Neue"/>
                <a:ea typeface="Helvetica Neue"/>
                <a:cs typeface="Helvetica Neue"/>
              </a:rPr>
              <a:t>The user-selected Talk model</a:t>
            </a:r>
          </a:p>
        </p:txBody>
      </p:sp>
      <p:sp>
        <p:nvSpPr>
          <p:cNvPr id="17" name="request-dot-3">
            <a:extLst xmlns:a="http://schemas.openxmlformats.org/drawingml/2006/main">
              <a:ext uri="{FF2B5EF4-FFF2-40B4-BE49-F238E27FC236}">
                <a16:creationId xmlns:a16="http://schemas.microsoft.com/office/drawing/2014/main" id="{B1750561-ABBA-474F-80ED-B3A6558001C6}"/>
              </a:ext>
            </a:extLst>
          </p:cNvPr>
          <p:cNvSpPr>
            <a:spLocks xmlns:a="http://schemas.openxmlformats.org/drawingml/2006/main" noGrp="1"/>
          </p:cNvSpPr>
          <p:nvPr/>
        </p:nvSpPr>
        <p:spPr>
          <a:xfrm xmlns:a="http://schemas.openxmlformats.org/drawingml/2006/main">
            <a:off x="7686675" y="2981325"/>
            <a:ext cx="133350" cy="133350"/>
          </a:xfrm>
          <a:prstGeom xmlns:a="http://schemas.openxmlformats.org/drawingml/2006/main" prst="ellipse">
            <a:avLst/>
          </a:prstGeom>
          <a:solidFill xmlns:a="http://schemas.openxmlformats.org/drawingml/2006/main">
            <a:srgbClr val="000000"/>
          </a:solidFill>
          <a:ln xmlns:a="http://schemas.openxmlformats.org/drawingml/2006/main" w="0">
            <a:noFill/>
            <a:prstDash val="solid"/>
          </a:ln>
        </p:spPr>
      </p:sp>
      <p:sp>
        <p:nvSpPr>
          <p:cNvPr id="18" name="request-num-3">
            <a:extLst xmlns:a="http://schemas.openxmlformats.org/drawingml/2006/main">
              <a:ext uri="{FF2B5EF4-FFF2-40B4-BE49-F238E27FC236}">
                <a16:creationId xmlns:a16="http://schemas.microsoft.com/office/drawing/2014/main" id="{F78EB5B0-18B4-4863-BC3A-6F71AD11C842}"/>
              </a:ext>
            </a:extLst>
          </p:cNvPr>
          <p:cNvSpPr>
            <a:spLocks xmlns:a="http://schemas.openxmlformats.org/drawingml/2006/main" noGrp="1"/>
          </p:cNvSpPr>
          <p:nvPr/>
        </p:nvSpPr>
        <p:spPr>
          <a:xfrm xmlns:a="http://schemas.openxmlformats.org/drawingml/2006/main">
            <a:off x="7696200" y="2247900"/>
            <a:ext cx="762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5E6470"/>
                </a:solidFill>
                <a:latin typeface="Helvetica Neue"/>
                <a:ea typeface="Helvetica Neue"/>
                <a:cs typeface="Helvetica Neue"/>
              </a:defRPr>
            </a:pPr>
            <a:r>
              <a:rPr sz="1350" b="1">
                <a:solidFill>
                  <a:srgbClr val="5E6470"/>
                </a:solidFill>
                <a:latin typeface="Helvetica Neue"/>
                <a:ea typeface="Helvetica Neue"/>
                <a:cs typeface="Helvetica Neue"/>
              </a:rPr>
              <a:t>04</a:t>
            </a:r>
          </a:p>
        </p:txBody>
      </p:sp>
      <p:sp>
        <p:nvSpPr>
          <p:cNvPr id="19" name="request-title-3">
            <a:extLst xmlns:a="http://schemas.openxmlformats.org/drawingml/2006/main">
              <a:ext uri="{FF2B5EF4-FFF2-40B4-BE49-F238E27FC236}">
                <a16:creationId xmlns:a16="http://schemas.microsoft.com/office/drawing/2014/main" id="{ED12412A-60EB-4215-BBB3-7DDD7A6B2320}"/>
              </a:ext>
            </a:extLst>
          </p:cNvPr>
          <p:cNvSpPr>
            <a:spLocks xmlns:a="http://schemas.openxmlformats.org/drawingml/2006/main" noGrp="1"/>
          </p:cNvSpPr>
          <p:nvPr/>
        </p:nvSpPr>
        <p:spPr>
          <a:xfrm xmlns:a="http://schemas.openxmlformats.org/drawingml/2006/main">
            <a:off x="7696200" y="3333750"/>
            <a:ext cx="16764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100" b="1">
                <a:solidFill>
                  <a:srgbClr val="000000"/>
                </a:solidFill>
                <a:latin typeface="Helvetica Neue"/>
                <a:ea typeface="Helvetica Neue"/>
                <a:cs typeface="Helvetica Neue"/>
              </a:defRPr>
            </a:pPr>
            <a:r>
              <a:rPr sz="2100" b="1">
                <a:solidFill>
                  <a:srgbClr val="000000"/>
                </a:solidFill>
                <a:latin typeface="Helvetica Neue"/>
                <a:ea typeface="Helvetica Neue"/>
                <a:cs typeface="Helvetica Neue"/>
              </a:rPr>
              <a:t>Identity</a:t>
            </a:r>
          </a:p>
        </p:txBody>
      </p:sp>
      <p:sp>
        <p:nvSpPr>
          <p:cNvPr id="20" name="request-body-3">
            <a:extLst xmlns:a="http://schemas.openxmlformats.org/drawingml/2006/main">
              <a:ext uri="{FF2B5EF4-FFF2-40B4-BE49-F238E27FC236}">
                <a16:creationId xmlns:a16="http://schemas.microsoft.com/office/drawing/2014/main" id="{644FA26A-7DD4-43EA-941E-F17B4020D573}"/>
              </a:ext>
            </a:extLst>
          </p:cNvPr>
          <p:cNvSpPr>
            <a:spLocks xmlns:a="http://schemas.openxmlformats.org/drawingml/2006/main" noGrp="1"/>
          </p:cNvSpPr>
          <p:nvPr/>
        </p:nvSpPr>
        <p:spPr>
          <a:xfrm xmlns:a="http://schemas.openxmlformats.org/drawingml/2006/main">
            <a:off x="7696200" y="3790950"/>
            <a:ext cx="171450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0">
                <a:solidFill>
                  <a:srgbClr val="5E6470"/>
                </a:solidFill>
                <a:latin typeface="Helvetica Neue"/>
                <a:ea typeface="Helvetica Neue"/>
                <a:cs typeface="Helvetica Neue"/>
              </a:defRPr>
            </a:pPr>
            <a:r>
              <a:rPr sz="1575" b="0">
                <a:solidFill>
                  <a:srgbClr val="5E6470"/>
                </a:solidFill>
                <a:latin typeface="Helvetica Neue"/>
                <a:ea typeface="Helvetica Neue"/>
                <a:cs typeface="Helvetica Neue"/>
              </a:rPr>
              <a:t>Conversation id and auth session</a:t>
            </a:r>
          </a:p>
        </p:txBody>
      </p:sp>
      <p:sp>
        <p:nvSpPr>
          <p:cNvPr id="21" name="request-dot-4">
            <a:extLst xmlns:a="http://schemas.openxmlformats.org/drawingml/2006/main">
              <a:ext uri="{FF2B5EF4-FFF2-40B4-BE49-F238E27FC236}">
                <a16:creationId xmlns:a16="http://schemas.microsoft.com/office/drawing/2014/main" id="{B83D3C9A-BE11-4B69-A68D-B09005BAE8B3}"/>
              </a:ext>
            </a:extLst>
          </p:cNvPr>
          <p:cNvSpPr>
            <a:spLocks xmlns:a="http://schemas.openxmlformats.org/drawingml/2006/main" noGrp="1"/>
          </p:cNvSpPr>
          <p:nvPr/>
        </p:nvSpPr>
        <p:spPr>
          <a:xfrm xmlns:a="http://schemas.openxmlformats.org/drawingml/2006/main">
            <a:off x="10010775" y="2981325"/>
            <a:ext cx="133350" cy="133350"/>
          </a:xfrm>
          <a:prstGeom xmlns:a="http://schemas.openxmlformats.org/drawingml/2006/main" prst="ellipse">
            <a:avLst/>
          </a:prstGeom>
          <a:solidFill xmlns:a="http://schemas.openxmlformats.org/drawingml/2006/main">
            <a:srgbClr val="000000"/>
          </a:solidFill>
          <a:ln xmlns:a="http://schemas.openxmlformats.org/drawingml/2006/main" w="0">
            <a:noFill/>
            <a:prstDash val="solid"/>
          </a:ln>
        </p:spPr>
      </p:sp>
      <p:sp>
        <p:nvSpPr>
          <p:cNvPr id="22" name="request-num-4">
            <a:extLst xmlns:a="http://schemas.openxmlformats.org/drawingml/2006/main">
              <a:ext uri="{FF2B5EF4-FFF2-40B4-BE49-F238E27FC236}">
                <a16:creationId xmlns:a16="http://schemas.microsoft.com/office/drawing/2014/main" id="{EFD4D471-59A4-4C4A-901A-6A3041A62FB6}"/>
              </a:ext>
            </a:extLst>
          </p:cNvPr>
          <p:cNvSpPr>
            <a:spLocks xmlns:a="http://schemas.openxmlformats.org/drawingml/2006/main" noGrp="1"/>
          </p:cNvSpPr>
          <p:nvPr/>
        </p:nvSpPr>
        <p:spPr>
          <a:xfrm xmlns:a="http://schemas.openxmlformats.org/drawingml/2006/main">
            <a:off x="10020300" y="2247900"/>
            <a:ext cx="762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5E6470"/>
                </a:solidFill>
                <a:latin typeface="Helvetica Neue"/>
                <a:ea typeface="Helvetica Neue"/>
                <a:cs typeface="Helvetica Neue"/>
              </a:defRPr>
            </a:pPr>
            <a:r>
              <a:rPr sz="1350" b="1">
                <a:solidFill>
                  <a:srgbClr val="5E6470"/>
                </a:solidFill>
                <a:latin typeface="Helvetica Neue"/>
                <a:ea typeface="Helvetica Neue"/>
                <a:cs typeface="Helvetica Neue"/>
              </a:rPr>
              <a:t>05</a:t>
            </a:r>
          </a:p>
        </p:txBody>
      </p:sp>
      <p:sp>
        <p:nvSpPr>
          <p:cNvPr id="23" name="request-title-4">
            <a:extLst xmlns:a="http://schemas.openxmlformats.org/drawingml/2006/main">
              <a:ext uri="{FF2B5EF4-FFF2-40B4-BE49-F238E27FC236}">
                <a16:creationId xmlns:a16="http://schemas.microsoft.com/office/drawing/2014/main" id="{AC0F9CF1-EDE5-4053-AEF6-07AB3B9FBA4E}"/>
              </a:ext>
            </a:extLst>
          </p:cNvPr>
          <p:cNvSpPr>
            <a:spLocks xmlns:a="http://schemas.openxmlformats.org/drawingml/2006/main" noGrp="1"/>
          </p:cNvSpPr>
          <p:nvPr/>
        </p:nvSpPr>
        <p:spPr>
          <a:xfrm xmlns:a="http://schemas.openxmlformats.org/drawingml/2006/main">
            <a:off x="10020300" y="3333750"/>
            <a:ext cx="16764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100" b="1">
                <a:solidFill>
                  <a:srgbClr val="000000"/>
                </a:solidFill>
                <a:latin typeface="Helvetica Neue"/>
                <a:ea typeface="Helvetica Neue"/>
                <a:cs typeface="Helvetica Neue"/>
              </a:defRPr>
            </a:pPr>
            <a:r>
              <a:rPr sz="2100" b="1">
                <a:solidFill>
                  <a:srgbClr val="000000"/>
                </a:solidFill>
                <a:latin typeface="Helvetica Neue"/>
                <a:ea typeface="Helvetica Neue"/>
                <a:cs typeface="Helvetica Neue"/>
              </a:rPr>
              <a:t>Workflow</a:t>
            </a:r>
          </a:p>
        </p:txBody>
      </p:sp>
      <p:sp>
        <p:nvSpPr>
          <p:cNvPr id="24" name="request-body-4">
            <a:extLst xmlns:a="http://schemas.openxmlformats.org/drawingml/2006/main">
              <a:ext uri="{FF2B5EF4-FFF2-40B4-BE49-F238E27FC236}">
                <a16:creationId xmlns:a16="http://schemas.microsoft.com/office/drawing/2014/main" id="{3D7356AE-A7BD-451F-8397-AF2BB2A0F9AC}"/>
              </a:ext>
            </a:extLst>
          </p:cNvPr>
          <p:cNvSpPr>
            <a:spLocks xmlns:a="http://schemas.openxmlformats.org/drawingml/2006/main" noGrp="1"/>
          </p:cNvSpPr>
          <p:nvPr/>
        </p:nvSpPr>
        <p:spPr>
          <a:xfrm xmlns:a="http://schemas.openxmlformats.org/drawingml/2006/main">
            <a:off x="10020300" y="3790950"/>
            <a:ext cx="171450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0">
                <a:solidFill>
                  <a:srgbClr val="5E6470"/>
                </a:solidFill>
                <a:latin typeface="Helvetica Neue"/>
                <a:ea typeface="Helvetica Neue"/>
                <a:cs typeface="Helvetica Neue"/>
              </a:defRPr>
            </a:pPr>
            <a:r>
              <a:rPr sz="1575" b="0">
                <a:solidFill>
                  <a:srgbClr val="5E6470"/>
                </a:solidFill>
                <a:latin typeface="Helvetica Neue"/>
                <a:ea typeface="Helvetica Neue"/>
                <a:cs typeface="Helvetica Neue"/>
              </a:rPr>
              <a:t>plan_work metadata only when present</a:t>
            </a:r>
          </a:p>
        </p:txBody>
      </p:sp>
      <p:sp>
        <p:nvSpPr>
          <p:cNvPr id="25" name="composer-foot-bg">
            <a:extLst xmlns:a="http://schemas.openxmlformats.org/drawingml/2006/main">
              <a:ext uri="{FF2B5EF4-FFF2-40B4-BE49-F238E27FC236}">
                <a16:creationId xmlns:a16="http://schemas.microsoft.com/office/drawing/2014/main" id="{B46CB06D-79E6-43B0-8B99-BE7DA3844D5C}"/>
              </a:ext>
            </a:extLst>
          </p:cNvPr>
          <p:cNvSpPr>
            <a:spLocks xmlns:a="http://schemas.openxmlformats.org/drawingml/2006/main" noGrp="1"/>
          </p:cNvSpPr>
          <p:nvPr/>
        </p:nvSpPr>
        <p:spPr>
          <a:xfrm xmlns:a="http://schemas.openxmlformats.org/drawingml/2006/main">
            <a:off x="514350" y="5257800"/>
            <a:ext cx="10839450" cy="704850"/>
          </a:xfrm>
          <a:prstGeom xmlns:a="http://schemas.openxmlformats.org/drawingml/2006/main" prst="rect">
            <a:avLst/>
          </a:prstGeom>
          <a:solidFill xmlns:a="http://schemas.openxmlformats.org/drawingml/2006/main">
            <a:srgbClr val="F6F7F8"/>
          </a:solidFill>
          <a:ln xmlns:a="http://schemas.openxmlformats.org/drawingml/2006/main" w="0">
            <a:noFill/>
            <a:prstDash val="solid"/>
          </a:ln>
        </p:spPr>
      </p:sp>
      <p:sp>
        <p:nvSpPr>
          <p:cNvPr id="26" name="composer-foot">
            <a:extLst xmlns:a="http://schemas.openxmlformats.org/drawingml/2006/main">
              <a:ext uri="{FF2B5EF4-FFF2-40B4-BE49-F238E27FC236}">
                <a16:creationId xmlns:a16="http://schemas.microsoft.com/office/drawing/2014/main" id="{CDC70A73-4806-4D3C-A268-FAB2A7318133}"/>
              </a:ext>
            </a:extLst>
          </p:cNvPr>
          <p:cNvSpPr>
            <a:spLocks xmlns:a="http://schemas.openxmlformats.org/drawingml/2006/main" noGrp="1"/>
          </p:cNvSpPr>
          <p:nvPr/>
        </p:nvSpPr>
        <p:spPr>
          <a:xfrm xmlns:a="http://schemas.openxmlformats.org/drawingml/2006/main">
            <a:off x="742950" y="5448300"/>
            <a:ext cx="103441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7128"/>
          </a:bodyPr>
          <a:lstStyle xmlns:a="http://schemas.openxmlformats.org/drawingml/2006/main"/>
          <a:p xmlns:a="http://schemas.openxmlformats.org/drawingml/2006/main">
            <a:pPr algn="l">
              <a:defRPr sz="1725" b="1">
                <a:solidFill>
                  <a:srgbClr val="000000"/>
                </a:solidFill>
                <a:latin typeface="Helvetica Neue"/>
                <a:ea typeface="Helvetica Neue"/>
                <a:cs typeface="Helvetica Neue"/>
              </a:defRPr>
            </a:pPr>
            <a:r>
              <a:rPr sz="1725" b="1">
                <a:solidFill>
                  <a:srgbClr val="000000"/>
                </a:solidFill>
                <a:latin typeface="Helvetica Neue"/>
                <a:ea typeface="Helvetica Neue"/>
                <a:cs typeface="Helvetica Neue"/>
              </a:rPr>
              <a:t>Full history saves separately. Cancel attaches an AbortSignal; retry reuses the exact bounded request.</a:t>
            </a:r>
          </a:p>
        </p:txBody>
      </p:sp>
    </p:spTree>
    <p:extLst>
      <p:ext uri="{BB962C8B-B14F-4D97-AF65-F5344CB8AC3E}">
        <p14:creationId xmlns:p14="http://schemas.microsoft.com/office/powerpoint/2010/main" val="1795731270"/>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eyebrow-4">
            <a:extLst xmlns:a="http://schemas.openxmlformats.org/drawingml/2006/main">
              <a:ext uri="{FF2B5EF4-FFF2-40B4-BE49-F238E27FC236}">
                <a16:creationId xmlns:a16="http://schemas.microsoft.com/office/drawing/2014/main" id="{DF2D372A-6D6C-4150-B2DF-1DF4AB990D76}"/>
              </a:ext>
            </a:extLst>
          </p:cNvPr>
          <p:cNvSpPr>
            <a:spLocks xmlns:a="http://schemas.openxmlformats.org/drawingml/2006/main" noGrp="1"/>
          </p:cNvSpPr>
          <p:nvPr/>
        </p:nvSpPr>
        <p:spPr>
          <a:xfrm xmlns:a="http://schemas.openxmlformats.org/drawingml/2006/main">
            <a:off x="495300" y="32385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1">
                <a:solidFill>
                  <a:srgbClr val="5E6470"/>
                </a:solidFill>
                <a:latin typeface="Helvetica Neue"/>
                <a:ea typeface="Helvetica Neue"/>
                <a:cs typeface="Helvetica Neue"/>
              </a:defRPr>
            </a:pPr>
            <a:r>
              <a:rPr sz="1350" b="1">
                <a:solidFill>
                  <a:srgbClr val="5E6470"/>
                </a:solidFill>
                <a:latin typeface="Helvetica Neue"/>
                <a:ea typeface="Helvetica Neue"/>
                <a:cs typeface="Helvetica Neue"/>
              </a:rPr>
              <a:t>HEALTHYFLOW · TALK</a:t>
            </a:r>
          </a:p>
        </p:txBody>
      </p:sp>
      <p:sp>
        <p:nvSpPr>
          <p:cNvPr id="2" name="title-4">
            <a:extLst xmlns:a="http://schemas.openxmlformats.org/drawingml/2006/main">
              <a:ext uri="{FF2B5EF4-FFF2-40B4-BE49-F238E27FC236}">
                <a16:creationId xmlns:a16="http://schemas.microsoft.com/office/drawing/2014/main" id="{ECB918C7-35E8-4191-8323-E2D1787619F5}"/>
              </a:ext>
            </a:extLst>
          </p:cNvPr>
          <p:cNvSpPr>
            <a:spLocks xmlns:a="http://schemas.openxmlformats.org/drawingml/2006/main" noGrp="1"/>
          </p:cNvSpPr>
          <p:nvPr/>
        </p:nvSpPr>
        <p:spPr>
          <a:xfrm xmlns:a="http://schemas.openxmlformats.org/drawingml/2006/main">
            <a:off x="495300" y="72390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a:solidFill>
                  <a:srgbClr val="000000"/>
                </a:solidFill>
                <a:latin typeface="Helvetica Neue"/>
                <a:ea typeface="Helvetica Neue"/>
                <a:cs typeface="Helvetica Neue"/>
              </a:defRPr>
            </a:pPr>
            <a:r>
              <a:rPr sz="2850" b="1">
                <a:solidFill>
                  <a:srgbClr val="000000"/>
                </a:solidFill>
                <a:latin typeface="Helvetica Neue"/>
                <a:ea typeface="Helvetica Neue"/>
                <a:cs typeface="Helvetica Neue"/>
              </a:rPr>
              <a:t>The backend selects the engine first</a:t>
            </a:r>
          </a:p>
        </p:txBody>
      </p:sp>
      <p:sp>
        <p:nvSpPr>
          <p:cNvPr id="3" name="page-4">
            <a:extLst xmlns:a="http://schemas.openxmlformats.org/drawingml/2006/main">
              <a:ext uri="{FF2B5EF4-FFF2-40B4-BE49-F238E27FC236}">
                <a16:creationId xmlns:a16="http://schemas.microsoft.com/office/drawing/2014/main" id="{F4824CBF-307A-4836-9605-312624CA29A4}"/>
              </a:ext>
            </a:extLst>
          </p:cNvPr>
          <p:cNvSpPr>
            <a:spLocks xmlns:a="http://schemas.openxmlformats.org/drawingml/2006/main" noGrp="1"/>
          </p:cNvSpPr>
          <p:nvPr/>
        </p:nvSpPr>
        <p:spPr>
          <a:xfrm xmlns:a="http://schemas.openxmlformats.org/drawingml/2006/main">
            <a:off x="11277600" y="626745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E6470"/>
                </a:solidFill>
                <a:latin typeface="Helvetica Neue"/>
                <a:ea typeface="Helvetica Neue"/>
                <a:cs typeface="Helvetica Neue"/>
              </a:defRPr>
            </a:pPr>
            <a:r>
              <a:rPr sz="1125" b="0">
                <a:solidFill>
                  <a:srgbClr val="5E6470"/>
                </a:solidFill>
                <a:latin typeface="Helvetica Neue"/>
                <a:ea typeface="Helvetica Neue"/>
                <a:cs typeface="Helvetica Neue"/>
              </a:rPr>
              <a:t>04</a:t>
            </a:r>
          </a:p>
        </p:txBody>
      </p:sp>
      <p:cxnSp>
        <p:nvCxnSpPr>
          <p:cNvPr id="28" name="route-in"/>
          <p:cNvCxnSpPr/>
          <p:nvPr/>
        </p:nvCxnSpPr>
        <p:spPr>
          <a:xfrm xmlns:a="http://schemas.openxmlformats.org/drawingml/2006/main">
            <a:off x="6096000" y="2381250"/>
            <a:ext cx="0" cy="533400"/>
          </a:xfrm>
          <a:prstGeom xmlns:a="http://schemas.openxmlformats.org/drawingml/2006/main" prst="straightConnector1">
            <a:avLst/>
          </a:prstGeom>
          <a:ln xmlns:a="http://schemas.openxmlformats.org/drawingml/2006/main" w="28575">
            <a:solidFill>
              <a:srgbClr val="B8BCC4"/>
            </a:solidFill>
            <a:prstDash val="solid"/>
          </a:ln>
        </p:spPr>
      </p:cxnSp>
      <p:cxnSp>
        <p:nvCxnSpPr>
          <p:cNvPr id="29" name="route-left-h"/>
          <p:cNvCxnSpPr/>
          <p:nvPr/>
        </p:nvCxnSpPr>
        <p:spPr>
          <a:xfrm xmlns:a="http://schemas.openxmlformats.org/drawingml/2006/main">
            <a:off x="3181350" y="3619500"/>
            <a:ext cx="2914650" cy="0"/>
          </a:xfrm>
          <a:prstGeom xmlns:a="http://schemas.openxmlformats.org/drawingml/2006/main" prst="straightConnector1">
            <a:avLst/>
          </a:prstGeom>
          <a:ln xmlns:a="http://schemas.openxmlformats.org/drawingml/2006/main" w="28575">
            <a:solidFill>
              <a:srgbClr val="B8BCC4"/>
            </a:solidFill>
            <a:prstDash val="solid"/>
          </a:ln>
        </p:spPr>
      </p:cxnSp>
      <p:cxnSp>
        <p:nvCxnSpPr>
          <p:cNvPr id="30" name="route-left-v"/>
          <p:cNvCxnSpPr/>
          <p:nvPr/>
        </p:nvCxnSpPr>
        <p:spPr>
          <a:xfrm xmlns:a="http://schemas.openxmlformats.org/drawingml/2006/main">
            <a:off x="3181350" y="3619500"/>
            <a:ext cx="0" cy="685800"/>
          </a:xfrm>
          <a:prstGeom xmlns:a="http://schemas.openxmlformats.org/drawingml/2006/main" prst="straightConnector1">
            <a:avLst/>
          </a:prstGeom>
          <a:ln xmlns:a="http://schemas.openxmlformats.org/drawingml/2006/main" w="28575">
            <a:solidFill>
              <a:srgbClr val="B8BCC4"/>
            </a:solidFill>
            <a:prstDash val="solid"/>
          </a:ln>
        </p:spPr>
      </p:cxnSp>
      <p:cxnSp>
        <p:nvCxnSpPr>
          <p:cNvPr id="31" name="route-right-h"/>
          <p:cNvCxnSpPr/>
          <p:nvPr/>
        </p:nvCxnSpPr>
        <p:spPr>
          <a:xfrm xmlns:a="http://schemas.openxmlformats.org/drawingml/2006/main">
            <a:off x="6096000" y="3619500"/>
            <a:ext cx="2914650" cy="0"/>
          </a:xfrm>
          <a:prstGeom xmlns:a="http://schemas.openxmlformats.org/drawingml/2006/main" prst="straightConnector1">
            <a:avLst/>
          </a:prstGeom>
          <a:ln xmlns:a="http://schemas.openxmlformats.org/drawingml/2006/main" w="28575">
            <a:solidFill>
              <a:srgbClr val="B8BCC4"/>
            </a:solidFill>
            <a:prstDash val="solid"/>
          </a:ln>
        </p:spPr>
      </p:cxnSp>
      <p:cxnSp>
        <p:nvCxnSpPr>
          <p:cNvPr id="32" name="route-right-v"/>
          <p:cNvCxnSpPr/>
          <p:nvPr/>
        </p:nvCxnSpPr>
        <p:spPr>
          <a:xfrm xmlns:a="http://schemas.openxmlformats.org/drawingml/2006/main">
            <a:off x="9010650" y="3619500"/>
            <a:ext cx="0" cy="685800"/>
          </a:xfrm>
          <a:prstGeom xmlns:a="http://schemas.openxmlformats.org/drawingml/2006/main" prst="straightConnector1">
            <a:avLst/>
          </a:prstGeom>
          <a:ln xmlns:a="http://schemas.openxmlformats.org/drawingml/2006/main" w="28575">
            <a:solidFill>
              <a:srgbClr val="B8BCC4"/>
            </a:solidFill>
            <a:prstDash val="solid"/>
          </a:ln>
        </p:spPr>
      </p:cxnSp>
      <p:sp>
        <p:nvSpPr>
          <p:cNvPr id="9" name="route-request-bg">
            <a:extLst xmlns:a="http://schemas.openxmlformats.org/drawingml/2006/main">
              <a:ext uri="{FF2B5EF4-FFF2-40B4-BE49-F238E27FC236}">
                <a16:creationId xmlns:a16="http://schemas.microsoft.com/office/drawing/2014/main" id="{53C163A0-E25C-42D3-8A07-F278A5504016}"/>
              </a:ext>
            </a:extLst>
          </p:cNvPr>
          <p:cNvSpPr>
            <a:spLocks xmlns:a="http://schemas.openxmlformats.org/drawingml/2006/main" noGrp="1"/>
          </p:cNvSpPr>
          <p:nvPr/>
        </p:nvSpPr>
        <p:spPr>
          <a:xfrm xmlns:a="http://schemas.openxmlformats.org/drawingml/2006/main">
            <a:off x="4286250" y="1638300"/>
            <a:ext cx="3619500" cy="762000"/>
          </a:xfrm>
          <a:prstGeom xmlns:a="http://schemas.openxmlformats.org/drawingml/2006/main" prst="rect">
            <a:avLst/>
          </a:prstGeom>
          <a:solidFill xmlns:a="http://schemas.openxmlformats.org/drawingml/2006/main">
            <a:srgbClr val="F6F7F8"/>
          </a:solidFill>
          <a:ln xmlns:a="http://schemas.openxmlformats.org/drawingml/2006/main" w="0">
            <a:noFill/>
            <a:prstDash val="solid"/>
          </a:ln>
        </p:spPr>
      </p:sp>
      <p:sp>
        <p:nvSpPr>
          <p:cNvPr id="10" name="route-request-accent">
            <a:extLst xmlns:a="http://schemas.openxmlformats.org/drawingml/2006/main">
              <a:ext uri="{FF2B5EF4-FFF2-40B4-BE49-F238E27FC236}">
                <a16:creationId xmlns:a16="http://schemas.microsoft.com/office/drawing/2014/main" id="{3957FD91-DE65-4CCB-AF69-29608F3C491E}"/>
              </a:ext>
            </a:extLst>
          </p:cNvPr>
          <p:cNvSpPr>
            <a:spLocks xmlns:a="http://schemas.openxmlformats.org/drawingml/2006/main" noGrp="1"/>
          </p:cNvSpPr>
          <p:nvPr/>
        </p:nvSpPr>
        <p:spPr>
          <a:xfrm xmlns:a="http://schemas.openxmlformats.org/drawingml/2006/main">
            <a:off x="4286250" y="1638300"/>
            <a:ext cx="76200" cy="762000"/>
          </a:xfrm>
          <a:prstGeom xmlns:a="http://schemas.openxmlformats.org/drawingml/2006/main" prst="rect">
            <a:avLst/>
          </a:prstGeom>
          <a:solidFill xmlns:a="http://schemas.openxmlformats.org/drawingml/2006/main">
            <a:srgbClr val="000000"/>
          </a:solidFill>
          <a:ln xmlns:a="http://schemas.openxmlformats.org/drawingml/2006/main" w="0">
            <a:noFill/>
            <a:prstDash val="solid"/>
          </a:ln>
        </p:spPr>
      </p:sp>
      <p:sp>
        <p:nvSpPr>
          <p:cNvPr id="11" name="route-request-title">
            <a:extLst xmlns:a="http://schemas.openxmlformats.org/drawingml/2006/main">
              <a:ext uri="{FF2B5EF4-FFF2-40B4-BE49-F238E27FC236}">
                <a16:creationId xmlns:a16="http://schemas.microsoft.com/office/drawing/2014/main" id="{650C8BD6-C3B4-4E28-B2DC-62FA1C6D1E37}"/>
              </a:ext>
            </a:extLst>
          </p:cNvPr>
          <p:cNvSpPr>
            <a:spLocks xmlns:a="http://schemas.openxmlformats.org/drawingml/2006/main" noGrp="1"/>
          </p:cNvSpPr>
          <p:nvPr/>
        </p:nvSpPr>
        <p:spPr>
          <a:xfrm xmlns:a="http://schemas.openxmlformats.org/drawingml/2006/main">
            <a:off x="4495800" y="1771650"/>
            <a:ext cx="32575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5238"/>
          </a:bodyPr>
          <a:lstStyle xmlns:a="http://schemas.openxmlformats.org/drawingml/2006/main"/>
          <a:p xmlns:a="http://schemas.openxmlformats.org/drawingml/2006/main">
            <a:pPr algn="l">
              <a:defRPr sz="2100" b="1">
                <a:solidFill>
                  <a:srgbClr val="000000"/>
                </a:solidFill>
                <a:latin typeface="Helvetica Neue"/>
                <a:ea typeface="Helvetica Neue"/>
                <a:cs typeface="Helvetica Neue"/>
              </a:defRPr>
            </a:pPr>
            <a:r>
              <a:rPr sz="2100" b="1">
                <a:solidFill>
                  <a:srgbClr val="000000"/>
                </a:solidFill>
                <a:latin typeface="Helvetica Neue"/>
                <a:ea typeface="Helvetica Neue"/>
                <a:cs typeface="Helvetica Neue"/>
              </a:rPr>
              <a:t>POST /ai/chat</a:t>
            </a:r>
          </a:p>
        </p:txBody>
      </p:sp>
      <p:sp>
        <p:nvSpPr>
          <p:cNvPr id="12" name="route-request-body">
            <a:extLst xmlns:a="http://schemas.openxmlformats.org/drawingml/2006/main">
              <a:ext uri="{FF2B5EF4-FFF2-40B4-BE49-F238E27FC236}">
                <a16:creationId xmlns:a16="http://schemas.microsoft.com/office/drawing/2014/main" id="{CE5AE1E7-2974-49F0-954A-A5072034965F}"/>
              </a:ext>
            </a:extLst>
          </p:cNvPr>
          <p:cNvSpPr>
            <a:spLocks xmlns:a="http://schemas.openxmlformats.org/drawingml/2006/main" noGrp="1"/>
          </p:cNvSpPr>
          <p:nvPr/>
        </p:nvSpPr>
        <p:spPr>
          <a:xfrm xmlns:a="http://schemas.openxmlformats.org/drawingml/2006/main">
            <a:off x="4495800" y="2114550"/>
            <a:ext cx="3238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9086"/>
          </a:bodyPr>
          <a:lstStyle xmlns:a="http://schemas.openxmlformats.org/drawingml/2006/main"/>
          <a:p xmlns:a="http://schemas.openxmlformats.org/drawingml/2006/main">
            <a:pPr algn="l">
              <a:defRPr sz="1350" b="0">
                <a:solidFill>
                  <a:srgbClr val="5E6470"/>
                </a:solidFill>
                <a:latin typeface="Helvetica Neue"/>
                <a:ea typeface="Helvetica Neue"/>
                <a:cs typeface="Helvetica Neue"/>
              </a:defRPr>
            </a:pPr>
            <a:r>
              <a:rPr sz="1350" b="0">
                <a:solidFill>
                  <a:srgbClr val="5E6470"/>
                </a:solidFill>
                <a:latin typeface="Helvetica Neue"/>
                <a:ea typeface="Helvetica Neue"/>
                <a:cs typeface="Helvetica Neue"/>
              </a:rPr>
              <a:t>Validate input · rate limit · resolve timezone</a:t>
            </a:r>
          </a:p>
        </p:txBody>
      </p:sp>
      <p:sp>
        <p:nvSpPr>
          <p:cNvPr id="13" name="route-decision-bg">
            <a:extLst xmlns:a="http://schemas.openxmlformats.org/drawingml/2006/main">
              <a:ext uri="{FF2B5EF4-FFF2-40B4-BE49-F238E27FC236}">
                <a16:creationId xmlns:a16="http://schemas.microsoft.com/office/drawing/2014/main" id="{5FD65767-A16A-401F-A7B0-0B68AFF17A0E}"/>
              </a:ext>
            </a:extLst>
          </p:cNvPr>
          <p:cNvSpPr>
            <a:spLocks xmlns:a="http://schemas.openxmlformats.org/drawingml/2006/main" noGrp="1"/>
          </p:cNvSpPr>
          <p:nvPr/>
        </p:nvSpPr>
        <p:spPr>
          <a:xfrm xmlns:a="http://schemas.openxmlformats.org/drawingml/2006/main">
            <a:off x="4286250" y="2914650"/>
            <a:ext cx="3619500" cy="933450"/>
          </a:xfrm>
          <a:prstGeom xmlns:a="http://schemas.openxmlformats.org/drawingml/2006/main" prst="rect">
            <a:avLst/>
          </a:prstGeom>
          <a:solidFill xmlns:a="http://schemas.openxmlformats.org/drawingml/2006/main">
            <a:srgbClr val="E7F6FD"/>
          </a:solidFill>
          <a:ln xmlns:a="http://schemas.openxmlformats.org/drawingml/2006/main" w="0">
            <a:noFill/>
            <a:prstDash val="solid"/>
          </a:ln>
        </p:spPr>
      </p:sp>
      <p:sp>
        <p:nvSpPr>
          <p:cNvPr id="14" name="route-decision-accent">
            <a:extLst xmlns:a="http://schemas.openxmlformats.org/drawingml/2006/main">
              <a:ext uri="{FF2B5EF4-FFF2-40B4-BE49-F238E27FC236}">
                <a16:creationId xmlns:a16="http://schemas.microsoft.com/office/drawing/2014/main" id="{595E0A52-E4DD-4B23-840F-87C3E208A394}"/>
              </a:ext>
            </a:extLst>
          </p:cNvPr>
          <p:cNvSpPr>
            <a:spLocks xmlns:a="http://schemas.openxmlformats.org/drawingml/2006/main" noGrp="1"/>
          </p:cNvSpPr>
          <p:nvPr/>
        </p:nvSpPr>
        <p:spPr>
          <a:xfrm xmlns:a="http://schemas.openxmlformats.org/drawingml/2006/main">
            <a:off x="4286250" y="2914650"/>
            <a:ext cx="76200" cy="93345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5" name="route-decision-title">
            <a:extLst xmlns:a="http://schemas.openxmlformats.org/drawingml/2006/main">
              <a:ext uri="{FF2B5EF4-FFF2-40B4-BE49-F238E27FC236}">
                <a16:creationId xmlns:a16="http://schemas.microsoft.com/office/drawing/2014/main" id="{934270D8-BF59-4063-B573-94402C9CF555}"/>
              </a:ext>
            </a:extLst>
          </p:cNvPr>
          <p:cNvSpPr>
            <a:spLocks xmlns:a="http://schemas.openxmlformats.org/drawingml/2006/main" noGrp="1"/>
          </p:cNvSpPr>
          <p:nvPr/>
        </p:nvSpPr>
        <p:spPr>
          <a:xfrm xmlns:a="http://schemas.openxmlformats.org/drawingml/2006/main">
            <a:off x="4495800" y="3048000"/>
            <a:ext cx="32575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8256"/>
          </a:bodyPr>
          <a:lstStyle xmlns:a="http://schemas.openxmlformats.org/drawingml/2006/main"/>
          <a:p xmlns:a="http://schemas.openxmlformats.org/drawingml/2006/main">
            <a:pPr algn="l">
              <a:defRPr sz="1800" b="1">
                <a:solidFill>
                  <a:srgbClr val="000000"/>
                </a:solidFill>
                <a:latin typeface="Helvetica Neue"/>
                <a:ea typeface="Helvetica Neue"/>
                <a:cs typeface="Helvetica Neue"/>
              </a:defRPr>
            </a:pPr>
            <a:r>
              <a:rPr sz="1800" b="1">
                <a:solidFill>
                  <a:srgbClr val="000000"/>
                </a:solidFill>
                <a:latin typeface="Helvetica Neue"/>
                <a:ea typeface="Helvetica Neue"/>
                <a:cs typeface="Helvetica Neue"/>
              </a:rPr>
              <a:t>Workflow requested or active?</a:t>
            </a:r>
          </a:p>
        </p:txBody>
      </p:sp>
      <p:sp>
        <p:nvSpPr>
          <p:cNvPr id="16" name="route-decision-body">
            <a:extLst xmlns:a="http://schemas.openxmlformats.org/drawingml/2006/main">
              <a:ext uri="{FF2B5EF4-FFF2-40B4-BE49-F238E27FC236}">
                <a16:creationId xmlns:a16="http://schemas.microsoft.com/office/drawing/2014/main" id="{CFBD466E-FD75-4B3D-903A-96E292AF3B8D}"/>
              </a:ext>
            </a:extLst>
          </p:cNvPr>
          <p:cNvSpPr>
            <a:spLocks xmlns:a="http://schemas.openxmlformats.org/drawingml/2006/main" noGrp="1"/>
          </p:cNvSpPr>
          <p:nvPr/>
        </p:nvSpPr>
        <p:spPr>
          <a:xfrm xmlns:a="http://schemas.openxmlformats.org/drawingml/2006/main">
            <a:off x="4495800" y="3505200"/>
            <a:ext cx="3238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3092"/>
          </a:bodyPr>
          <a:lstStyle xmlns:a="http://schemas.openxmlformats.org/drawingml/2006/main"/>
          <a:p xmlns:a="http://schemas.openxmlformats.org/drawingml/2006/main">
            <a:pPr algn="l">
              <a:defRPr sz="1350" b="0">
                <a:solidFill>
                  <a:srgbClr val="5E6470"/>
                </a:solidFill>
                <a:latin typeface="Helvetica Neue"/>
                <a:ea typeface="Helvetica Neue"/>
                <a:cs typeface="Helvetica Neue"/>
              </a:defRPr>
            </a:pPr>
            <a:r>
              <a:rPr sz="1350" b="0">
                <a:solidFill>
                  <a:srgbClr val="5E6470"/>
                </a:solidFill>
                <a:latin typeface="Helvetica Neue"/>
                <a:ea typeface="Helvetica Neue"/>
                <a:cs typeface="Helvetica Neue"/>
              </a:rPr>
              <a:t>Conversation state is checked before OpenAI runs.</a:t>
            </a:r>
          </a:p>
        </p:txBody>
      </p:sp>
      <p:sp>
        <p:nvSpPr>
          <p:cNvPr id="17" name="route-regular-bg">
            <a:extLst xmlns:a="http://schemas.openxmlformats.org/drawingml/2006/main">
              <a:ext uri="{FF2B5EF4-FFF2-40B4-BE49-F238E27FC236}">
                <a16:creationId xmlns:a16="http://schemas.microsoft.com/office/drawing/2014/main" id="{E63790D8-4D39-4AA2-9034-92FC74FCD473}"/>
              </a:ext>
            </a:extLst>
          </p:cNvPr>
          <p:cNvSpPr>
            <a:spLocks xmlns:a="http://schemas.openxmlformats.org/drawingml/2006/main" noGrp="1"/>
          </p:cNvSpPr>
          <p:nvPr/>
        </p:nvSpPr>
        <p:spPr>
          <a:xfrm xmlns:a="http://schemas.openxmlformats.org/drawingml/2006/main">
            <a:off x="1143000" y="4305300"/>
            <a:ext cx="4095750" cy="1257300"/>
          </a:xfrm>
          <a:prstGeom xmlns:a="http://schemas.openxmlformats.org/drawingml/2006/main" prst="rect">
            <a:avLst/>
          </a:prstGeom>
          <a:solidFill xmlns:a="http://schemas.openxmlformats.org/drawingml/2006/main">
            <a:srgbClr val="F6F7F8"/>
          </a:solidFill>
          <a:ln xmlns:a="http://schemas.openxmlformats.org/drawingml/2006/main" w="0">
            <a:noFill/>
            <a:prstDash val="solid"/>
          </a:ln>
        </p:spPr>
      </p:sp>
      <p:sp>
        <p:nvSpPr>
          <p:cNvPr id="18" name="route-regular-accent">
            <a:extLst xmlns:a="http://schemas.openxmlformats.org/drawingml/2006/main">
              <a:ext uri="{FF2B5EF4-FFF2-40B4-BE49-F238E27FC236}">
                <a16:creationId xmlns:a16="http://schemas.microsoft.com/office/drawing/2014/main" id="{5C983A5A-E8F1-420D-B077-7FE64F47721F}"/>
              </a:ext>
            </a:extLst>
          </p:cNvPr>
          <p:cNvSpPr>
            <a:spLocks xmlns:a="http://schemas.openxmlformats.org/drawingml/2006/main" noGrp="1"/>
          </p:cNvSpPr>
          <p:nvPr/>
        </p:nvSpPr>
        <p:spPr>
          <a:xfrm xmlns:a="http://schemas.openxmlformats.org/drawingml/2006/main">
            <a:off x="1143000" y="4305300"/>
            <a:ext cx="76200" cy="1257300"/>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19" name="route-regular-title">
            <a:extLst xmlns:a="http://schemas.openxmlformats.org/drawingml/2006/main">
              <a:ext uri="{FF2B5EF4-FFF2-40B4-BE49-F238E27FC236}">
                <a16:creationId xmlns:a16="http://schemas.microsoft.com/office/drawing/2014/main" id="{88D2059D-3640-4407-960C-BFC3B5ECDDAF}"/>
              </a:ext>
            </a:extLst>
          </p:cNvPr>
          <p:cNvSpPr>
            <a:spLocks xmlns:a="http://schemas.openxmlformats.org/drawingml/2006/main" noGrp="1"/>
          </p:cNvSpPr>
          <p:nvPr/>
        </p:nvSpPr>
        <p:spPr>
          <a:xfrm xmlns:a="http://schemas.openxmlformats.org/drawingml/2006/main">
            <a:off x="1352550" y="4438650"/>
            <a:ext cx="37338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5238"/>
          </a:bodyPr>
          <a:lstStyle xmlns:a="http://schemas.openxmlformats.org/drawingml/2006/main"/>
          <a:p xmlns:a="http://schemas.openxmlformats.org/drawingml/2006/main">
            <a:pPr algn="l">
              <a:defRPr sz="2100" b="1">
                <a:solidFill>
                  <a:srgbClr val="000000"/>
                </a:solidFill>
                <a:latin typeface="Helvetica Neue"/>
                <a:ea typeface="Helvetica Neue"/>
                <a:cs typeface="Helvetica Neue"/>
              </a:defRPr>
            </a:pPr>
            <a:r>
              <a:rPr sz="2100" b="1">
                <a:solidFill>
                  <a:srgbClr val="000000"/>
                </a:solidFill>
                <a:latin typeface="Helvetica Neue"/>
                <a:ea typeface="Helvetica Neue"/>
                <a:cs typeface="Helvetica Neue"/>
              </a:rPr>
              <a:t>No → regular tool loop</a:t>
            </a:r>
          </a:p>
        </p:txBody>
      </p:sp>
      <p:sp>
        <p:nvSpPr>
          <p:cNvPr id="20" name="route-regular-body">
            <a:extLst xmlns:a="http://schemas.openxmlformats.org/drawingml/2006/main">
              <a:ext uri="{FF2B5EF4-FFF2-40B4-BE49-F238E27FC236}">
                <a16:creationId xmlns:a16="http://schemas.microsoft.com/office/drawing/2014/main" id="{A50E541C-AD99-4BA0-8B63-766D59B41327}"/>
              </a:ext>
            </a:extLst>
          </p:cNvPr>
          <p:cNvSpPr>
            <a:spLocks xmlns:a="http://schemas.openxmlformats.org/drawingml/2006/main" noGrp="1"/>
          </p:cNvSpPr>
          <p:nvPr/>
        </p:nvSpPr>
        <p:spPr>
          <a:xfrm xmlns:a="http://schemas.openxmlformats.org/drawingml/2006/main">
            <a:off x="1352550" y="4781550"/>
            <a:ext cx="3714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0">
                <a:solidFill>
                  <a:srgbClr val="5E6470"/>
                </a:solidFill>
                <a:latin typeface="Helvetica Neue"/>
                <a:ea typeface="Helvetica Neue"/>
                <a:cs typeface="Helvetica Neue"/>
              </a:defRPr>
            </a:pPr>
            <a:r>
              <a:rPr sz="1425" b="0">
                <a:solidFill>
                  <a:srgbClr val="5E6470"/>
                </a:solidFill>
                <a:latin typeface="Helvetica Neue"/>
                <a:ea typeface="Helvetica Neue"/>
                <a:cs typeface="Helvetica Neue"/>
              </a:rPr>
              <a:t>General system prompt</a:t>
            </a:r>
          </a:p>
          <a:p xmlns:a="http://schemas.openxmlformats.org/drawingml/2006/main">
            <a:pPr algn="l">
              <a:defRPr sz="1425" b="0">
                <a:solidFill>
                  <a:srgbClr val="5E6470"/>
                </a:solidFill>
                <a:latin typeface="Helvetica Neue"/>
                <a:ea typeface="Helvetica Neue"/>
                <a:cs typeface="Helvetica Neue"/>
              </a:defRPr>
            </a:pPr>
            <a:r>
              <a:rPr sz="1425" b="0">
                <a:solidFill>
                  <a:srgbClr val="5E6470"/>
                </a:solidFill>
                <a:latin typeface="Helvetica Neue"/>
                <a:ea typeface="Helvetica Neue"/>
                <a:cs typeface="Helvetica Neue"/>
              </a:rPr>
              <a:t>Regular capabilities</a:t>
            </a:r>
          </a:p>
          <a:p xmlns:a="http://schemas.openxmlformats.org/drawingml/2006/main">
            <a:pPr algn="l">
              <a:defRPr sz="1425" b="0">
                <a:solidFill>
                  <a:srgbClr val="5E6470"/>
                </a:solidFill>
                <a:latin typeface="Helvetica Neue"/>
                <a:ea typeface="Helvetica Neue"/>
                <a:cs typeface="Helvetica Neue"/>
              </a:defRPr>
            </a:pPr>
            <a:r>
              <a:rPr sz="1425" b="0">
                <a:solidFill>
                  <a:srgbClr val="5E6470"/>
                </a:solidFill>
                <a:latin typeface="Helvetica Neue"/>
                <a:ea typeface="Helvetica Neue"/>
                <a:cs typeface="Helvetica Neue"/>
              </a:rPr>
              <a:t>Unstructured assistant response</a:t>
            </a:r>
          </a:p>
        </p:txBody>
      </p:sp>
      <p:sp>
        <p:nvSpPr>
          <p:cNvPr id="21" name="route-workflow-bg">
            <a:extLst xmlns:a="http://schemas.openxmlformats.org/drawingml/2006/main">
              <a:ext uri="{FF2B5EF4-FFF2-40B4-BE49-F238E27FC236}">
                <a16:creationId xmlns:a16="http://schemas.microsoft.com/office/drawing/2014/main" id="{50051A08-D9A6-442C-9CA7-AE0CA4681996}"/>
              </a:ext>
            </a:extLst>
          </p:cNvPr>
          <p:cNvSpPr>
            <a:spLocks xmlns:a="http://schemas.openxmlformats.org/drawingml/2006/main" noGrp="1"/>
          </p:cNvSpPr>
          <p:nvPr/>
        </p:nvSpPr>
        <p:spPr>
          <a:xfrm xmlns:a="http://schemas.openxmlformats.org/drawingml/2006/main">
            <a:off x="6953250" y="4305300"/>
            <a:ext cx="4095750" cy="1257300"/>
          </a:xfrm>
          <a:prstGeom xmlns:a="http://schemas.openxmlformats.org/drawingml/2006/main" prst="rect">
            <a:avLst/>
          </a:prstGeom>
          <a:solidFill xmlns:a="http://schemas.openxmlformats.org/drawingml/2006/main">
            <a:srgbClr val="F6F7F8"/>
          </a:solidFill>
          <a:ln xmlns:a="http://schemas.openxmlformats.org/drawingml/2006/main" w="0">
            <a:noFill/>
            <a:prstDash val="solid"/>
          </a:ln>
        </p:spPr>
      </p:sp>
      <p:sp>
        <p:nvSpPr>
          <p:cNvPr id="22" name="route-workflow-accent">
            <a:extLst xmlns:a="http://schemas.openxmlformats.org/drawingml/2006/main">
              <a:ext uri="{FF2B5EF4-FFF2-40B4-BE49-F238E27FC236}">
                <a16:creationId xmlns:a16="http://schemas.microsoft.com/office/drawing/2014/main" id="{4B781AC6-F00C-4DCB-BC77-2D664A357156}"/>
              </a:ext>
            </a:extLst>
          </p:cNvPr>
          <p:cNvSpPr>
            <a:spLocks xmlns:a="http://schemas.openxmlformats.org/drawingml/2006/main" noGrp="1"/>
          </p:cNvSpPr>
          <p:nvPr/>
        </p:nvSpPr>
        <p:spPr>
          <a:xfrm xmlns:a="http://schemas.openxmlformats.org/drawingml/2006/main">
            <a:off x="6953250" y="4305300"/>
            <a:ext cx="76200" cy="125730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23" name="route-workflow-title">
            <a:extLst xmlns:a="http://schemas.openxmlformats.org/drawingml/2006/main">
              <a:ext uri="{FF2B5EF4-FFF2-40B4-BE49-F238E27FC236}">
                <a16:creationId xmlns:a16="http://schemas.microsoft.com/office/drawing/2014/main" id="{E69EBAE4-64E2-4DC9-996C-6F6321AEC268}"/>
              </a:ext>
            </a:extLst>
          </p:cNvPr>
          <p:cNvSpPr>
            <a:spLocks xmlns:a="http://schemas.openxmlformats.org/drawingml/2006/main" noGrp="1"/>
          </p:cNvSpPr>
          <p:nvPr/>
        </p:nvSpPr>
        <p:spPr>
          <a:xfrm xmlns:a="http://schemas.openxmlformats.org/drawingml/2006/main">
            <a:off x="7162800" y="4438650"/>
            <a:ext cx="37338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5238"/>
          </a:bodyPr>
          <a:lstStyle xmlns:a="http://schemas.openxmlformats.org/drawingml/2006/main"/>
          <a:p xmlns:a="http://schemas.openxmlformats.org/drawingml/2006/main">
            <a:pPr algn="l">
              <a:defRPr sz="2100" b="1">
                <a:solidFill>
                  <a:srgbClr val="000000"/>
                </a:solidFill>
                <a:latin typeface="Helvetica Neue"/>
                <a:ea typeface="Helvetica Neue"/>
                <a:cs typeface="Helvetica Neue"/>
              </a:defRPr>
            </a:pPr>
            <a:r>
              <a:rPr sz="2100" b="1">
                <a:solidFill>
                  <a:srgbClr val="000000"/>
                </a:solidFill>
                <a:latin typeface="Helvetica Neue"/>
                <a:ea typeface="Helvetica Neue"/>
                <a:cs typeface="Helvetica Neue"/>
              </a:rPr>
              <a:t>Yes → plan_work</a:t>
            </a:r>
          </a:p>
        </p:txBody>
      </p:sp>
      <p:sp>
        <p:nvSpPr>
          <p:cNvPr id="24" name="route-workflow-body">
            <a:extLst xmlns:a="http://schemas.openxmlformats.org/drawingml/2006/main">
              <a:ext uri="{FF2B5EF4-FFF2-40B4-BE49-F238E27FC236}">
                <a16:creationId xmlns:a16="http://schemas.microsoft.com/office/drawing/2014/main" id="{1FA94F7F-3BD7-416F-96AB-D731345A20AB}"/>
              </a:ext>
            </a:extLst>
          </p:cNvPr>
          <p:cNvSpPr>
            <a:spLocks xmlns:a="http://schemas.openxmlformats.org/drawingml/2006/main" noGrp="1"/>
          </p:cNvSpPr>
          <p:nvPr/>
        </p:nvSpPr>
        <p:spPr>
          <a:xfrm xmlns:a="http://schemas.openxmlformats.org/drawingml/2006/main">
            <a:off x="7162800" y="4781550"/>
            <a:ext cx="3714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0">
                <a:solidFill>
                  <a:srgbClr val="5E6470"/>
                </a:solidFill>
                <a:latin typeface="Helvetica Neue"/>
                <a:ea typeface="Helvetica Neue"/>
                <a:cs typeface="Helvetica Neue"/>
              </a:defRPr>
            </a:pPr>
            <a:r>
              <a:rPr sz="1425" b="0">
                <a:solidFill>
                  <a:srgbClr val="5E6470"/>
                </a:solidFill>
                <a:latin typeface="Helvetica Neue"/>
                <a:ea typeface="Helvetica Neue"/>
                <a:cs typeface="Helvetica Neue"/>
              </a:rPr>
              <a:t>Load durable checkpoint</a:t>
            </a:r>
          </a:p>
          <a:p xmlns:a="http://schemas.openxmlformats.org/drawingml/2006/main">
            <a:pPr algn="l">
              <a:defRPr sz="1425" b="0">
                <a:solidFill>
                  <a:srgbClr val="5E6470"/>
                </a:solidFill>
                <a:latin typeface="Helvetica Neue"/>
                <a:ea typeface="Helvetica Neue"/>
                <a:cs typeface="Helvetica Neue"/>
              </a:defRPr>
            </a:pPr>
            <a:r>
              <a:rPr sz="1425" b="0">
                <a:solidFill>
                  <a:srgbClr val="5E6470"/>
                </a:solidFill>
                <a:latin typeface="Helvetica Neue"/>
                <a:ea typeface="Helvetica Neue"/>
                <a:cs typeface="Helvetica Neue"/>
              </a:rPr>
              <a:t>Run deterministic or agent stage</a:t>
            </a:r>
          </a:p>
          <a:p xmlns:a="http://schemas.openxmlformats.org/drawingml/2006/main">
            <a:pPr algn="l">
              <a:defRPr sz="1425" b="0">
                <a:solidFill>
                  <a:srgbClr val="5E6470"/>
                </a:solidFill>
                <a:latin typeface="Helvetica Neue"/>
                <a:ea typeface="Helvetica Neue"/>
                <a:cs typeface="Helvetica Neue"/>
              </a:defRPr>
            </a:pPr>
            <a:r>
              <a:rPr sz="1425" b="0">
                <a:solidFill>
                  <a:srgbClr val="5E6470"/>
                </a:solidFill>
                <a:latin typeface="Helvetica Neue"/>
                <a:ea typeface="Helvetica Neue"/>
                <a:cs typeface="Helvetica Neue"/>
              </a:rPr>
              <a:t>Return typed workflow result</a:t>
            </a:r>
          </a:p>
        </p:txBody>
      </p:sp>
    </p:spTree>
    <p:extLst>
      <p:ext uri="{BB962C8B-B14F-4D97-AF65-F5344CB8AC3E}">
        <p14:creationId xmlns:p14="http://schemas.microsoft.com/office/powerpoint/2010/main" val="739530782"/>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eyebrow-5">
            <a:extLst xmlns:a="http://schemas.openxmlformats.org/drawingml/2006/main">
              <a:ext uri="{FF2B5EF4-FFF2-40B4-BE49-F238E27FC236}">
                <a16:creationId xmlns:a16="http://schemas.microsoft.com/office/drawing/2014/main" id="{EB8A2B0F-19BD-4B40-B1B0-54FC4438A5C8}"/>
              </a:ext>
            </a:extLst>
          </p:cNvPr>
          <p:cNvSpPr>
            <a:spLocks xmlns:a="http://schemas.openxmlformats.org/drawingml/2006/main" noGrp="1"/>
          </p:cNvSpPr>
          <p:nvPr/>
        </p:nvSpPr>
        <p:spPr>
          <a:xfrm xmlns:a="http://schemas.openxmlformats.org/drawingml/2006/main">
            <a:off x="495300" y="32385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1">
                <a:solidFill>
                  <a:srgbClr val="5E6470"/>
                </a:solidFill>
                <a:latin typeface="Helvetica Neue"/>
                <a:ea typeface="Helvetica Neue"/>
                <a:cs typeface="Helvetica Neue"/>
              </a:defRPr>
            </a:pPr>
            <a:r>
              <a:rPr sz="1350" b="1">
                <a:solidFill>
                  <a:srgbClr val="5E6470"/>
                </a:solidFill>
                <a:latin typeface="Helvetica Neue"/>
                <a:ea typeface="Helvetica Neue"/>
                <a:cs typeface="Helvetica Neue"/>
              </a:rPr>
              <a:t>HEALTHYFLOW · TALK</a:t>
            </a:r>
          </a:p>
        </p:txBody>
      </p:sp>
      <p:sp>
        <p:nvSpPr>
          <p:cNvPr id="2" name="title-5">
            <a:extLst xmlns:a="http://schemas.openxmlformats.org/drawingml/2006/main">
              <a:ext uri="{FF2B5EF4-FFF2-40B4-BE49-F238E27FC236}">
                <a16:creationId xmlns:a16="http://schemas.microsoft.com/office/drawing/2014/main" id="{13474DD2-C7DA-42EB-8CF4-2A5D1106862D}"/>
              </a:ext>
            </a:extLst>
          </p:cNvPr>
          <p:cNvSpPr>
            <a:spLocks xmlns:a="http://schemas.openxmlformats.org/drawingml/2006/main" noGrp="1"/>
          </p:cNvSpPr>
          <p:nvPr/>
        </p:nvSpPr>
        <p:spPr>
          <a:xfrm xmlns:a="http://schemas.openxmlformats.org/drawingml/2006/main">
            <a:off x="495300" y="72390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600" b="1">
                <a:solidFill>
                  <a:srgbClr val="000000"/>
                </a:solidFill>
                <a:latin typeface="Helvetica Neue"/>
                <a:ea typeface="Helvetica Neue"/>
                <a:cs typeface="Helvetica Neue"/>
              </a:defRPr>
            </a:pPr>
            <a:r>
              <a:rPr sz="3600" b="1">
                <a:solidFill>
                  <a:srgbClr val="000000"/>
                </a:solidFill>
                <a:latin typeface="Helvetica Neue"/>
                <a:ea typeface="Helvetica Neue"/>
                <a:cs typeface="Helvetica Neue"/>
              </a:rPr>
              <a:t>Regular Talk is a four-iteration tool loop</a:t>
            </a:r>
          </a:p>
        </p:txBody>
      </p:sp>
      <p:sp>
        <p:nvSpPr>
          <p:cNvPr id="3" name="page-5">
            <a:extLst xmlns:a="http://schemas.openxmlformats.org/drawingml/2006/main">
              <a:ext uri="{FF2B5EF4-FFF2-40B4-BE49-F238E27FC236}">
                <a16:creationId xmlns:a16="http://schemas.microsoft.com/office/drawing/2014/main" id="{FF193438-FF20-48CA-880D-32C27BFAB368}"/>
              </a:ext>
            </a:extLst>
          </p:cNvPr>
          <p:cNvSpPr>
            <a:spLocks xmlns:a="http://schemas.openxmlformats.org/drawingml/2006/main" noGrp="1"/>
          </p:cNvSpPr>
          <p:nvPr/>
        </p:nvSpPr>
        <p:spPr>
          <a:xfrm xmlns:a="http://schemas.openxmlformats.org/drawingml/2006/main">
            <a:off x="11277600" y="626745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E6470"/>
                </a:solidFill>
                <a:latin typeface="Helvetica Neue"/>
                <a:ea typeface="Helvetica Neue"/>
                <a:cs typeface="Helvetica Neue"/>
              </a:defRPr>
            </a:pPr>
            <a:r>
              <a:rPr sz="1125" b="0">
                <a:solidFill>
                  <a:srgbClr val="5E6470"/>
                </a:solidFill>
                <a:latin typeface="Helvetica Neue"/>
                <a:ea typeface="Helvetica Neue"/>
                <a:cs typeface="Helvetica Neue"/>
              </a:rPr>
              <a:t>05</a:t>
            </a:r>
          </a:p>
        </p:txBody>
      </p:sp>
      <p:cxnSp>
        <p:nvCxnSpPr>
          <p:cNvPr id="28" name="loop-line"/>
          <p:cNvCxnSpPr/>
          <p:nvPr/>
        </p:nvCxnSpPr>
        <p:spPr>
          <a:xfrm xmlns:a="http://schemas.openxmlformats.org/drawingml/2006/main">
            <a:off x="1123950" y="3333750"/>
            <a:ext cx="9886950" cy="0"/>
          </a:xfrm>
          <a:prstGeom xmlns:a="http://schemas.openxmlformats.org/drawingml/2006/main" prst="straightConnector1">
            <a:avLst/>
          </a:prstGeom>
          <a:ln xmlns:a="http://schemas.openxmlformats.org/drawingml/2006/main" w="28575">
            <a:solidFill>
              <a:srgbClr val="B8BCC4"/>
            </a:solidFill>
            <a:prstDash val="solid"/>
          </a:ln>
        </p:spPr>
      </p:cxnSp>
      <p:sp>
        <p:nvSpPr>
          <p:cNvPr id="5" name="loop-dot-0">
            <a:extLst xmlns:a="http://schemas.openxmlformats.org/drawingml/2006/main">
              <a:ext uri="{FF2B5EF4-FFF2-40B4-BE49-F238E27FC236}">
                <a16:creationId xmlns:a16="http://schemas.microsoft.com/office/drawing/2014/main" id="{1B89748D-8037-4ED3-8CF6-EDD3689EACD3}"/>
              </a:ext>
            </a:extLst>
          </p:cNvPr>
          <p:cNvSpPr>
            <a:spLocks xmlns:a="http://schemas.openxmlformats.org/drawingml/2006/main" noGrp="1"/>
          </p:cNvSpPr>
          <p:nvPr/>
        </p:nvSpPr>
        <p:spPr>
          <a:xfrm xmlns:a="http://schemas.openxmlformats.org/drawingml/2006/main">
            <a:off x="1019175" y="3228975"/>
            <a:ext cx="209550" cy="209550"/>
          </a:xfrm>
          <a:prstGeom xmlns:a="http://schemas.openxmlformats.org/drawingml/2006/main" prst="ellipse">
            <a:avLst/>
          </a:prstGeom>
          <a:solidFill xmlns:a="http://schemas.openxmlformats.org/drawingml/2006/main">
            <a:srgbClr val="000000"/>
          </a:solidFill>
          <a:ln xmlns:a="http://schemas.openxmlformats.org/drawingml/2006/main" w="0">
            <a:noFill/>
            <a:prstDash val="solid"/>
          </a:ln>
        </p:spPr>
      </p:sp>
      <p:sp>
        <p:nvSpPr>
          <p:cNvPr id="6" name="loop-num-0">
            <a:extLst xmlns:a="http://schemas.openxmlformats.org/drawingml/2006/main">
              <a:ext uri="{FF2B5EF4-FFF2-40B4-BE49-F238E27FC236}">
                <a16:creationId xmlns:a16="http://schemas.microsoft.com/office/drawing/2014/main" id="{084971FA-423C-4543-A520-6538A2AD8DA5}"/>
              </a:ext>
            </a:extLst>
          </p:cNvPr>
          <p:cNvSpPr>
            <a:spLocks xmlns:a="http://schemas.openxmlformats.org/drawingml/2006/main" noGrp="1"/>
          </p:cNvSpPr>
          <p:nvPr/>
        </p:nvSpPr>
        <p:spPr>
          <a:xfrm xmlns:a="http://schemas.openxmlformats.org/drawingml/2006/main">
            <a:off x="1009650" y="2228850"/>
            <a:ext cx="4572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400" b="1">
                <a:solidFill>
                  <a:srgbClr val="3D8DFF"/>
                </a:solidFill>
                <a:latin typeface="Helvetica Neue"/>
                <a:ea typeface="Helvetica Neue"/>
                <a:cs typeface="Helvetica Neue"/>
              </a:defRPr>
            </a:pPr>
            <a:r>
              <a:rPr sz="2400" b="1">
                <a:solidFill>
                  <a:srgbClr val="3D8DFF"/>
                </a:solidFill>
                <a:latin typeface="Helvetica Neue"/>
                <a:ea typeface="Helvetica Neue"/>
                <a:cs typeface="Helvetica Neue"/>
              </a:rPr>
              <a:t>1</a:t>
            </a:r>
          </a:p>
        </p:txBody>
      </p:sp>
      <p:sp>
        <p:nvSpPr>
          <p:cNvPr id="7" name="loop-title-0">
            <a:extLst xmlns:a="http://schemas.openxmlformats.org/drawingml/2006/main">
              <a:ext uri="{FF2B5EF4-FFF2-40B4-BE49-F238E27FC236}">
                <a16:creationId xmlns:a16="http://schemas.microsoft.com/office/drawing/2014/main" id="{66213121-2B21-4191-87AF-5C97D561E93B}"/>
              </a:ext>
            </a:extLst>
          </p:cNvPr>
          <p:cNvSpPr>
            <a:spLocks xmlns:a="http://schemas.openxmlformats.org/drawingml/2006/main" noGrp="1"/>
          </p:cNvSpPr>
          <p:nvPr/>
        </p:nvSpPr>
        <p:spPr>
          <a:xfrm xmlns:a="http://schemas.openxmlformats.org/drawingml/2006/main">
            <a:off x="1009650" y="3714750"/>
            <a:ext cx="20764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025" b="1">
                <a:solidFill>
                  <a:srgbClr val="000000"/>
                </a:solidFill>
                <a:latin typeface="Helvetica Neue"/>
                <a:ea typeface="Helvetica Neue"/>
                <a:cs typeface="Helvetica Neue"/>
              </a:defRPr>
            </a:pPr>
            <a:r>
              <a:rPr sz="2025" b="1">
                <a:solidFill>
                  <a:srgbClr val="000000"/>
                </a:solidFill>
                <a:latin typeface="Helvetica Neue"/>
                <a:ea typeface="Helvetica Neue"/>
                <a:cs typeface="Helvetica Neue"/>
              </a:rPr>
              <a:t>Build context</a:t>
            </a:r>
          </a:p>
        </p:txBody>
      </p:sp>
      <p:sp>
        <p:nvSpPr>
          <p:cNvPr id="8" name="loop-body-0">
            <a:extLst xmlns:a="http://schemas.openxmlformats.org/drawingml/2006/main">
              <a:ext uri="{FF2B5EF4-FFF2-40B4-BE49-F238E27FC236}">
                <a16:creationId xmlns:a16="http://schemas.microsoft.com/office/drawing/2014/main" id="{29F7CD3A-22C5-4544-9ECD-6D1170968B97}"/>
              </a:ext>
            </a:extLst>
          </p:cNvPr>
          <p:cNvSpPr>
            <a:spLocks xmlns:a="http://schemas.openxmlformats.org/drawingml/2006/main" noGrp="1"/>
          </p:cNvSpPr>
          <p:nvPr/>
        </p:nvSpPr>
        <p:spPr>
          <a:xfrm xmlns:a="http://schemas.openxmlformats.org/drawingml/2006/main">
            <a:off x="1009650" y="4229100"/>
            <a:ext cx="2095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0">
                <a:solidFill>
                  <a:srgbClr val="5E6470"/>
                </a:solidFill>
                <a:latin typeface="Helvetica Neue"/>
                <a:ea typeface="Helvetica Neue"/>
                <a:cs typeface="Helvetica Neue"/>
              </a:defRPr>
            </a:pPr>
            <a:r>
              <a:rPr sz="1425" b="0">
                <a:solidFill>
                  <a:srgbClr val="5E6470"/>
                </a:solidFill>
                <a:latin typeface="Helvetica Neue"/>
                <a:ea typeface="Helvetica Neue"/>
                <a:cs typeface="Helvetica Neue"/>
              </a:rPr>
              <a:t>System prompt</a:t>
            </a:r>
          </a:p>
          <a:p xmlns:a="http://schemas.openxmlformats.org/drawingml/2006/main">
            <a:pPr algn="l">
              <a:defRPr sz="1425" b="0">
                <a:solidFill>
                  <a:srgbClr val="5E6470"/>
                </a:solidFill>
                <a:latin typeface="Helvetica Neue"/>
                <a:ea typeface="Helvetica Neue"/>
                <a:cs typeface="Helvetica Neue"/>
              </a:defRPr>
            </a:pPr>
            <a:r>
              <a:rPr sz="1425" b="0">
                <a:solidFill>
                  <a:srgbClr val="5E6470"/>
                </a:solidFill>
                <a:latin typeface="Helvetica Neue"/>
                <a:ea typeface="Helvetica Neue"/>
                <a:cs typeface="Helvetica Neue"/>
              </a:rPr>
              <a:t>+ local date/time</a:t>
            </a:r>
          </a:p>
        </p:txBody>
      </p:sp>
      <p:sp>
        <p:nvSpPr>
          <p:cNvPr id="9" name="loop-dot-1">
            <a:extLst xmlns:a="http://schemas.openxmlformats.org/drawingml/2006/main">
              <a:ext uri="{FF2B5EF4-FFF2-40B4-BE49-F238E27FC236}">
                <a16:creationId xmlns:a16="http://schemas.microsoft.com/office/drawing/2014/main" id="{542AE043-45F6-4466-9EF8-B147542EC9BB}"/>
              </a:ext>
            </a:extLst>
          </p:cNvPr>
          <p:cNvSpPr>
            <a:spLocks xmlns:a="http://schemas.openxmlformats.org/drawingml/2006/main" noGrp="1"/>
          </p:cNvSpPr>
          <p:nvPr/>
        </p:nvSpPr>
        <p:spPr>
          <a:xfrm xmlns:a="http://schemas.openxmlformats.org/drawingml/2006/main">
            <a:off x="3705225" y="3228975"/>
            <a:ext cx="209550" cy="209550"/>
          </a:xfrm>
          <a:prstGeom xmlns:a="http://schemas.openxmlformats.org/drawingml/2006/main" prst="ellipse">
            <a:avLst/>
          </a:prstGeom>
          <a:solidFill xmlns:a="http://schemas.openxmlformats.org/drawingml/2006/main">
            <a:srgbClr val="3D8DFF"/>
          </a:solidFill>
          <a:ln xmlns:a="http://schemas.openxmlformats.org/drawingml/2006/main" w="0">
            <a:noFill/>
            <a:prstDash val="solid"/>
          </a:ln>
        </p:spPr>
      </p:sp>
      <p:sp>
        <p:nvSpPr>
          <p:cNvPr id="10" name="loop-num-1">
            <a:extLst xmlns:a="http://schemas.openxmlformats.org/drawingml/2006/main">
              <a:ext uri="{FF2B5EF4-FFF2-40B4-BE49-F238E27FC236}">
                <a16:creationId xmlns:a16="http://schemas.microsoft.com/office/drawing/2014/main" id="{092E42B0-287D-411E-9CE1-5143F49E5B16}"/>
              </a:ext>
            </a:extLst>
          </p:cNvPr>
          <p:cNvSpPr>
            <a:spLocks xmlns:a="http://schemas.openxmlformats.org/drawingml/2006/main" noGrp="1"/>
          </p:cNvSpPr>
          <p:nvPr/>
        </p:nvSpPr>
        <p:spPr>
          <a:xfrm xmlns:a="http://schemas.openxmlformats.org/drawingml/2006/main">
            <a:off x="3695700" y="2228850"/>
            <a:ext cx="4572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400" b="1">
                <a:solidFill>
                  <a:srgbClr val="3D8DFF"/>
                </a:solidFill>
                <a:latin typeface="Helvetica Neue"/>
                <a:ea typeface="Helvetica Neue"/>
                <a:cs typeface="Helvetica Neue"/>
              </a:defRPr>
            </a:pPr>
            <a:r>
              <a:rPr sz="2400" b="1">
                <a:solidFill>
                  <a:srgbClr val="3D8DFF"/>
                </a:solidFill>
                <a:latin typeface="Helvetica Neue"/>
                <a:ea typeface="Helvetica Neue"/>
                <a:cs typeface="Helvetica Neue"/>
              </a:rPr>
              <a:t>2</a:t>
            </a:r>
          </a:p>
        </p:txBody>
      </p:sp>
      <p:sp>
        <p:nvSpPr>
          <p:cNvPr id="11" name="loop-title-1">
            <a:extLst xmlns:a="http://schemas.openxmlformats.org/drawingml/2006/main">
              <a:ext uri="{FF2B5EF4-FFF2-40B4-BE49-F238E27FC236}">
                <a16:creationId xmlns:a16="http://schemas.microsoft.com/office/drawing/2014/main" id="{AC9FAE1A-FCCF-4031-89A4-47D756A7A4DC}"/>
              </a:ext>
            </a:extLst>
          </p:cNvPr>
          <p:cNvSpPr>
            <a:spLocks xmlns:a="http://schemas.openxmlformats.org/drawingml/2006/main" noGrp="1"/>
          </p:cNvSpPr>
          <p:nvPr/>
        </p:nvSpPr>
        <p:spPr>
          <a:xfrm xmlns:a="http://schemas.openxmlformats.org/drawingml/2006/main">
            <a:off x="3695700" y="3714750"/>
            <a:ext cx="20764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025" b="1">
                <a:solidFill>
                  <a:srgbClr val="000000"/>
                </a:solidFill>
                <a:latin typeface="Helvetica Neue"/>
                <a:ea typeface="Helvetica Neue"/>
                <a:cs typeface="Helvetica Neue"/>
              </a:defRPr>
            </a:pPr>
            <a:r>
              <a:rPr sz="2025" b="1">
                <a:solidFill>
                  <a:srgbClr val="000000"/>
                </a:solidFill>
                <a:latin typeface="Helvetica Neue"/>
                <a:ea typeface="Helvetica Neue"/>
                <a:cs typeface="Helvetica Neue"/>
              </a:rPr>
              <a:t>Model decides</a:t>
            </a:r>
          </a:p>
        </p:txBody>
      </p:sp>
      <p:sp>
        <p:nvSpPr>
          <p:cNvPr id="12" name="loop-body-1">
            <a:extLst xmlns:a="http://schemas.openxmlformats.org/drawingml/2006/main">
              <a:ext uri="{FF2B5EF4-FFF2-40B4-BE49-F238E27FC236}">
                <a16:creationId xmlns:a16="http://schemas.microsoft.com/office/drawing/2014/main" id="{6BF5274B-4458-4DB8-87B3-F768AD5EDEB3}"/>
              </a:ext>
            </a:extLst>
          </p:cNvPr>
          <p:cNvSpPr>
            <a:spLocks xmlns:a="http://schemas.openxmlformats.org/drawingml/2006/main" noGrp="1"/>
          </p:cNvSpPr>
          <p:nvPr/>
        </p:nvSpPr>
        <p:spPr>
          <a:xfrm xmlns:a="http://schemas.openxmlformats.org/drawingml/2006/main">
            <a:off x="3695700" y="4229100"/>
            <a:ext cx="2095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0">
                <a:solidFill>
                  <a:srgbClr val="5E6470"/>
                </a:solidFill>
                <a:latin typeface="Helvetica Neue"/>
                <a:ea typeface="Helvetica Neue"/>
                <a:cs typeface="Helvetica Neue"/>
              </a:defRPr>
            </a:pPr>
            <a:r>
              <a:rPr sz="1425" b="0">
                <a:solidFill>
                  <a:srgbClr val="5E6470"/>
                </a:solidFill>
                <a:latin typeface="Helvetica Neue"/>
                <a:ea typeface="Helvetica Neue"/>
                <a:cs typeface="Helvetica Neue"/>
              </a:rPr>
              <a:t>Answer directly</a:t>
            </a:r>
          </a:p>
          <a:p xmlns:a="http://schemas.openxmlformats.org/drawingml/2006/main">
            <a:pPr algn="l">
              <a:defRPr sz="1425" b="0">
                <a:solidFill>
                  <a:srgbClr val="5E6470"/>
                </a:solidFill>
                <a:latin typeface="Helvetica Neue"/>
                <a:ea typeface="Helvetica Neue"/>
                <a:cs typeface="Helvetica Neue"/>
              </a:defRPr>
            </a:pPr>
            <a:r>
              <a:rPr sz="1425" b="0">
                <a:solidFill>
                  <a:srgbClr val="5E6470"/>
                </a:solidFill>
                <a:latin typeface="Helvetica Neue"/>
                <a:ea typeface="Helvetica Neue"/>
                <a:cs typeface="Helvetica Neue"/>
              </a:rPr>
              <a:t>or call one tool</a:t>
            </a:r>
          </a:p>
        </p:txBody>
      </p:sp>
      <p:sp>
        <p:nvSpPr>
          <p:cNvPr id="13" name="loop-dot-2">
            <a:extLst xmlns:a="http://schemas.openxmlformats.org/drawingml/2006/main">
              <a:ext uri="{FF2B5EF4-FFF2-40B4-BE49-F238E27FC236}">
                <a16:creationId xmlns:a16="http://schemas.microsoft.com/office/drawing/2014/main" id="{85A10AD0-60CF-4AFA-949F-B12679F69275}"/>
              </a:ext>
            </a:extLst>
          </p:cNvPr>
          <p:cNvSpPr>
            <a:spLocks xmlns:a="http://schemas.openxmlformats.org/drawingml/2006/main" noGrp="1"/>
          </p:cNvSpPr>
          <p:nvPr/>
        </p:nvSpPr>
        <p:spPr>
          <a:xfrm xmlns:a="http://schemas.openxmlformats.org/drawingml/2006/main">
            <a:off x="6391275" y="3228975"/>
            <a:ext cx="209550" cy="209550"/>
          </a:xfrm>
          <a:prstGeom xmlns:a="http://schemas.openxmlformats.org/drawingml/2006/main" prst="ellipse">
            <a:avLst/>
          </a:prstGeom>
          <a:solidFill xmlns:a="http://schemas.openxmlformats.org/drawingml/2006/main">
            <a:srgbClr val="000000"/>
          </a:solidFill>
          <a:ln xmlns:a="http://schemas.openxmlformats.org/drawingml/2006/main" w="0">
            <a:noFill/>
            <a:prstDash val="solid"/>
          </a:ln>
        </p:spPr>
      </p:sp>
      <p:sp>
        <p:nvSpPr>
          <p:cNvPr id="14" name="loop-num-2">
            <a:extLst xmlns:a="http://schemas.openxmlformats.org/drawingml/2006/main">
              <a:ext uri="{FF2B5EF4-FFF2-40B4-BE49-F238E27FC236}">
                <a16:creationId xmlns:a16="http://schemas.microsoft.com/office/drawing/2014/main" id="{556BE630-F3CB-402F-84D5-19B73EED613B}"/>
              </a:ext>
            </a:extLst>
          </p:cNvPr>
          <p:cNvSpPr>
            <a:spLocks xmlns:a="http://schemas.openxmlformats.org/drawingml/2006/main" noGrp="1"/>
          </p:cNvSpPr>
          <p:nvPr/>
        </p:nvSpPr>
        <p:spPr>
          <a:xfrm xmlns:a="http://schemas.openxmlformats.org/drawingml/2006/main">
            <a:off x="6381750" y="2228850"/>
            <a:ext cx="4572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400" b="1">
                <a:solidFill>
                  <a:srgbClr val="3D8DFF"/>
                </a:solidFill>
                <a:latin typeface="Helvetica Neue"/>
                <a:ea typeface="Helvetica Neue"/>
                <a:cs typeface="Helvetica Neue"/>
              </a:defRPr>
            </a:pPr>
            <a:r>
              <a:rPr sz="2400" b="1">
                <a:solidFill>
                  <a:srgbClr val="3D8DFF"/>
                </a:solidFill>
                <a:latin typeface="Helvetica Neue"/>
                <a:ea typeface="Helvetica Neue"/>
                <a:cs typeface="Helvetica Neue"/>
              </a:rPr>
              <a:t>3</a:t>
            </a:r>
          </a:p>
        </p:txBody>
      </p:sp>
      <p:sp>
        <p:nvSpPr>
          <p:cNvPr id="15" name="loop-title-2">
            <a:extLst xmlns:a="http://schemas.openxmlformats.org/drawingml/2006/main">
              <a:ext uri="{FF2B5EF4-FFF2-40B4-BE49-F238E27FC236}">
                <a16:creationId xmlns:a16="http://schemas.microsoft.com/office/drawing/2014/main" id="{7ACCEE9E-6406-4530-9547-1BF81DB8B5E7}"/>
              </a:ext>
            </a:extLst>
          </p:cNvPr>
          <p:cNvSpPr>
            <a:spLocks xmlns:a="http://schemas.openxmlformats.org/drawingml/2006/main" noGrp="1"/>
          </p:cNvSpPr>
          <p:nvPr/>
        </p:nvSpPr>
        <p:spPr>
          <a:xfrm xmlns:a="http://schemas.openxmlformats.org/drawingml/2006/main">
            <a:off x="6381750" y="3714750"/>
            <a:ext cx="20764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025" b="1">
                <a:solidFill>
                  <a:srgbClr val="000000"/>
                </a:solidFill>
                <a:latin typeface="Helvetica Neue"/>
                <a:ea typeface="Helvetica Neue"/>
                <a:cs typeface="Helvetica Neue"/>
              </a:defRPr>
            </a:pPr>
            <a:r>
              <a:rPr sz="2025" b="1">
                <a:solidFill>
                  <a:srgbClr val="000000"/>
                </a:solidFill>
                <a:latin typeface="Helvetica Neue"/>
                <a:ea typeface="Helvetica Neue"/>
                <a:cs typeface="Helvetica Neue"/>
              </a:rPr>
              <a:t>Server executes</a:t>
            </a:r>
          </a:p>
        </p:txBody>
      </p:sp>
      <p:sp>
        <p:nvSpPr>
          <p:cNvPr id="16" name="loop-body-2">
            <a:extLst xmlns:a="http://schemas.openxmlformats.org/drawingml/2006/main">
              <a:ext uri="{FF2B5EF4-FFF2-40B4-BE49-F238E27FC236}">
                <a16:creationId xmlns:a16="http://schemas.microsoft.com/office/drawing/2014/main" id="{2A863DE9-25F4-4A1C-9C76-1978E6F85355}"/>
              </a:ext>
            </a:extLst>
          </p:cNvPr>
          <p:cNvSpPr>
            <a:spLocks xmlns:a="http://schemas.openxmlformats.org/drawingml/2006/main" noGrp="1"/>
          </p:cNvSpPr>
          <p:nvPr/>
        </p:nvSpPr>
        <p:spPr>
          <a:xfrm xmlns:a="http://schemas.openxmlformats.org/drawingml/2006/main">
            <a:off x="6381750" y="4229100"/>
            <a:ext cx="2095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0">
                <a:solidFill>
                  <a:srgbClr val="5E6470"/>
                </a:solidFill>
                <a:latin typeface="Helvetica Neue"/>
                <a:ea typeface="Helvetica Neue"/>
                <a:cs typeface="Helvetica Neue"/>
              </a:defRPr>
            </a:pPr>
            <a:r>
              <a:rPr sz="1425" b="0">
                <a:solidFill>
                  <a:srgbClr val="5E6470"/>
                </a:solidFill>
                <a:latin typeface="Helvetica Neue"/>
                <a:ea typeface="Helvetica Neue"/>
                <a:cs typeface="Helvetica Neue"/>
              </a:rPr>
              <a:t>Zod-backed capability</a:t>
            </a:r>
          </a:p>
          <a:p xmlns:a="http://schemas.openxmlformats.org/drawingml/2006/main">
            <a:pPr algn="l">
              <a:defRPr sz="1425" b="0">
                <a:solidFill>
                  <a:srgbClr val="5E6470"/>
                </a:solidFill>
                <a:latin typeface="Helvetica Neue"/>
                <a:ea typeface="Helvetica Neue"/>
                <a:cs typeface="Helvetica Neue"/>
              </a:defRPr>
            </a:pPr>
            <a:r>
              <a:rPr sz="1425" b="0">
                <a:solidFill>
                  <a:srgbClr val="5E6470"/>
                </a:solidFill>
                <a:latin typeface="Helvetica Neue"/>
                <a:ea typeface="Helvetica Neue"/>
                <a:cs typeface="Helvetica Neue"/>
              </a:rPr>
              <a:t>under authenticated user</a:t>
            </a:r>
          </a:p>
        </p:txBody>
      </p:sp>
      <p:sp>
        <p:nvSpPr>
          <p:cNvPr id="17" name="loop-dot-3">
            <a:extLst xmlns:a="http://schemas.openxmlformats.org/drawingml/2006/main">
              <a:ext uri="{FF2B5EF4-FFF2-40B4-BE49-F238E27FC236}">
                <a16:creationId xmlns:a16="http://schemas.microsoft.com/office/drawing/2014/main" id="{23A80305-3264-4122-9C79-E5FA4C89CEF0}"/>
              </a:ext>
            </a:extLst>
          </p:cNvPr>
          <p:cNvSpPr>
            <a:spLocks xmlns:a="http://schemas.openxmlformats.org/drawingml/2006/main" noGrp="1"/>
          </p:cNvSpPr>
          <p:nvPr/>
        </p:nvSpPr>
        <p:spPr>
          <a:xfrm xmlns:a="http://schemas.openxmlformats.org/drawingml/2006/main">
            <a:off x="9077325" y="3228975"/>
            <a:ext cx="209550" cy="209550"/>
          </a:xfrm>
          <a:prstGeom xmlns:a="http://schemas.openxmlformats.org/drawingml/2006/main" prst="ellipse">
            <a:avLst/>
          </a:prstGeom>
          <a:solidFill xmlns:a="http://schemas.openxmlformats.org/drawingml/2006/main">
            <a:srgbClr val="000000"/>
          </a:solidFill>
          <a:ln xmlns:a="http://schemas.openxmlformats.org/drawingml/2006/main" w="0">
            <a:noFill/>
            <a:prstDash val="solid"/>
          </a:ln>
        </p:spPr>
      </p:sp>
      <p:sp>
        <p:nvSpPr>
          <p:cNvPr id="18" name="loop-num-3">
            <a:extLst xmlns:a="http://schemas.openxmlformats.org/drawingml/2006/main">
              <a:ext uri="{FF2B5EF4-FFF2-40B4-BE49-F238E27FC236}">
                <a16:creationId xmlns:a16="http://schemas.microsoft.com/office/drawing/2014/main" id="{442D1A96-A7FB-4000-AFAC-B35748F3BC30}"/>
              </a:ext>
            </a:extLst>
          </p:cNvPr>
          <p:cNvSpPr>
            <a:spLocks xmlns:a="http://schemas.openxmlformats.org/drawingml/2006/main" noGrp="1"/>
          </p:cNvSpPr>
          <p:nvPr/>
        </p:nvSpPr>
        <p:spPr>
          <a:xfrm xmlns:a="http://schemas.openxmlformats.org/drawingml/2006/main">
            <a:off x="9067800" y="2228850"/>
            <a:ext cx="4572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400" b="1">
                <a:solidFill>
                  <a:srgbClr val="3D8DFF"/>
                </a:solidFill>
                <a:latin typeface="Helvetica Neue"/>
                <a:ea typeface="Helvetica Neue"/>
                <a:cs typeface="Helvetica Neue"/>
              </a:defRPr>
            </a:pPr>
            <a:r>
              <a:rPr sz="2400" b="1">
                <a:solidFill>
                  <a:srgbClr val="3D8DFF"/>
                </a:solidFill>
                <a:latin typeface="Helvetica Neue"/>
                <a:ea typeface="Helvetica Neue"/>
                <a:cs typeface="Helvetica Neue"/>
              </a:rPr>
              <a:t>4</a:t>
            </a:r>
          </a:p>
        </p:txBody>
      </p:sp>
      <p:sp>
        <p:nvSpPr>
          <p:cNvPr id="19" name="loop-title-3">
            <a:extLst xmlns:a="http://schemas.openxmlformats.org/drawingml/2006/main">
              <a:ext uri="{FF2B5EF4-FFF2-40B4-BE49-F238E27FC236}">
                <a16:creationId xmlns:a16="http://schemas.microsoft.com/office/drawing/2014/main" id="{2FE27701-6816-4F43-BD29-8E1E8871915A}"/>
              </a:ext>
            </a:extLst>
          </p:cNvPr>
          <p:cNvSpPr>
            <a:spLocks xmlns:a="http://schemas.openxmlformats.org/drawingml/2006/main" noGrp="1"/>
          </p:cNvSpPr>
          <p:nvPr/>
        </p:nvSpPr>
        <p:spPr>
          <a:xfrm xmlns:a="http://schemas.openxmlformats.org/drawingml/2006/main">
            <a:off x="9067800" y="3714750"/>
            <a:ext cx="20764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025" b="1">
                <a:solidFill>
                  <a:srgbClr val="000000"/>
                </a:solidFill>
                <a:latin typeface="Helvetica Neue"/>
                <a:ea typeface="Helvetica Neue"/>
                <a:cs typeface="Helvetica Neue"/>
              </a:defRPr>
            </a:pPr>
            <a:r>
              <a:rPr sz="2025" b="1">
                <a:solidFill>
                  <a:srgbClr val="000000"/>
                </a:solidFill>
                <a:latin typeface="Helvetica Neue"/>
                <a:ea typeface="Helvetica Neue"/>
                <a:cs typeface="Helvetica Neue"/>
              </a:rPr>
              <a:t>Return result</a:t>
            </a:r>
          </a:p>
        </p:txBody>
      </p:sp>
      <p:sp>
        <p:nvSpPr>
          <p:cNvPr id="20" name="loop-body-3">
            <a:extLst xmlns:a="http://schemas.openxmlformats.org/drawingml/2006/main">
              <a:ext uri="{FF2B5EF4-FFF2-40B4-BE49-F238E27FC236}">
                <a16:creationId xmlns:a16="http://schemas.microsoft.com/office/drawing/2014/main" id="{32F9D2CC-B041-4046-9843-B67A5E1DFAC1}"/>
              </a:ext>
            </a:extLst>
          </p:cNvPr>
          <p:cNvSpPr>
            <a:spLocks xmlns:a="http://schemas.openxmlformats.org/drawingml/2006/main" noGrp="1"/>
          </p:cNvSpPr>
          <p:nvPr/>
        </p:nvSpPr>
        <p:spPr>
          <a:xfrm xmlns:a="http://schemas.openxmlformats.org/drawingml/2006/main">
            <a:off x="9067800" y="4229100"/>
            <a:ext cx="2095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0">
                <a:solidFill>
                  <a:srgbClr val="5E6470"/>
                </a:solidFill>
                <a:latin typeface="Helvetica Neue"/>
                <a:ea typeface="Helvetica Neue"/>
                <a:cs typeface="Helvetica Neue"/>
              </a:defRPr>
            </a:pPr>
            <a:r>
              <a:rPr sz="1425" b="0">
                <a:solidFill>
                  <a:srgbClr val="5E6470"/>
                </a:solidFill>
                <a:latin typeface="Helvetica Neue"/>
                <a:ea typeface="Helvetica Neue"/>
                <a:cs typeface="Helvetica Neue"/>
              </a:rPr>
              <a:t>Append tool output</a:t>
            </a:r>
          </a:p>
          <a:p xmlns:a="http://schemas.openxmlformats.org/drawingml/2006/main">
            <a:pPr algn="l">
              <a:defRPr sz="1425" b="0">
                <a:solidFill>
                  <a:srgbClr val="5E6470"/>
                </a:solidFill>
                <a:latin typeface="Helvetica Neue"/>
                <a:ea typeface="Helvetica Neue"/>
                <a:cs typeface="Helvetica Neue"/>
              </a:defRPr>
            </a:pPr>
            <a:r>
              <a:rPr sz="1425" b="0">
                <a:solidFill>
                  <a:srgbClr val="5E6470"/>
                </a:solidFill>
                <a:latin typeface="Helvetica Neue"/>
                <a:ea typeface="Helvetica Neue"/>
                <a:cs typeface="Helvetica Neue"/>
              </a:rPr>
              <a:t>and ask model again</a:t>
            </a:r>
          </a:p>
        </p:txBody>
      </p:sp>
      <p:sp>
        <p:nvSpPr>
          <p:cNvPr id="21" name="loop-symbol">
            <a:extLst xmlns:a="http://schemas.openxmlformats.org/drawingml/2006/main">
              <a:ext uri="{FF2B5EF4-FFF2-40B4-BE49-F238E27FC236}">
                <a16:creationId xmlns:a16="http://schemas.microsoft.com/office/drawing/2014/main" id="{64E59D90-B653-4444-B150-BE35B4517D05}"/>
              </a:ext>
            </a:extLst>
          </p:cNvPr>
          <p:cNvSpPr>
            <a:spLocks xmlns:a="http://schemas.openxmlformats.org/drawingml/2006/main" noGrp="1"/>
          </p:cNvSpPr>
          <p:nvPr/>
        </p:nvSpPr>
        <p:spPr>
          <a:xfrm xmlns:a="http://schemas.openxmlformats.org/drawingml/2006/main">
            <a:off x="10363200" y="1981200"/>
            <a:ext cx="7239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4650" b="1">
                <a:solidFill>
                  <a:srgbClr val="3D8DFF"/>
                </a:solidFill>
                <a:latin typeface="Helvetica Neue"/>
                <a:ea typeface="Helvetica Neue"/>
                <a:cs typeface="Helvetica Neue"/>
              </a:defRPr>
            </a:pPr>
            <a:r>
              <a:rPr sz="4650" b="1">
                <a:solidFill>
                  <a:srgbClr val="3D8DFF"/>
                </a:solidFill>
                <a:latin typeface="Helvetica Neue"/>
                <a:ea typeface="Helvetica Neue"/>
                <a:cs typeface="Helvetica Neue"/>
              </a:rPr>
              <a:t>↺</a:t>
            </a:r>
          </a:p>
        </p:txBody>
      </p:sp>
      <p:sp>
        <p:nvSpPr>
          <p:cNvPr id="22" name="loop-budget">
            <a:extLst xmlns:a="http://schemas.openxmlformats.org/drawingml/2006/main">
              <a:ext uri="{FF2B5EF4-FFF2-40B4-BE49-F238E27FC236}">
                <a16:creationId xmlns:a16="http://schemas.microsoft.com/office/drawing/2014/main" id="{2C24F896-5603-4F48-A1CC-F936F389F603}"/>
              </a:ext>
            </a:extLst>
          </p:cNvPr>
          <p:cNvSpPr>
            <a:spLocks xmlns:a="http://schemas.openxmlformats.org/drawingml/2006/main" noGrp="1"/>
          </p:cNvSpPr>
          <p:nvPr/>
        </p:nvSpPr>
        <p:spPr>
          <a:xfrm xmlns:a="http://schemas.openxmlformats.org/drawingml/2006/main">
            <a:off x="9982200" y="2724150"/>
            <a:ext cx="14859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650" b="1">
                <a:solidFill>
                  <a:srgbClr val="3D8DFF"/>
                </a:solidFill>
                <a:latin typeface="Helvetica Neue"/>
                <a:ea typeface="Helvetica Neue"/>
                <a:cs typeface="Helvetica Neue"/>
              </a:defRPr>
            </a:pPr>
            <a:r>
              <a:rPr sz="1650" b="1">
                <a:solidFill>
                  <a:srgbClr val="3D8DFF"/>
                </a:solidFill>
                <a:latin typeface="Helvetica Neue"/>
                <a:ea typeface="Helvetica Neue"/>
                <a:cs typeface="Helvetica Neue"/>
              </a:rPr>
              <a:t>up to 4</a:t>
            </a:r>
          </a:p>
        </p:txBody>
      </p:sp>
      <p:sp>
        <p:nvSpPr>
          <p:cNvPr id="23" name="loop-settings-bg">
            <a:extLst xmlns:a="http://schemas.openxmlformats.org/drawingml/2006/main">
              <a:ext uri="{FF2B5EF4-FFF2-40B4-BE49-F238E27FC236}">
                <a16:creationId xmlns:a16="http://schemas.microsoft.com/office/drawing/2014/main" id="{75A66D7B-7E07-4EAA-BC44-C53D615D556A}"/>
              </a:ext>
            </a:extLst>
          </p:cNvPr>
          <p:cNvSpPr>
            <a:spLocks xmlns:a="http://schemas.openxmlformats.org/drawingml/2006/main" noGrp="1"/>
          </p:cNvSpPr>
          <p:nvPr/>
        </p:nvSpPr>
        <p:spPr>
          <a:xfrm xmlns:a="http://schemas.openxmlformats.org/drawingml/2006/main">
            <a:off x="514350" y="5467350"/>
            <a:ext cx="10839450" cy="514350"/>
          </a:xfrm>
          <a:prstGeom xmlns:a="http://schemas.openxmlformats.org/drawingml/2006/main" prst="rect">
            <a:avLst/>
          </a:prstGeom>
          <a:solidFill xmlns:a="http://schemas.openxmlformats.org/drawingml/2006/main">
            <a:srgbClr val="F6F7F8"/>
          </a:solidFill>
          <a:ln xmlns:a="http://schemas.openxmlformats.org/drawingml/2006/main" w="0">
            <a:noFill/>
            <a:prstDash val="solid"/>
          </a:ln>
        </p:spPr>
      </p:sp>
      <p:sp>
        <p:nvSpPr>
          <p:cNvPr id="24" name="loop-settings">
            <a:extLst xmlns:a="http://schemas.openxmlformats.org/drawingml/2006/main">
              <a:ext uri="{FF2B5EF4-FFF2-40B4-BE49-F238E27FC236}">
                <a16:creationId xmlns:a16="http://schemas.microsoft.com/office/drawing/2014/main" id="{FDFAD585-DC31-4DE8-9A11-89497FB0C350}"/>
              </a:ext>
            </a:extLst>
          </p:cNvPr>
          <p:cNvSpPr>
            <a:spLocks xmlns:a="http://schemas.openxmlformats.org/drawingml/2006/main" noGrp="1"/>
          </p:cNvSpPr>
          <p:nvPr/>
        </p:nvSpPr>
        <p:spPr>
          <a:xfrm xmlns:a="http://schemas.openxmlformats.org/drawingml/2006/main">
            <a:off x="762000" y="5610225"/>
            <a:ext cx="10344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000000"/>
                </a:solidFill>
                <a:latin typeface="Helvetica Neue"/>
                <a:ea typeface="Helvetica Neue"/>
                <a:cs typeface="Helvetica Neue"/>
              </a:defRPr>
            </a:pPr>
            <a:r>
              <a:rPr sz="1650" b="1">
                <a:solidFill>
                  <a:srgbClr val="000000"/>
                </a:solidFill>
                <a:latin typeface="Helvetica Neue"/>
                <a:ea typeface="Helvetica Neue"/>
                <a:cs typeface="Helvetica Neue"/>
              </a:rPr>
              <a:t>Selected model · temperature 0.2 when supported · bounded output · tool events returned to the UI</a:t>
            </a:r>
          </a:p>
        </p:txBody>
      </p:sp>
    </p:spTree>
    <p:extLst>
      <p:ext uri="{BB962C8B-B14F-4D97-AF65-F5344CB8AC3E}">
        <p14:creationId xmlns:p14="http://schemas.microsoft.com/office/powerpoint/2010/main" val="254076048"/>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eyebrow-6">
            <a:extLst xmlns:a="http://schemas.openxmlformats.org/drawingml/2006/main">
              <a:ext uri="{FF2B5EF4-FFF2-40B4-BE49-F238E27FC236}">
                <a16:creationId xmlns:a16="http://schemas.microsoft.com/office/drawing/2014/main" id="{FE6F7E43-C4C2-4517-A2EF-12BACA531636}"/>
              </a:ext>
            </a:extLst>
          </p:cNvPr>
          <p:cNvSpPr>
            <a:spLocks xmlns:a="http://schemas.openxmlformats.org/drawingml/2006/main" noGrp="1"/>
          </p:cNvSpPr>
          <p:nvPr/>
        </p:nvSpPr>
        <p:spPr>
          <a:xfrm xmlns:a="http://schemas.openxmlformats.org/drawingml/2006/main">
            <a:off x="495300" y="32385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1">
                <a:solidFill>
                  <a:srgbClr val="5E6470"/>
                </a:solidFill>
                <a:latin typeface="Helvetica Neue"/>
                <a:ea typeface="Helvetica Neue"/>
                <a:cs typeface="Helvetica Neue"/>
              </a:defRPr>
            </a:pPr>
            <a:r>
              <a:rPr sz="1350" b="1">
                <a:solidFill>
                  <a:srgbClr val="5E6470"/>
                </a:solidFill>
                <a:latin typeface="Helvetica Neue"/>
                <a:ea typeface="Helvetica Neue"/>
                <a:cs typeface="Helvetica Neue"/>
              </a:rPr>
              <a:t>HEALTHYFLOW · TALK</a:t>
            </a:r>
          </a:p>
        </p:txBody>
      </p:sp>
      <p:sp>
        <p:nvSpPr>
          <p:cNvPr id="2" name="title-6">
            <a:extLst xmlns:a="http://schemas.openxmlformats.org/drawingml/2006/main">
              <a:ext uri="{FF2B5EF4-FFF2-40B4-BE49-F238E27FC236}">
                <a16:creationId xmlns:a16="http://schemas.microsoft.com/office/drawing/2014/main" id="{17665F69-A485-4F47-81AF-71E97B7AD753}"/>
              </a:ext>
            </a:extLst>
          </p:cNvPr>
          <p:cNvSpPr>
            <a:spLocks xmlns:a="http://schemas.openxmlformats.org/drawingml/2006/main" noGrp="1"/>
          </p:cNvSpPr>
          <p:nvPr/>
        </p:nvSpPr>
        <p:spPr>
          <a:xfrm xmlns:a="http://schemas.openxmlformats.org/drawingml/2006/main">
            <a:off x="495300" y="72390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250" b="1">
                <a:solidFill>
                  <a:srgbClr val="000000"/>
                </a:solidFill>
                <a:latin typeface="Helvetica Neue"/>
                <a:ea typeface="Helvetica Neue"/>
                <a:cs typeface="Helvetica Neue"/>
              </a:defRPr>
            </a:pPr>
            <a:r>
              <a:rPr sz="2250" b="1">
                <a:solidFill>
                  <a:srgbClr val="000000"/>
                </a:solidFill>
                <a:latin typeface="Helvetica Neue"/>
                <a:ea typeface="Helvetica Neue"/>
                <a:cs typeface="Helvetica Neue"/>
              </a:rPr>
              <a:t>The regular tool surface is broad—but curated</a:t>
            </a:r>
          </a:p>
        </p:txBody>
      </p:sp>
      <p:sp>
        <p:nvSpPr>
          <p:cNvPr id="3" name="page-6">
            <a:extLst xmlns:a="http://schemas.openxmlformats.org/drawingml/2006/main">
              <a:ext uri="{FF2B5EF4-FFF2-40B4-BE49-F238E27FC236}">
                <a16:creationId xmlns:a16="http://schemas.microsoft.com/office/drawing/2014/main" id="{016B6B11-AB9E-4C0D-94AF-054810FE2545}"/>
              </a:ext>
            </a:extLst>
          </p:cNvPr>
          <p:cNvSpPr>
            <a:spLocks xmlns:a="http://schemas.openxmlformats.org/drawingml/2006/main" noGrp="1"/>
          </p:cNvSpPr>
          <p:nvPr/>
        </p:nvSpPr>
        <p:spPr>
          <a:xfrm xmlns:a="http://schemas.openxmlformats.org/drawingml/2006/main">
            <a:off x="11277600" y="626745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E6470"/>
                </a:solidFill>
                <a:latin typeface="Helvetica Neue"/>
                <a:ea typeface="Helvetica Neue"/>
                <a:cs typeface="Helvetica Neue"/>
              </a:defRPr>
            </a:pPr>
            <a:r>
              <a:rPr sz="1125" b="0">
                <a:solidFill>
                  <a:srgbClr val="5E6470"/>
                </a:solidFill>
                <a:latin typeface="Helvetica Neue"/>
                <a:ea typeface="Helvetica Neue"/>
                <a:cs typeface="Helvetica Neue"/>
              </a:rPr>
              <a:t>06</a:t>
            </a:r>
          </a:p>
        </p:txBody>
      </p:sp>
      <p:cxnSp>
        <p:nvCxnSpPr>
          <p:cNvPr id="20" name="tools-v1"/>
          <p:cNvCxnSpPr/>
          <p:nvPr/>
        </p:nvCxnSpPr>
        <p:spPr>
          <a:xfrm xmlns:a="http://schemas.openxmlformats.org/drawingml/2006/main">
            <a:off x="4076700" y="1847850"/>
            <a:ext cx="0" cy="3714750"/>
          </a:xfrm>
          <a:prstGeom xmlns:a="http://schemas.openxmlformats.org/drawingml/2006/main" prst="straightConnector1">
            <a:avLst/>
          </a:prstGeom>
          <a:ln xmlns:a="http://schemas.openxmlformats.org/drawingml/2006/main" w="19050">
            <a:solidFill>
              <a:srgbClr val="B8BCC4"/>
            </a:solidFill>
            <a:prstDash val="solid"/>
          </a:ln>
        </p:spPr>
      </p:cxnSp>
      <p:cxnSp>
        <p:nvCxnSpPr>
          <p:cNvPr id="21" name="tools-v2"/>
          <p:cNvCxnSpPr/>
          <p:nvPr/>
        </p:nvCxnSpPr>
        <p:spPr>
          <a:xfrm xmlns:a="http://schemas.openxmlformats.org/drawingml/2006/main">
            <a:off x="8020050" y="1847850"/>
            <a:ext cx="0" cy="3714750"/>
          </a:xfrm>
          <a:prstGeom xmlns:a="http://schemas.openxmlformats.org/drawingml/2006/main" prst="straightConnector1">
            <a:avLst/>
          </a:prstGeom>
          <a:ln xmlns:a="http://schemas.openxmlformats.org/drawingml/2006/main" w="19050">
            <a:solidFill>
              <a:srgbClr val="B8BCC4"/>
            </a:solidFill>
            <a:prstDash val="solid"/>
          </a:ln>
        </p:spPr>
      </p:cxnSp>
      <p:sp>
        <p:nvSpPr>
          <p:cNvPr id="6" name="tools-read-h">
            <a:extLst xmlns:a="http://schemas.openxmlformats.org/drawingml/2006/main">
              <a:ext uri="{FF2B5EF4-FFF2-40B4-BE49-F238E27FC236}">
                <a16:creationId xmlns:a16="http://schemas.microsoft.com/office/drawing/2014/main" id="{8E4F5C38-CDBE-429E-A753-B801AA57F24C}"/>
              </a:ext>
            </a:extLst>
          </p:cNvPr>
          <p:cNvSpPr>
            <a:spLocks xmlns:a="http://schemas.openxmlformats.org/drawingml/2006/main" noGrp="1"/>
          </p:cNvSpPr>
          <p:nvPr/>
        </p:nvSpPr>
        <p:spPr>
          <a:xfrm xmlns:a="http://schemas.openxmlformats.org/drawingml/2006/main">
            <a:off x="514350" y="1943100"/>
            <a:ext cx="3048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1">
                <a:solidFill>
                  <a:srgbClr val="3D8DFF"/>
                </a:solidFill>
                <a:latin typeface="Helvetica Neue"/>
                <a:ea typeface="Helvetica Neue"/>
                <a:cs typeface="Helvetica Neue"/>
              </a:defRPr>
            </a:pPr>
            <a:r>
              <a:rPr sz="1800" b="1">
                <a:solidFill>
                  <a:srgbClr val="3D8DFF"/>
                </a:solidFill>
                <a:latin typeface="Helvetica Neue"/>
                <a:ea typeface="Helvetica Neue"/>
                <a:cs typeface="Helvetica Neue"/>
              </a:rPr>
              <a:t>READ</a:t>
            </a:r>
          </a:p>
        </p:txBody>
      </p:sp>
      <p:sp>
        <p:nvSpPr>
          <p:cNvPr id="7" name="tools-read-title">
            <a:extLst xmlns:a="http://schemas.openxmlformats.org/drawingml/2006/main">
              <a:ext uri="{FF2B5EF4-FFF2-40B4-BE49-F238E27FC236}">
                <a16:creationId xmlns:a16="http://schemas.microsoft.com/office/drawing/2014/main" id="{726B6397-99DB-49E6-9B00-52A290E7D262}"/>
              </a:ext>
            </a:extLst>
          </p:cNvPr>
          <p:cNvSpPr>
            <a:spLocks xmlns:a="http://schemas.openxmlformats.org/drawingml/2006/main" noGrp="1"/>
          </p:cNvSpPr>
          <p:nvPr/>
        </p:nvSpPr>
        <p:spPr>
          <a:xfrm xmlns:a="http://schemas.openxmlformats.org/drawingml/2006/main">
            <a:off x="514350" y="2419350"/>
            <a:ext cx="3048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400" b="1">
                <a:solidFill>
                  <a:srgbClr val="000000"/>
                </a:solidFill>
                <a:latin typeface="Helvetica Neue"/>
                <a:ea typeface="Helvetica Neue"/>
                <a:cs typeface="Helvetica Neue"/>
              </a:defRPr>
            </a:pPr>
            <a:r>
              <a:rPr sz="2400" b="1">
                <a:solidFill>
                  <a:srgbClr val="000000"/>
                </a:solidFill>
                <a:latin typeface="Helvetica Neue"/>
                <a:ea typeface="Helvetica Neue"/>
                <a:cs typeface="Helvetica Neue"/>
              </a:rPr>
              <a:t>What exists</a:t>
            </a:r>
          </a:p>
        </p:txBody>
      </p:sp>
      <p:sp>
        <p:nvSpPr>
          <p:cNvPr id="8" name="tools-read-body">
            <a:extLst xmlns:a="http://schemas.openxmlformats.org/drawingml/2006/main">
              <a:ext uri="{FF2B5EF4-FFF2-40B4-BE49-F238E27FC236}">
                <a16:creationId xmlns:a16="http://schemas.microsoft.com/office/drawing/2014/main" id="{2766AB94-2101-4F0F-A9E6-14611A7E7588}"/>
              </a:ext>
            </a:extLst>
          </p:cNvPr>
          <p:cNvSpPr>
            <a:spLocks xmlns:a="http://schemas.openxmlformats.org/drawingml/2006/main" noGrp="1"/>
          </p:cNvSpPr>
          <p:nvPr/>
        </p:nvSpPr>
        <p:spPr>
          <a:xfrm xmlns:a="http://schemas.openxmlformats.org/drawingml/2006/main">
            <a:off x="514350" y="3067050"/>
            <a:ext cx="3143250" cy="2190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0">
                <a:solidFill>
                  <a:srgbClr val="5E6470"/>
                </a:solidFill>
                <a:latin typeface="Helvetica Neue"/>
                <a:ea typeface="Helvetica Neue"/>
                <a:cs typeface="Helvetica Neue"/>
              </a:defRPr>
            </a:pPr>
            <a:r>
              <a:rPr sz="1575" b="0">
                <a:solidFill>
                  <a:srgbClr val="5E6470"/>
                </a:solidFill>
                <a:latin typeface="Helvetica Neue"/>
                <a:ea typeface="Helvetica Neue"/>
                <a:cs typeface="Helvetica Neue"/>
              </a:rPr>
              <a:t>• get_today and list_tasks</a:t>
            </a:r>
          </a:p>
          <a:p xmlns:a="http://schemas.openxmlformats.org/drawingml/2006/main">
            <a:pPr algn="l">
              <a:defRPr sz="1575" b="0">
                <a:solidFill>
                  <a:srgbClr val="5E6470"/>
                </a:solidFill>
                <a:latin typeface="Helvetica Neue"/>
                <a:ea typeface="Helvetica Neue"/>
                <a:cs typeface="Helvetica Neue"/>
              </a:defRPr>
            </a:pPr>
            <a:r>
              <a:rPr sz="1575" b="0">
                <a:solidFill>
                  <a:srgbClr val="5E6470"/>
                </a:solidFill>
                <a:latin typeface="Helvetica Neue"/>
                <a:ea typeface="Helvetica Neue"/>
                <a:cs typeface="Helvetica Neue"/>
              </a:rPr>
              <a:t>• Calorie entries</a:t>
            </a:r>
          </a:p>
          <a:p xmlns:a="http://schemas.openxmlformats.org/drawingml/2006/main">
            <a:pPr algn="l">
              <a:defRPr sz="1575" b="0">
                <a:solidFill>
                  <a:srgbClr val="5E6470"/>
                </a:solidFill>
                <a:latin typeface="Helvetica Neue"/>
                <a:ea typeface="Helvetica Neue"/>
                <a:cs typeface="Helvetica Neue"/>
              </a:defRPr>
            </a:pPr>
            <a:r>
              <a:rPr sz="1575" b="0">
                <a:solidFill>
                  <a:srgbClr val="5E6470"/>
                </a:solidFill>
                <a:latin typeface="Helvetica Neue"/>
                <a:ea typeface="Helvetica Neue"/>
                <a:cs typeface="Helvetica Neue"/>
              </a:rPr>
              <a:t>• Weight summary</a:t>
            </a:r>
          </a:p>
          <a:p xmlns:a="http://schemas.openxmlformats.org/drawingml/2006/main">
            <a:pPr algn="l">
              <a:defRPr sz="1575" b="0">
                <a:solidFill>
                  <a:srgbClr val="5E6470"/>
                </a:solidFill>
                <a:latin typeface="Helvetica Neue"/>
                <a:ea typeface="Helvetica Neue"/>
                <a:cs typeface="Helvetica Neue"/>
              </a:defRPr>
            </a:pPr>
            <a:r>
              <a:rPr sz="1575" b="0">
                <a:solidFill>
                  <a:srgbClr val="5E6470"/>
                </a:solidFill>
                <a:latin typeface="Helvetica Neue"/>
                <a:ea typeface="Helvetica Neue"/>
                <a:cs typeface="Helvetica Neue"/>
              </a:rPr>
              <a:t>• Progress</a:t>
            </a:r>
          </a:p>
          <a:p xmlns:a="http://schemas.openxmlformats.org/drawingml/2006/main">
            <a:pPr algn="l">
              <a:defRPr sz="1575" b="0">
                <a:solidFill>
                  <a:srgbClr val="5E6470"/>
                </a:solidFill>
                <a:latin typeface="Helvetica Neue"/>
                <a:ea typeface="Helvetica Neue"/>
                <a:cs typeface="Helvetica Neue"/>
              </a:defRPr>
            </a:pPr>
            <a:r>
              <a:rPr sz="1575" b="0">
                <a:solidFill>
                  <a:srgbClr val="5E6470"/>
                </a:solidFill>
                <a:latin typeface="Helvetica Neue"/>
                <a:ea typeface="Helvetica Neue"/>
                <a:cs typeface="Helvetica Neue"/>
              </a:rPr>
              <a:t>• Workout sessions</a:t>
            </a:r>
          </a:p>
        </p:txBody>
      </p:sp>
      <p:sp>
        <p:nvSpPr>
          <p:cNvPr id="9" name="tools-ground-h">
            <a:extLst xmlns:a="http://schemas.openxmlformats.org/drawingml/2006/main">
              <a:ext uri="{FF2B5EF4-FFF2-40B4-BE49-F238E27FC236}">
                <a16:creationId xmlns:a16="http://schemas.microsoft.com/office/drawing/2014/main" id="{2817C48E-5CF1-4C6B-8A53-4E719B49BDB2}"/>
              </a:ext>
            </a:extLst>
          </p:cNvPr>
          <p:cNvSpPr>
            <a:spLocks xmlns:a="http://schemas.openxmlformats.org/drawingml/2006/main" noGrp="1"/>
          </p:cNvSpPr>
          <p:nvPr/>
        </p:nvSpPr>
        <p:spPr>
          <a:xfrm xmlns:a="http://schemas.openxmlformats.org/drawingml/2006/main">
            <a:off x="4476750" y="1943100"/>
            <a:ext cx="3048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1">
                <a:solidFill>
                  <a:srgbClr val="3D8DFF"/>
                </a:solidFill>
                <a:latin typeface="Helvetica Neue"/>
                <a:ea typeface="Helvetica Neue"/>
                <a:cs typeface="Helvetica Neue"/>
              </a:defRPr>
            </a:pPr>
            <a:r>
              <a:rPr sz="1800" b="1">
                <a:solidFill>
                  <a:srgbClr val="3D8DFF"/>
                </a:solidFill>
                <a:latin typeface="Helvetica Neue"/>
                <a:ea typeface="Helvetica Neue"/>
                <a:cs typeface="Helvetica Neue"/>
              </a:rPr>
              <a:t>GROUND</a:t>
            </a:r>
          </a:p>
        </p:txBody>
      </p:sp>
      <p:sp>
        <p:nvSpPr>
          <p:cNvPr id="10" name="tools-ground-title">
            <a:extLst xmlns:a="http://schemas.openxmlformats.org/drawingml/2006/main">
              <a:ext uri="{FF2B5EF4-FFF2-40B4-BE49-F238E27FC236}">
                <a16:creationId xmlns:a16="http://schemas.microsoft.com/office/drawing/2014/main" id="{B0DDB243-5EF7-4470-AF4C-DBD7A0DCD822}"/>
              </a:ext>
            </a:extLst>
          </p:cNvPr>
          <p:cNvSpPr>
            <a:spLocks xmlns:a="http://schemas.openxmlformats.org/drawingml/2006/main" noGrp="1"/>
          </p:cNvSpPr>
          <p:nvPr/>
        </p:nvSpPr>
        <p:spPr>
          <a:xfrm xmlns:a="http://schemas.openxmlformats.org/drawingml/2006/main">
            <a:off x="4476750" y="2419350"/>
            <a:ext cx="3143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400" b="1">
                <a:solidFill>
                  <a:srgbClr val="000000"/>
                </a:solidFill>
                <a:latin typeface="Helvetica Neue"/>
                <a:ea typeface="Helvetica Neue"/>
                <a:cs typeface="Helvetica Neue"/>
              </a:defRPr>
            </a:pPr>
            <a:r>
              <a:rPr sz="2400" b="1">
                <a:solidFill>
                  <a:srgbClr val="000000"/>
                </a:solidFill>
                <a:latin typeface="Helvetica Neue"/>
                <a:ea typeface="Helvetica Neue"/>
                <a:cs typeface="Helvetica Neue"/>
              </a:rPr>
              <a:t>What numbers mean</a:t>
            </a:r>
          </a:p>
        </p:txBody>
      </p:sp>
      <p:sp>
        <p:nvSpPr>
          <p:cNvPr id="11" name="tools-ground-body">
            <a:extLst xmlns:a="http://schemas.openxmlformats.org/drawingml/2006/main">
              <a:ext uri="{FF2B5EF4-FFF2-40B4-BE49-F238E27FC236}">
                <a16:creationId xmlns:a16="http://schemas.microsoft.com/office/drawing/2014/main" id="{18F52ED4-7DD5-443F-8674-1B72A15B4FC8}"/>
              </a:ext>
            </a:extLst>
          </p:cNvPr>
          <p:cNvSpPr>
            <a:spLocks xmlns:a="http://schemas.openxmlformats.org/drawingml/2006/main" noGrp="1"/>
          </p:cNvSpPr>
          <p:nvPr/>
        </p:nvSpPr>
        <p:spPr>
          <a:xfrm xmlns:a="http://schemas.openxmlformats.org/drawingml/2006/main">
            <a:off x="4476750" y="3067050"/>
            <a:ext cx="3143250" cy="2190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0">
                <a:solidFill>
                  <a:srgbClr val="5E6470"/>
                </a:solidFill>
                <a:latin typeface="Helvetica Neue"/>
                <a:ea typeface="Helvetica Neue"/>
                <a:cs typeface="Helvetica Neue"/>
              </a:defRPr>
            </a:pPr>
            <a:r>
              <a:rPr sz="1575" b="0">
                <a:solidFill>
                  <a:srgbClr val="5E6470"/>
                </a:solidFill>
                <a:latin typeface="Helvetica Neue"/>
                <a:ea typeface="Helvetica Neue"/>
                <a:cs typeface="Helvetica Neue"/>
              </a:rPr>
              <a:t>• Search food history</a:t>
            </a:r>
          </a:p>
          <a:p xmlns:a="http://schemas.openxmlformats.org/drawingml/2006/main">
            <a:pPr algn="l">
              <a:defRPr sz="1575" b="0">
                <a:solidFill>
                  <a:srgbClr val="5E6470"/>
                </a:solidFill>
                <a:latin typeface="Helvetica Neue"/>
                <a:ea typeface="Helvetica Neue"/>
                <a:cs typeface="Helvetica Neue"/>
              </a:defRPr>
            </a:pPr>
            <a:r>
              <a:rPr sz="1575" b="0">
                <a:solidFill>
                  <a:srgbClr val="5E6470"/>
                </a:solidFill>
                <a:latin typeface="Helvetica Neue"/>
                <a:ea typeface="Helvetica Neue"/>
                <a:cs typeface="Helvetica Neue"/>
              </a:rPr>
              <a:t>• Structured nutrition lookup</a:t>
            </a:r>
          </a:p>
          <a:p xmlns:a="http://schemas.openxmlformats.org/drawingml/2006/main">
            <a:pPr algn="l">
              <a:defRPr sz="1575" b="0">
                <a:solidFill>
                  <a:srgbClr val="5E6470"/>
                </a:solidFill>
                <a:latin typeface="Helvetica Neue"/>
                <a:ea typeface="Helvetica Neue"/>
                <a:cs typeface="Helvetica Neue"/>
              </a:defRPr>
            </a:pPr>
            <a:r>
              <a:rPr sz="1575" b="0">
                <a:solidFill>
                  <a:srgbClr val="5E6470"/>
                </a:solidFill>
                <a:latin typeface="Helvetica Neue"/>
                <a:ea typeface="Helvetica Neue"/>
                <a:cs typeface="Helvetica Neue"/>
              </a:rPr>
              <a:t>• Parse composite meals</a:t>
            </a:r>
          </a:p>
          <a:p xmlns:a="http://schemas.openxmlformats.org/drawingml/2006/main">
            <a:pPr algn="l">
              <a:defRPr sz="1575" b="0">
                <a:solidFill>
                  <a:srgbClr val="5E6470"/>
                </a:solidFill>
                <a:latin typeface="Helvetica Neue"/>
                <a:ea typeface="Helvetica Neue"/>
                <a:cs typeface="Helvetica Neue"/>
              </a:defRPr>
            </a:pPr>
            <a:r>
              <a:rPr sz="1575" b="0">
                <a:solidFill>
                  <a:srgbClr val="5E6470"/>
                </a:solidFill>
                <a:latin typeface="Helvetica Neue"/>
                <a:ea typeface="Helvetica Neue"/>
                <a:cs typeface="Helvetica Neue"/>
              </a:rPr>
              <a:t>• Use current image only</a:t>
            </a:r>
          </a:p>
        </p:txBody>
      </p:sp>
      <p:sp>
        <p:nvSpPr>
          <p:cNvPr id="12" name="tools-write-h">
            <a:extLst xmlns:a="http://schemas.openxmlformats.org/drawingml/2006/main">
              <a:ext uri="{FF2B5EF4-FFF2-40B4-BE49-F238E27FC236}">
                <a16:creationId xmlns:a16="http://schemas.microsoft.com/office/drawing/2014/main" id="{613E424D-C1F7-47A6-A7AD-B46C3295EB4B}"/>
              </a:ext>
            </a:extLst>
          </p:cNvPr>
          <p:cNvSpPr>
            <a:spLocks xmlns:a="http://schemas.openxmlformats.org/drawingml/2006/main" noGrp="1"/>
          </p:cNvSpPr>
          <p:nvPr/>
        </p:nvSpPr>
        <p:spPr>
          <a:xfrm xmlns:a="http://schemas.openxmlformats.org/drawingml/2006/main">
            <a:off x="8420100" y="1943100"/>
            <a:ext cx="3048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1">
                <a:solidFill>
                  <a:srgbClr val="3D8DFF"/>
                </a:solidFill>
                <a:latin typeface="Helvetica Neue"/>
                <a:ea typeface="Helvetica Neue"/>
                <a:cs typeface="Helvetica Neue"/>
              </a:defRPr>
            </a:pPr>
            <a:r>
              <a:rPr sz="1800" b="1">
                <a:solidFill>
                  <a:srgbClr val="3D8DFF"/>
                </a:solidFill>
                <a:latin typeface="Helvetica Neue"/>
                <a:ea typeface="Helvetica Neue"/>
                <a:cs typeface="Helvetica Neue"/>
              </a:rPr>
              <a:t>PREVIEW WRITES</a:t>
            </a:r>
          </a:p>
        </p:txBody>
      </p:sp>
      <p:sp>
        <p:nvSpPr>
          <p:cNvPr id="13" name="tools-write-title">
            <a:extLst xmlns:a="http://schemas.openxmlformats.org/drawingml/2006/main">
              <a:ext uri="{FF2B5EF4-FFF2-40B4-BE49-F238E27FC236}">
                <a16:creationId xmlns:a16="http://schemas.microsoft.com/office/drawing/2014/main" id="{185DA938-FEEC-4C57-8597-0BD9389F978F}"/>
              </a:ext>
            </a:extLst>
          </p:cNvPr>
          <p:cNvSpPr>
            <a:spLocks xmlns:a="http://schemas.openxmlformats.org/drawingml/2006/main" noGrp="1"/>
          </p:cNvSpPr>
          <p:nvPr/>
        </p:nvSpPr>
        <p:spPr>
          <a:xfrm xmlns:a="http://schemas.openxmlformats.org/drawingml/2006/main">
            <a:off x="8420100" y="2419350"/>
            <a:ext cx="3143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400" b="1">
                <a:solidFill>
                  <a:srgbClr val="000000"/>
                </a:solidFill>
                <a:latin typeface="Helvetica Neue"/>
                <a:ea typeface="Helvetica Neue"/>
                <a:cs typeface="Helvetica Neue"/>
              </a:defRPr>
            </a:pPr>
            <a:r>
              <a:rPr sz="2400" b="1">
                <a:solidFill>
                  <a:srgbClr val="000000"/>
                </a:solidFill>
                <a:latin typeface="Helvetica Neue"/>
                <a:ea typeface="Helvetica Neue"/>
                <a:cs typeface="Helvetica Neue"/>
              </a:rPr>
              <a:t>What may change</a:t>
            </a:r>
          </a:p>
        </p:txBody>
      </p:sp>
      <p:sp>
        <p:nvSpPr>
          <p:cNvPr id="14" name="tools-write-body">
            <a:extLst xmlns:a="http://schemas.openxmlformats.org/drawingml/2006/main">
              <a:ext uri="{FF2B5EF4-FFF2-40B4-BE49-F238E27FC236}">
                <a16:creationId xmlns:a16="http://schemas.microsoft.com/office/drawing/2014/main" id="{7B0D885A-C46A-4616-98F0-C1C2019EF088}"/>
              </a:ext>
            </a:extLst>
          </p:cNvPr>
          <p:cNvSpPr>
            <a:spLocks xmlns:a="http://schemas.openxmlformats.org/drawingml/2006/main" noGrp="1"/>
          </p:cNvSpPr>
          <p:nvPr/>
        </p:nvSpPr>
        <p:spPr>
          <a:xfrm xmlns:a="http://schemas.openxmlformats.org/drawingml/2006/main">
            <a:off x="8420100" y="3067050"/>
            <a:ext cx="3143250" cy="2190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0">
                <a:solidFill>
                  <a:srgbClr val="5E6470"/>
                </a:solidFill>
                <a:latin typeface="Helvetica Neue"/>
                <a:ea typeface="Helvetica Neue"/>
                <a:cs typeface="Helvetica Neue"/>
              </a:defRPr>
            </a:pPr>
            <a:r>
              <a:rPr sz="1575" b="0">
                <a:solidFill>
                  <a:srgbClr val="5E6470"/>
                </a:solidFill>
                <a:latin typeface="Helvetica Neue"/>
                <a:ea typeface="Helvetica Neue"/>
                <a:cs typeface="Helvetica Neue"/>
              </a:rPr>
              <a:t>• Add Task or Habit</a:t>
            </a:r>
          </a:p>
          <a:p xmlns:a="http://schemas.openxmlformats.org/drawingml/2006/main">
            <a:pPr algn="l">
              <a:defRPr sz="1575" b="0">
                <a:solidFill>
                  <a:srgbClr val="5E6470"/>
                </a:solidFill>
                <a:latin typeface="Helvetica Neue"/>
                <a:ea typeface="Helvetica Neue"/>
                <a:cs typeface="Helvetica Neue"/>
              </a:defRPr>
            </a:pPr>
            <a:r>
              <a:rPr sz="1575" b="0">
                <a:solidFill>
                  <a:srgbClr val="5E6470"/>
                </a:solidFill>
                <a:latin typeface="Helvetica Neue"/>
                <a:ea typeface="Helvetica Neue"/>
                <a:cs typeface="Helvetica Neue"/>
              </a:rPr>
              <a:t>• Log food, weight, Progress, training</a:t>
            </a:r>
          </a:p>
          <a:p xmlns:a="http://schemas.openxmlformats.org/drawingml/2006/main">
            <a:pPr algn="l">
              <a:defRPr sz="1575" b="0">
                <a:solidFill>
                  <a:srgbClr val="5E6470"/>
                </a:solidFill>
                <a:latin typeface="Helvetica Neue"/>
                <a:ea typeface="Helvetica Neue"/>
                <a:cs typeface="Helvetica Neue"/>
              </a:defRPr>
            </a:pPr>
            <a:r>
              <a:rPr sz="1575" b="0">
                <a:solidFill>
                  <a:srgbClr val="5E6470"/>
                </a:solidFill>
                <a:latin typeface="Helvetica Neue"/>
                <a:ea typeface="Helvetica Neue"/>
                <a:cs typeface="Helvetica Neue"/>
              </a:rPr>
              <a:t>• Update or complete an Item</a:t>
            </a:r>
          </a:p>
          <a:p xmlns:a="http://schemas.openxmlformats.org/drawingml/2006/main">
            <a:pPr algn="l">
              <a:defRPr sz="1575" b="0">
                <a:solidFill>
                  <a:srgbClr val="5E6470"/>
                </a:solidFill>
                <a:latin typeface="Helvetica Neue"/>
                <a:ea typeface="Helvetica Neue"/>
                <a:cs typeface="Helvetica Neue"/>
              </a:defRPr>
            </a:pPr>
            <a:r>
              <a:rPr sz="1575" b="0">
                <a:solidFill>
                  <a:srgbClr val="5E6470"/>
                </a:solidFill>
                <a:latin typeface="Helvetica Neue"/>
                <a:ea typeface="Helvetica Neue"/>
                <a:cs typeface="Helvetica Neue"/>
              </a:rPr>
              <a:t>• Delete an Item</a:t>
            </a:r>
          </a:p>
        </p:txBody>
      </p:sp>
      <p:sp>
        <p:nvSpPr>
          <p:cNvPr id="15" name="tools-boundary-bg">
            <a:extLst xmlns:a="http://schemas.openxmlformats.org/drawingml/2006/main">
              <a:ext uri="{FF2B5EF4-FFF2-40B4-BE49-F238E27FC236}">
                <a16:creationId xmlns:a16="http://schemas.microsoft.com/office/drawing/2014/main" id="{352BA760-A38A-4640-85B3-8735F44F29E6}"/>
              </a:ext>
            </a:extLst>
          </p:cNvPr>
          <p:cNvSpPr>
            <a:spLocks xmlns:a="http://schemas.openxmlformats.org/drawingml/2006/main" noGrp="1"/>
          </p:cNvSpPr>
          <p:nvPr/>
        </p:nvSpPr>
        <p:spPr>
          <a:xfrm xmlns:a="http://schemas.openxmlformats.org/drawingml/2006/main">
            <a:off x="514350" y="5638800"/>
            <a:ext cx="10839450" cy="495300"/>
          </a:xfrm>
          <a:prstGeom xmlns:a="http://schemas.openxmlformats.org/drawingml/2006/main" prst="rect">
            <a:avLst/>
          </a:prstGeom>
          <a:solidFill xmlns:a="http://schemas.openxmlformats.org/drawingml/2006/main">
            <a:srgbClr val="E7F6FD"/>
          </a:solidFill>
          <a:ln xmlns:a="http://schemas.openxmlformats.org/drawingml/2006/main" w="0">
            <a:noFill/>
            <a:prstDash val="solid"/>
          </a:ln>
        </p:spPr>
      </p:sp>
      <p:sp>
        <p:nvSpPr>
          <p:cNvPr id="16" name="tools-boundary">
            <a:extLst xmlns:a="http://schemas.openxmlformats.org/drawingml/2006/main">
              <a:ext uri="{FF2B5EF4-FFF2-40B4-BE49-F238E27FC236}">
                <a16:creationId xmlns:a16="http://schemas.microsoft.com/office/drawing/2014/main" id="{4AA9DCB1-61C9-459F-85EB-2D4DD9436E34}"/>
              </a:ext>
            </a:extLst>
          </p:cNvPr>
          <p:cNvSpPr>
            <a:spLocks xmlns:a="http://schemas.openxmlformats.org/drawingml/2006/main" noGrp="1"/>
          </p:cNvSpPr>
          <p:nvPr/>
        </p:nvSpPr>
        <p:spPr>
          <a:xfrm xmlns:a="http://schemas.openxmlformats.org/drawingml/2006/main">
            <a:off x="742950" y="5762625"/>
            <a:ext cx="103632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3D8DFF"/>
                </a:solidFill>
                <a:latin typeface="Helvetica Neue"/>
                <a:ea typeface="Helvetica Neue"/>
                <a:cs typeface="Helvetica Neue"/>
              </a:defRPr>
            </a:pPr>
            <a:r>
              <a:rPr sz="1650" b="1">
                <a:solidFill>
                  <a:srgbClr val="3D8DFF"/>
                </a:solidFill>
                <a:latin typeface="Helvetica Neue"/>
                <a:ea typeface="Helvetica Neue"/>
                <a:cs typeface="Helvetica Neue"/>
              </a:rPr>
              <a:t>Registered-only Daily Plan, Capacity, and Work capabilities are withheld from regular Talk.</a:t>
            </a:r>
          </a:p>
        </p:txBody>
      </p:sp>
    </p:spTree>
    <p:extLst>
      <p:ext uri="{BB962C8B-B14F-4D97-AF65-F5344CB8AC3E}">
        <p14:creationId xmlns:p14="http://schemas.microsoft.com/office/powerpoint/2010/main" val="1398537184"/>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eyebrow-7">
            <a:extLst xmlns:a="http://schemas.openxmlformats.org/drawingml/2006/main">
              <a:ext uri="{FF2B5EF4-FFF2-40B4-BE49-F238E27FC236}">
                <a16:creationId xmlns:a16="http://schemas.microsoft.com/office/drawing/2014/main" id="{BAECB2D0-F992-4FCC-B31E-2573EFE5DD99}"/>
              </a:ext>
            </a:extLst>
          </p:cNvPr>
          <p:cNvSpPr>
            <a:spLocks xmlns:a="http://schemas.openxmlformats.org/drawingml/2006/main" noGrp="1"/>
          </p:cNvSpPr>
          <p:nvPr/>
        </p:nvSpPr>
        <p:spPr>
          <a:xfrm xmlns:a="http://schemas.openxmlformats.org/drawingml/2006/main">
            <a:off x="495300" y="32385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1">
                <a:solidFill>
                  <a:srgbClr val="5E6470"/>
                </a:solidFill>
                <a:latin typeface="Helvetica Neue"/>
                <a:ea typeface="Helvetica Neue"/>
                <a:cs typeface="Helvetica Neue"/>
              </a:defRPr>
            </a:pPr>
            <a:r>
              <a:rPr sz="1350" b="1">
                <a:solidFill>
                  <a:srgbClr val="5E6470"/>
                </a:solidFill>
                <a:latin typeface="Helvetica Neue"/>
                <a:ea typeface="Helvetica Neue"/>
                <a:cs typeface="Helvetica Neue"/>
              </a:rPr>
              <a:t>HEALTHYFLOW · TALK</a:t>
            </a:r>
          </a:p>
        </p:txBody>
      </p:sp>
      <p:sp>
        <p:nvSpPr>
          <p:cNvPr id="2" name="title-7">
            <a:extLst xmlns:a="http://schemas.openxmlformats.org/drawingml/2006/main">
              <a:ext uri="{FF2B5EF4-FFF2-40B4-BE49-F238E27FC236}">
                <a16:creationId xmlns:a16="http://schemas.microsoft.com/office/drawing/2014/main" id="{A347CA78-E14D-4CBE-AA37-4DDB58E29590}"/>
              </a:ext>
            </a:extLst>
          </p:cNvPr>
          <p:cNvSpPr>
            <a:spLocks xmlns:a="http://schemas.openxmlformats.org/drawingml/2006/main" noGrp="1"/>
          </p:cNvSpPr>
          <p:nvPr/>
        </p:nvSpPr>
        <p:spPr>
          <a:xfrm xmlns:a="http://schemas.openxmlformats.org/drawingml/2006/main">
            <a:off x="495300" y="72390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600" b="1">
                <a:solidFill>
                  <a:srgbClr val="000000"/>
                </a:solidFill>
                <a:latin typeface="Helvetica Neue"/>
                <a:ea typeface="Helvetica Neue"/>
                <a:cs typeface="Helvetica Neue"/>
              </a:defRPr>
            </a:pPr>
            <a:r>
              <a:rPr sz="3600" b="1">
                <a:solidFill>
                  <a:srgbClr val="000000"/>
                </a:solidFill>
                <a:latin typeface="Helvetica Neue"/>
                <a:ea typeface="Helvetica Neue"/>
                <a:cs typeface="Helvetica Neue"/>
              </a:rPr>
              <a:t>Every write pauses at a human checkpoint</a:t>
            </a:r>
          </a:p>
        </p:txBody>
      </p:sp>
      <p:sp>
        <p:nvSpPr>
          <p:cNvPr id="3" name="page-7">
            <a:extLst xmlns:a="http://schemas.openxmlformats.org/drawingml/2006/main">
              <a:ext uri="{FF2B5EF4-FFF2-40B4-BE49-F238E27FC236}">
                <a16:creationId xmlns:a16="http://schemas.microsoft.com/office/drawing/2014/main" id="{28B64151-07BC-4DA0-9036-F4B7AB6DA735}"/>
              </a:ext>
            </a:extLst>
          </p:cNvPr>
          <p:cNvSpPr>
            <a:spLocks xmlns:a="http://schemas.openxmlformats.org/drawingml/2006/main" noGrp="1"/>
          </p:cNvSpPr>
          <p:nvPr/>
        </p:nvSpPr>
        <p:spPr>
          <a:xfrm xmlns:a="http://schemas.openxmlformats.org/drawingml/2006/main">
            <a:off x="11277600" y="626745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E6470"/>
                </a:solidFill>
                <a:latin typeface="Helvetica Neue"/>
                <a:ea typeface="Helvetica Neue"/>
                <a:cs typeface="Helvetica Neue"/>
              </a:defRPr>
            </a:pPr>
            <a:r>
              <a:rPr sz="1125" b="0">
                <a:solidFill>
                  <a:srgbClr val="5E6470"/>
                </a:solidFill>
                <a:latin typeface="Helvetica Neue"/>
                <a:ea typeface="Helvetica Neue"/>
                <a:cs typeface="Helvetica Neue"/>
              </a:rPr>
              <a:t>07</a:t>
            </a:r>
          </a:p>
        </p:txBody>
      </p:sp>
      <p:cxnSp>
        <p:nvCxnSpPr>
          <p:cNvPr id="32" name="confirm-line"/>
          <p:cNvCxnSpPr/>
          <p:nvPr/>
        </p:nvCxnSpPr>
        <p:spPr>
          <a:xfrm xmlns:a="http://schemas.openxmlformats.org/drawingml/2006/main">
            <a:off x="876300" y="3067050"/>
            <a:ext cx="10363200" cy="0"/>
          </a:xfrm>
          <a:prstGeom xmlns:a="http://schemas.openxmlformats.org/drawingml/2006/main" prst="straightConnector1">
            <a:avLst/>
          </a:prstGeom>
          <a:ln xmlns:a="http://schemas.openxmlformats.org/drawingml/2006/main" w="19050">
            <a:solidFill>
              <a:srgbClr val="000000"/>
            </a:solidFill>
            <a:prstDash val="solid"/>
          </a:ln>
        </p:spPr>
      </p:cxnSp>
      <p:sp>
        <p:nvSpPr>
          <p:cNvPr id="5" name="confirm-dot-0">
            <a:extLst xmlns:a="http://schemas.openxmlformats.org/drawingml/2006/main">
              <a:ext uri="{FF2B5EF4-FFF2-40B4-BE49-F238E27FC236}">
                <a16:creationId xmlns:a16="http://schemas.microsoft.com/office/drawing/2014/main" id="{3CFE0851-95B3-4B70-82FF-45CB7E0CCB58}"/>
              </a:ext>
            </a:extLst>
          </p:cNvPr>
          <p:cNvSpPr>
            <a:spLocks xmlns:a="http://schemas.openxmlformats.org/drawingml/2006/main" noGrp="1"/>
          </p:cNvSpPr>
          <p:nvPr/>
        </p:nvSpPr>
        <p:spPr>
          <a:xfrm xmlns:a="http://schemas.openxmlformats.org/drawingml/2006/main">
            <a:off x="800100" y="2990850"/>
            <a:ext cx="152400" cy="152400"/>
          </a:xfrm>
          <a:prstGeom xmlns:a="http://schemas.openxmlformats.org/drawingml/2006/main" prst="ellipse">
            <a:avLst/>
          </a:prstGeom>
          <a:solidFill xmlns:a="http://schemas.openxmlformats.org/drawingml/2006/main">
            <a:srgbClr val="000000"/>
          </a:solidFill>
          <a:ln xmlns:a="http://schemas.openxmlformats.org/drawingml/2006/main" w="0">
            <a:noFill/>
            <a:prstDash val="solid"/>
          </a:ln>
        </p:spPr>
      </p:sp>
      <p:sp>
        <p:nvSpPr>
          <p:cNvPr id="6" name="confirm-num-0">
            <a:extLst xmlns:a="http://schemas.openxmlformats.org/drawingml/2006/main">
              <a:ext uri="{FF2B5EF4-FFF2-40B4-BE49-F238E27FC236}">
                <a16:creationId xmlns:a16="http://schemas.microsoft.com/office/drawing/2014/main" id="{E5301700-BBAD-471F-9FE0-5920F20E54C1}"/>
              </a:ext>
            </a:extLst>
          </p:cNvPr>
          <p:cNvSpPr>
            <a:spLocks xmlns:a="http://schemas.openxmlformats.org/drawingml/2006/main" noGrp="1"/>
          </p:cNvSpPr>
          <p:nvPr/>
        </p:nvSpPr>
        <p:spPr>
          <a:xfrm xmlns:a="http://schemas.openxmlformats.org/drawingml/2006/main">
            <a:off x="800100" y="2247900"/>
            <a:ext cx="704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5E6470"/>
                </a:solidFill>
                <a:latin typeface="Helvetica Neue"/>
                <a:ea typeface="Helvetica Neue"/>
                <a:cs typeface="Helvetica Neue"/>
              </a:defRPr>
            </a:pPr>
            <a:r>
              <a:rPr sz="1350" b="1">
                <a:solidFill>
                  <a:srgbClr val="5E6470"/>
                </a:solidFill>
                <a:latin typeface="Helvetica Neue"/>
                <a:ea typeface="Helvetica Neue"/>
                <a:cs typeface="Helvetica Neue"/>
              </a:rPr>
              <a:t>01</a:t>
            </a:r>
          </a:p>
        </p:txBody>
      </p:sp>
      <p:sp>
        <p:nvSpPr>
          <p:cNvPr id="7" name="confirm-title-0">
            <a:extLst xmlns:a="http://schemas.openxmlformats.org/drawingml/2006/main">
              <a:ext uri="{FF2B5EF4-FFF2-40B4-BE49-F238E27FC236}">
                <a16:creationId xmlns:a16="http://schemas.microsoft.com/office/drawing/2014/main" id="{BEE7F966-1EDE-46B7-956D-224CE7A11917}"/>
              </a:ext>
            </a:extLst>
          </p:cNvPr>
          <p:cNvSpPr>
            <a:spLocks xmlns:a="http://schemas.openxmlformats.org/drawingml/2006/main" noGrp="1"/>
          </p:cNvSpPr>
          <p:nvPr/>
        </p:nvSpPr>
        <p:spPr>
          <a:xfrm xmlns:a="http://schemas.openxmlformats.org/drawingml/2006/main">
            <a:off x="800100" y="3390900"/>
            <a:ext cx="16383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100" b="1">
                <a:solidFill>
                  <a:srgbClr val="000000"/>
                </a:solidFill>
                <a:latin typeface="Helvetica Neue"/>
                <a:ea typeface="Helvetica Neue"/>
                <a:cs typeface="Helvetica Neue"/>
              </a:defRPr>
            </a:pPr>
            <a:r>
              <a:rPr sz="2100" b="1">
                <a:solidFill>
                  <a:srgbClr val="000000"/>
                </a:solidFill>
                <a:latin typeface="Helvetica Neue"/>
                <a:ea typeface="Helvetica Neue"/>
                <a:cs typeface="Helvetica Neue"/>
              </a:rPr>
              <a:t>Ask</a:t>
            </a:r>
          </a:p>
        </p:txBody>
      </p:sp>
      <p:sp>
        <p:nvSpPr>
          <p:cNvPr id="8" name="confirm-body-0">
            <a:extLst xmlns:a="http://schemas.openxmlformats.org/drawingml/2006/main">
              <a:ext uri="{FF2B5EF4-FFF2-40B4-BE49-F238E27FC236}">
                <a16:creationId xmlns:a16="http://schemas.microsoft.com/office/drawing/2014/main" id="{CFDC445F-1C68-4263-A9DD-AD9DCD272E3D}"/>
              </a:ext>
            </a:extLst>
          </p:cNvPr>
          <p:cNvSpPr>
            <a:spLocks xmlns:a="http://schemas.openxmlformats.org/drawingml/2006/main" noGrp="1"/>
          </p:cNvSpPr>
          <p:nvPr/>
        </p:nvSpPr>
        <p:spPr>
          <a:xfrm xmlns:a="http://schemas.openxmlformats.org/drawingml/2006/main">
            <a:off x="800100" y="3886200"/>
            <a:ext cx="16573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0">
                <a:solidFill>
                  <a:srgbClr val="5E6470"/>
                </a:solidFill>
                <a:latin typeface="Helvetica Neue"/>
                <a:ea typeface="Helvetica Neue"/>
                <a:cs typeface="Helvetica Neue"/>
              </a:defRPr>
            </a:pPr>
            <a:r>
              <a:rPr sz="1575" b="0">
                <a:solidFill>
                  <a:srgbClr val="5E6470"/>
                </a:solidFill>
                <a:latin typeface="Helvetica Neue"/>
                <a:ea typeface="Helvetica Neue"/>
                <a:cs typeface="Helvetica Neue"/>
              </a:rPr>
              <a:t>“Move my Task”</a:t>
            </a:r>
          </a:p>
        </p:txBody>
      </p:sp>
      <p:sp>
        <p:nvSpPr>
          <p:cNvPr id="9" name="confirm-dot-1">
            <a:extLst xmlns:a="http://schemas.openxmlformats.org/drawingml/2006/main">
              <a:ext uri="{FF2B5EF4-FFF2-40B4-BE49-F238E27FC236}">
                <a16:creationId xmlns:a16="http://schemas.microsoft.com/office/drawing/2014/main" id="{12336F3B-4EAE-4151-85F1-B941C6EA349C}"/>
              </a:ext>
            </a:extLst>
          </p:cNvPr>
          <p:cNvSpPr>
            <a:spLocks xmlns:a="http://schemas.openxmlformats.org/drawingml/2006/main" noGrp="1"/>
          </p:cNvSpPr>
          <p:nvPr/>
        </p:nvSpPr>
        <p:spPr>
          <a:xfrm xmlns:a="http://schemas.openxmlformats.org/drawingml/2006/main">
            <a:off x="3086100" y="2990850"/>
            <a:ext cx="152400" cy="152400"/>
          </a:xfrm>
          <a:prstGeom xmlns:a="http://schemas.openxmlformats.org/drawingml/2006/main" prst="ellipse">
            <a:avLst/>
          </a:prstGeom>
          <a:solidFill xmlns:a="http://schemas.openxmlformats.org/drawingml/2006/main">
            <a:srgbClr val="000000"/>
          </a:solidFill>
          <a:ln xmlns:a="http://schemas.openxmlformats.org/drawingml/2006/main" w="0">
            <a:noFill/>
            <a:prstDash val="solid"/>
          </a:ln>
        </p:spPr>
      </p:sp>
      <p:sp>
        <p:nvSpPr>
          <p:cNvPr id="10" name="confirm-num-1">
            <a:extLst xmlns:a="http://schemas.openxmlformats.org/drawingml/2006/main">
              <a:ext uri="{FF2B5EF4-FFF2-40B4-BE49-F238E27FC236}">
                <a16:creationId xmlns:a16="http://schemas.microsoft.com/office/drawing/2014/main" id="{37BD98DD-3FF0-45E5-9BB0-6E89B957D8B0}"/>
              </a:ext>
            </a:extLst>
          </p:cNvPr>
          <p:cNvSpPr>
            <a:spLocks xmlns:a="http://schemas.openxmlformats.org/drawingml/2006/main" noGrp="1"/>
          </p:cNvSpPr>
          <p:nvPr/>
        </p:nvSpPr>
        <p:spPr>
          <a:xfrm xmlns:a="http://schemas.openxmlformats.org/drawingml/2006/main">
            <a:off x="3086100" y="2247900"/>
            <a:ext cx="704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5E6470"/>
                </a:solidFill>
                <a:latin typeface="Helvetica Neue"/>
                <a:ea typeface="Helvetica Neue"/>
                <a:cs typeface="Helvetica Neue"/>
              </a:defRPr>
            </a:pPr>
            <a:r>
              <a:rPr sz="1350" b="1">
                <a:solidFill>
                  <a:srgbClr val="5E6470"/>
                </a:solidFill>
                <a:latin typeface="Helvetica Neue"/>
                <a:ea typeface="Helvetica Neue"/>
                <a:cs typeface="Helvetica Neue"/>
              </a:rPr>
              <a:t>02</a:t>
            </a:r>
          </a:p>
        </p:txBody>
      </p:sp>
      <p:sp>
        <p:nvSpPr>
          <p:cNvPr id="11" name="confirm-title-1">
            <a:extLst xmlns:a="http://schemas.openxmlformats.org/drawingml/2006/main">
              <a:ext uri="{FF2B5EF4-FFF2-40B4-BE49-F238E27FC236}">
                <a16:creationId xmlns:a16="http://schemas.microsoft.com/office/drawing/2014/main" id="{5CBF89E7-080F-4830-A4C4-E40B0A66AD67}"/>
              </a:ext>
            </a:extLst>
          </p:cNvPr>
          <p:cNvSpPr>
            <a:spLocks xmlns:a="http://schemas.openxmlformats.org/drawingml/2006/main" noGrp="1"/>
          </p:cNvSpPr>
          <p:nvPr/>
        </p:nvSpPr>
        <p:spPr>
          <a:xfrm xmlns:a="http://schemas.openxmlformats.org/drawingml/2006/main">
            <a:off x="3086100" y="3390900"/>
            <a:ext cx="16383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100" b="1">
                <a:solidFill>
                  <a:srgbClr val="000000"/>
                </a:solidFill>
                <a:latin typeface="Helvetica Neue"/>
                <a:ea typeface="Helvetica Neue"/>
                <a:cs typeface="Helvetica Neue"/>
              </a:defRPr>
            </a:pPr>
            <a:r>
              <a:rPr sz="2100" b="1">
                <a:solidFill>
                  <a:srgbClr val="000000"/>
                </a:solidFill>
                <a:latin typeface="Helvetica Neue"/>
                <a:ea typeface="Helvetica Neue"/>
                <a:cs typeface="Helvetica Neue"/>
              </a:rPr>
              <a:t>Preview</a:t>
            </a:r>
          </a:p>
        </p:txBody>
      </p:sp>
      <p:sp>
        <p:nvSpPr>
          <p:cNvPr id="12" name="confirm-body-1">
            <a:extLst xmlns:a="http://schemas.openxmlformats.org/drawingml/2006/main">
              <a:ext uri="{FF2B5EF4-FFF2-40B4-BE49-F238E27FC236}">
                <a16:creationId xmlns:a16="http://schemas.microsoft.com/office/drawing/2014/main" id="{0930B64E-783A-400D-B69C-7DAC7633573A}"/>
              </a:ext>
            </a:extLst>
          </p:cNvPr>
          <p:cNvSpPr>
            <a:spLocks xmlns:a="http://schemas.openxmlformats.org/drawingml/2006/main" noGrp="1"/>
          </p:cNvSpPr>
          <p:nvPr/>
        </p:nvSpPr>
        <p:spPr>
          <a:xfrm xmlns:a="http://schemas.openxmlformats.org/drawingml/2006/main">
            <a:off x="3086100" y="3886200"/>
            <a:ext cx="16573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0">
                <a:solidFill>
                  <a:srgbClr val="5E6470"/>
                </a:solidFill>
                <a:latin typeface="Helvetica Neue"/>
                <a:ea typeface="Helvetica Neue"/>
                <a:cs typeface="Helvetica Neue"/>
              </a:defRPr>
            </a:pPr>
            <a:r>
              <a:rPr sz="1575" b="0">
                <a:solidFill>
                  <a:srgbClr val="5E6470"/>
                </a:solidFill>
                <a:latin typeface="Helvetica Neue"/>
                <a:ea typeface="Helvetica Neue"/>
                <a:cs typeface="Helvetica Neue"/>
              </a:rPr>
              <a:t>Write tool creates</a:t>
            </a:r>
          </a:p>
          <a:p xmlns:a="http://schemas.openxmlformats.org/drawingml/2006/main">
            <a:pPr algn="l">
              <a:defRPr sz="1575" b="0">
                <a:solidFill>
                  <a:srgbClr val="5E6470"/>
                </a:solidFill>
                <a:latin typeface="Helvetica Neue"/>
                <a:ea typeface="Helvetica Neue"/>
                <a:cs typeface="Helvetica Neue"/>
              </a:defRPr>
            </a:pPr>
            <a:r>
              <a:rPr sz="1575" b="0">
                <a:solidFill>
                  <a:srgbClr val="5E6470"/>
                </a:solidFill>
                <a:latin typeface="Helvetica Neue"/>
                <a:ea typeface="Helvetica Neue"/>
                <a:cs typeface="Helvetica Neue"/>
              </a:rPr>
              <a:t>pending action</a:t>
            </a:r>
          </a:p>
        </p:txBody>
      </p:sp>
      <p:sp>
        <p:nvSpPr>
          <p:cNvPr id="13" name="confirm-dot-2">
            <a:extLst xmlns:a="http://schemas.openxmlformats.org/drawingml/2006/main">
              <a:ext uri="{FF2B5EF4-FFF2-40B4-BE49-F238E27FC236}">
                <a16:creationId xmlns:a16="http://schemas.microsoft.com/office/drawing/2014/main" id="{53605FF2-281A-4D4B-9F4E-3FAF19CD54E8}"/>
              </a:ext>
            </a:extLst>
          </p:cNvPr>
          <p:cNvSpPr>
            <a:spLocks xmlns:a="http://schemas.openxmlformats.org/drawingml/2006/main" noGrp="1"/>
          </p:cNvSpPr>
          <p:nvPr/>
        </p:nvSpPr>
        <p:spPr>
          <a:xfrm xmlns:a="http://schemas.openxmlformats.org/drawingml/2006/main">
            <a:off x="5372100" y="2990850"/>
            <a:ext cx="152400" cy="152400"/>
          </a:xfrm>
          <a:prstGeom xmlns:a="http://schemas.openxmlformats.org/drawingml/2006/main" prst="ellipse">
            <a:avLst/>
          </a:prstGeom>
          <a:solidFill xmlns:a="http://schemas.openxmlformats.org/drawingml/2006/main">
            <a:srgbClr val="3D8DFF"/>
          </a:solidFill>
          <a:ln xmlns:a="http://schemas.openxmlformats.org/drawingml/2006/main" w="0">
            <a:noFill/>
            <a:prstDash val="solid"/>
          </a:ln>
        </p:spPr>
      </p:sp>
      <p:sp>
        <p:nvSpPr>
          <p:cNvPr id="14" name="confirm-num-2">
            <a:extLst xmlns:a="http://schemas.openxmlformats.org/drawingml/2006/main">
              <a:ext uri="{FF2B5EF4-FFF2-40B4-BE49-F238E27FC236}">
                <a16:creationId xmlns:a16="http://schemas.microsoft.com/office/drawing/2014/main" id="{1AE802A1-3CF3-4CD1-A1F1-E294502DAC4B}"/>
              </a:ext>
            </a:extLst>
          </p:cNvPr>
          <p:cNvSpPr>
            <a:spLocks xmlns:a="http://schemas.openxmlformats.org/drawingml/2006/main" noGrp="1"/>
          </p:cNvSpPr>
          <p:nvPr/>
        </p:nvSpPr>
        <p:spPr>
          <a:xfrm xmlns:a="http://schemas.openxmlformats.org/drawingml/2006/main">
            <a:off x="5372100" y="2247900"/>
            <a:ext cx="704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5E6470"/>
                </a:solidFill>
                <a:latin typeface="Helvetica Neue"/>
                <a:ea typeface="Helvetica Neue"/>
                <a:cs typeface="Helvetica Neue"/>
              </a:defRPr>
            </a:pPr>
            <a:r>
              <a:rPr sz="1350" b="1">
                <a:solidFill>
                  <a:srgbClr val="5E6470"/>
                </a:solidFill>
                <a:latin typeface="Helvetica Neue"/>
                <a:ea typeface="Helvetica Neue"/>
                <a:cs typeface="Helvetica Neue"/>
              </a:rPr>
              <a:t>03</a:t>
            </a:r>
          </a:p>
        </p:txBody>
      </p:sp>
      <p:sp>
        <p:nvSpPr>
          <p:cNvPr id="15" name="confirm-title-2">
            <a:extLst xmlns:a="http://schemas.openxmlformats.org/drawingml/2006/main">
              <a:ext uri="{FF2B5EF4-FFF2-40B4-BE49-F238E27FC236}">
                <a16:creationId xmlns:a16="http://schemas.microsoft.com/office/drawing/2014/main" id="{C86F67CB-FF46-4B73-9E81-555DABBA014B}"/>
              </a:ext>
            </a:extLst>
          </p:cNvPr>
          <p:cNvSpPr>
            <a:spLocks xmlns:a="http://schemas.openxmlformats.org/drawingml/2006/main" noGrp="1"/>
          </p:cNvSpPr>
          <p:nvPr/>
        </p:nvSpPr>
        <p:spPr>
          <a:xfrm xmlns:a="http://schemas.openxmlformats.org/drawingml/2006/main">
            <a:off x="5372100" y="3390900"/>
            <a:ext cx="16383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100" b="1">
                <a:solidFill>
                  <a:srgbClr val="000000"/>
                </a:solidFill>
                <a:latin typeface="Helvetica Neue"/>
                <a:ea typeface="Helvetica Neue"/>
                <a:cs typeface="Helvetica Neue"/>
              </a:defRPr>
            </a:pPr>
            <a:r>
              <a:rPr sz="2100" b="1">
                <a:solidFill>
                  <a:srgbClr val="000000"/>
                </a:solidFill>
                <a:latin typeface="Helvetica Neue"/>
                <a:ea typeface="Helvetica Neue"/>
                <a:cs typeface="Helvetica Neue"/>
              </a:rPr>
              <a:t>Decide</a:t>
            </a:r>
          </a:p>
        </p:txBody>
      </p:sp>
      <p:sp>
        <p:nvSpPr>
          <p:cNvPr id="16" name="confirm-body-2">
            <a:extLst xmlns:a="http://schemas.openxmlformats.org/drawingml/2006/main">
              <a:ext uri="{FF2B5EF4-FFF2-40B4-BE49-F238E27FC236}">
                <a16:creationId xmlns:a16="http://schemas.microsoft.com/office/drawing/2014/main" id="{B05F05F9-512B-479B-AC61-95CCF8A0BBE6}"/>
              </a:ext>
            </a:extLst>
          </p:cNvPr>
          <p:cNvSpPr>
            <a:spLocks xmlns:a="http://schemas.openxmlformats.org/drawingml/2006/main" noGrp="1"/>
          </p:cNvSpPr>
          <p:nvPr/>
        </p:nvSpPr>
        <p:spPr>
          <a:xfrm xmlns:a="http://schemas.openxmlformats.org/drawingml/2006/main">
            <a:off x="5372100" y="3886200"/>
            <a:ext cx="16573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0">
                <a:solidFill>
                  <a:srgbClr val="5E6470"/>
                </a:solidFill>
                <a:latin typeface="Helvetica Neue"/>
                <a:ea typeface="Helvetica Neue"/>
                <a:cs typeface="Helvetica Neue"/>
              </a:defRPr>
            </a:pPr>
            <a:r>
              <a:rPr sz="1575" b="0">
                <a:solidFill>
                  <a:srgbClr val="5E6470"/>
                </a:solidFill>
                <a:latin typeface="Helvetica Neue"/>
                <a:ea typeface="Helvetica Neue"/>
                <a:cs typeface="Helvetica Neue"/>
              </a:rPr>
              <a:t>Confirm or Cancel</a:t>
            </a:r>
          </a:p>
          <a:p xmlns:a="http://schemas.openxmlformats.org/drawingml/2006/main">
            <a:pPr algn="l">
              <a:defRPr sz="1575" b="0">
                <a:solidFill>
                  <a:srgbClr val="5E6470"/>
                </a:solidFill>
                <a:latin typeface="Helvetica Neue"/>
                <a:ea typeface="Helvetica Neue"/>
                <a:cs typeface="Helvetica Neue"/>
              </a:defRPr>
            </a:pPr>
            <a:r>
              <a:rPr sz="1575" b="0">
                <a:solidFill>
                  <a:srgbClr val="5E6470"/>
                </a:solidFill>
                <a:latin typeface="Helvetica Neue"/>
                <a:ea typeface="Helvetica Neue"/>
                <a:cs typeface="Helvetica Neue"/>
              </a:rPr>
              <a:t>in the UI</a:t>
            </a:r>
          </a:p>
        </p:txBody>
      </p:sp>
      <p:sp>
        <p:nvSpPr>
          <p:cNvPr id="17" name="confirm-dot-3">
            <a:extLst xmlns:a="http://schemas.openxmlformats.org/drawingml/2006/main">
              <a:ext uri="{FF2B5EF4-FFF2-40B4-BE49-F238E27FC236}">
                <a16:creationId xmlns:a16="http://schemas.microsoft.com/office/drawing/2014/main" id="{6F49043C-4EB6-47B9-82EE-5E278D40AC61}"/>
              </a:ext>
            </a:extLst>
          </p:cNvPr>
          <p:cNvSpPr>
            <a:spLocks xmlns:a="http://schemas.openxmlformats.org/drawingml/2006/main" noGrp="1"/>
          </p:cNvSpPr>
          <p:nvPr/>
        </p:nvSpPr>
        <p:spPr>
          <a:xfrm xmlns:a="http://schemas.openxmlformats.org/drawingml/2006/main">
            <a:off x="7658100" y="2990850"/>
            <a:ext cx="152400" cy="152400"/>
          </a:xfrm>
          <a:prstGeom xmlns:a="http://schemas.openxmlformats.org/drawingml/2006/main" prst="ellipse">
            <a:avLst/>
          </a:prstGeom>
          <a:solidFill xmlns:a="http://schemas.openxmlformats.org/drawingml/2006/main">
            <a:srgbClr val="000000"/>
          </a:solidFill>
          <a:ln xmlns:a="http://schemas.openxmlformats.org/drawingml/2006/main" w="0">
            <a:noFill/>
            <a:prstDash val="solid"/>
          </a:ln>
        </p:spPr>
      </p:sp>
      <p:sp>
        <p:nvSpPr>
          <p:cNvPr id="18" name="confirm-num-3">
            <a:extLst xmlns:a="http://schemas.openxmlformats.org/drawingml/2006/main">
              <a:ext uri="{FF2B5EF4-FFF2-40B4-BE49-F238E27FC236}">
                <a16:creationId xmlns:a16="http://schemas.microsoft.com/office/drawing/2014/main" id="{DF56C392-5EAC-4F8E-8707-50D6484B8205}"/>
              </a:ext>
            </a:extLst>
          </p:cNvPr>
          <p:cNvSpPr>
            <a:spLocks xmlns:a="http://schemas.openxmlformats.org/drawingml/2006/main" noGrp="1"/>
          </p:cNvSpPr>
          <p:nvPr/>
        </p:nvSpPr>
        <p:spPr>
          <a:xfrm xmlns:a="http://schemas.openxmlformats.org/drawingml/2006/main">
            <a:off x="7658100" y="2247900"/>
            <a:ext cx="704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5E6470"/>
                </a:solidFill>
                <a:latin typeface="Helvetica Neue"/>
                <a:ea typeface="Helvetica Neue"/>
                <a:cs typeface="Helvetica Neue"/>
              </a:defRPr>
            </a:pPr>
            <a:r>
              <a:rPr sz="1350" b="1">
                <a:solidFill>
                  <a:srgbClr val="5E6470"/>
                </a:solidFill>
                <a:latin typeface="Helvetica Neue"/>
                <a:ea typeface="Helvetica Neue"/>
                <a:cs typeface="Helvetica Neue"/>
              </a:rPr>
              <a:t>04</a:t>
            </a:r>
          </a:p>
        </p:txBody>
      </p:sp>
      <p:sp>
        <p:nvSpPr>
          <p:cNvPr id="19" name="confirm-title-3">
            <a:extLst xmlns:a="http://schemas.openxmlformats.org/drawingml/2006/main">
              <a:ext uri="{FF2B5EF4-FFF2-40B4-BE49-F238E27FC236}">
                <a16:creationId xmlns:a16="http://schemas.microsoft.com/office/drawing/2014/main" id="{F5996350-F8B9-483F-83CC-6B6DC6F6342A}"/>
              </a:ext>
            </a:extLst>
          </p:cNvPr>
          <p:cNvSpPr>
            <a:spLocks xmlns:a="http://schemas.openxmlformats.org/drawingml/2006/main" noGrp="1"/>
          </p:cNvSpPr>
          <p:nvPr/>
        </p:nvSpPr>
        <p:spPr>
          <a:xfrm xmlns:a="http://schemas.openxmlformats.org/drawingml/2006/main">
            <a:off x="7658100" y="3390900"/>
            <a:ext cx="16383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100" b="1">
                <a:solidFill>
                  <a:srgbClr val="000000"/>
                </a:solidFill>
                <a:latin typeface="Helvetica Neue"/>
                <a:ea typeface="Helvetica Neue"/>
                <a:cs typeface="Helvetica Neue"/>
              </a:defRPr>
            </a:pPr>
            <a:r>
              <a:rPr sz="2100" b="1">
                <a:solidFill>
                  <a:srgbClr val="000000"/>
                </a:solidFill>
                <a:latin typeface="Helvetica Neue"/>
                <a:ea typeface="Helvetica Neue"/>
                <a:cs typeface="Helvetica Neue"/>
              </a:rPr>
              <a:t>Execute</a:t>
            </a:r>
          </a:p>
        </p:txBody>
      </p:sp>
      <p:sp>
        <p:nvSpPr>
          <p:cNvPr id="20" name="confirm-body-3">
            <a:extLst xmlns:a="http://schemas.openxmlformats.org/drawingml/2006/main">
              <a:ext uri="{FF2B5EF4-FFF2-40B4-BE49-F238E27FC236}">
                <a16:creationId xmlns:a16="http://schemas.microsoft.com/office/drawing/2014/main" id="{FF15E8CF-459C-46FD-994B-99CF493E0964}"/>
              </a:ext>
            </a:extLst>
          </p:cNvPr>
          <p:cNvSpPr>
            <a:spLocks xmlns:a="http://schemas.openxmlformats.org/drawingml/2006/main" noGrp="1"/>
          </p:cNvSpPr>
          <p:nvPr/>
        </p:nvSpPr>
        <p:spPr>
          <a:xfrm xmlns:a="http://schemas.openxmlformats.org/drawingml/2006/main">
            <a:off x="7658100" y="3886200"/>
            <a:ext cx="16573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0">
                <a:solidFill>
                  <a:srgbClr val="5E6470"/>
                </a:solidFill>
                <a:latin typeface="Helvetica Neue"/>
                <a:ea typeface="Helvetica Neue"/>
                <a:cs typeface="Helvetica Neue"/>
              </a:defRPr>
            </a:pPr>
            <a:r>
              <a:rPr sz="1575" b="0">
                <a:solidFill>
                  <a:srgbClr val="5E6470"/>
                </a:solidFill>
                <a:latin typeface="Helvetica Neue"/>
                <a:ea typeface="Helvetica Neue"/>
                <a:cs typeface="Helvetica Neue"/>
              </a:rPr>
              <a:t>Server validates</a:t>
            </a:r>
          </a:p>
          <a:p xmlns:a="http://schemas.openxmlformats.org/drawingml/2006/main">
            <a:pPr algn="l">
              <a:defRPr sz="1575" b="0">
                <a:solidFill>
                  <a:srgbClr val="5E6470"/>
                </a:solidFill>
                <a:latin typeface="Helvetica Neue"/>
                <a:ea typeface="Helvetica Neue"/>
                <a:cs typeface="Helvetica Neue"/>
              </a:defRPr>
            </a:pPr>
            <a:r>
              <a:rPr sz="1575" b="0">
                <a:solidFill>
                  <a:srgbClr val="5E6470"/>
                </a:solidFill>
                <a:latin typeface="Helvetica Neue"/>
                <a:ea typeface="Helvetica Neue"/>
                <a:cs typeface="Helvetica Neue"/>
              </a:rPr>
              <a:t>and writes</a:t>
            </a:r>
          </a:p>
        </p:txBody>
      </p:sp>
      <p:sp>
        <p:nvSpPr>
          <p:cNvPr id="21" name="confirm-dot-4">
            <a:extLst xmlns:a="http://schemas.openxmlformats.org/drawingml/2006/main">
              <a:ext uri="{FF2B5EF4-FFF2-40B4-BE49-F238E27FC236}">
                <a16:creationId xmlns:a16="http://schemas.microsoft.com/office/drawing/2014/main" id="{A562F395-F7B6-4537-820A-8F093A308821}"/>
              </a:ext>
            </a:extLst>
          </p:cNvPr>
          <p:cNvSpPr>
            <a:spLocks xmlns:a="http://schemas.openxmlformats.org/drawingml/2006/main" noGrp="1"/>
          </p:cNvSpPr>
          <p:nvPr/>
        </p:nvSpPr>
        <p:spPr>
          <a:xfrm xmlns:a="http://schemas.openxmlformats.org/drawingml/2006/main">
            <a:off x="9944100" y="2990850"/>
            <a:ext cx="152400" cy="152400"/>
          </a:xfrm>
          <a:prstGeom xmlns:a="http://schemas.openxmlformats.org/drawingml/2006/main" prst="ellipse">
            <a:avLst/>
          </a:prstGeom>
          <a:solidFill xmlns:a="http://schemas.openxmlformats.org/drawingml/2006/main">
            <a:srgbClr val="000000"/>
          </a:solidFill>
          <a:ln xmlns:a="http://schemas.openxmlformats.org/drawingml/2006/main" w="0">
            <a:noFill/>
            <a:prstDash val="solid"/>
          </a:ln>
        </p:spPr>
      </p:sp>
      <p:sp>
        <p:nvSpPr>
          <p:cNvPr id="22" name="confirm-num-4">
            <a:extLst xmlns:a="http://schemas.openxmlformats.org/drawingml/2006/main">
              <a:ext uri="{FF2B5EF4-FFF2-40B4-BE49-F238E27FC236}">
                <a16:creationId xmlns:a16="http://schemas.microsoft.com/office/drawing/2014/main" id="{B23BF220-F0B6-461A-AC1B-988EA4553286}"/>
              </a:ext>
            </a:extLst>
          </p:cNvPr>
          <p:cNvSpPr>
            <a:spLocks xmlns:a="http://schemas.openxmlformats.org/drawingml/2006/main" noGrp="1"/>
          </p:cNvSpPr>
          <p:nvPr/>
        </p:nvSpPr>
        <p:spPr>
          <a:xfrm xmlns:a="http://schemas.openxmlformats.org/drawingml/2006/main">
            <a:off x="9944100" y="2247900"/>
            <a:ext cx="704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5E6470"/>
                </a:solidFill>
                <a:latin typeface="Helvetica Neue"/>
                <a:ea typeface="Helvetica Neue"/>
                <a:cs typeface="Helvetica Neue"/>
              </a:defRPr>
            </a:pPr>
            <a:r>
              <a:rPr sz="1350" b="1">
                <a:solidFill>
                  <a:srgbClr val="5E6470"/>
                </a:solidFill>
                <a:latin typeface="Helvetica Neue"/>
                <a:ea typeface="Helvetica Neue"/>
                <a:cs typeface="Helvetica Neue"/>
              </a:rPr>
              <a:t>05</a:t>
            </a:r>
          </a:p>
        </p:txBody>
      </p:sp>
      <p:sp>
        <p:nvSpPr>
          <p:cNvPr id="23" name="confirm-title-4">
            <a:extLst xmlns:a="http://schemas.openxmlformats.org/drawingml/2006/main">
              <a:ext uri="{FF2B5EF4-FFF2-40B4-BE49-F238E27FC236}">
                <a16:creationId xmlns:a16="http://schemas.microsoft.com/office/drawing/2014/main" id="{BBD31051-6D1B-4FAC-90D5-0F0D1460652F}"/>
              </a:ext>
            </a:extLst>
          </p:cNvPr>
          <p:cNvSpPr>
            <a:spLocks xmlns:a="http://schemas.openxmlformats.org/drawingml/2006/main" noGrp="1"/>
          </p:cNvSpPr>
          <p:nvPr/>
        </p:nvSpPr>
        <p:spPr>
          <a:xfrm xmlns:a="http://schemas.openxmlformats.org/drawingml/2006/main">
            <a:off x="9944100" y="3390900"/>
            <a:ext cx="16383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100" b="1">
                <a:solidFill>
                  <a:srgbClr val="000000"/>
                </a:solidFill>
                <a:latin typeface="Helvetica Neue"/>
                <a:ea typeface="Helvetica Neue"/>
                <a:cs typeface="Helvetica Neue"/>
              </a:defRPr>
            </a:pPr>
            <a:r>
              <a:rPr sz="2100" b="1">
                <a:solidFill>
                  <a:srgbClr val="000000"/>
                </a:solidFill>
                <a:latin typeface="Helvetica Neue"/>
                <a:ea typeface="Helvetica Neue"/>
                <a:cs typeface="Helvetica Neue"/>
              </a:rPr>
              <a:t>Continue</a:t>
            </a:r>
          </a:p>
        </p:txBody>
      </p:sp>
      <p:sp>
        <p:nvSpPr>
          <p:cNvPr id="24" name="confirm-body-4">
            <a:extLst xmlns:a="http://schemas.openxmlformats.org/drawingml/2006/main">
              <a:ext uri="{FF2B5EF4-FFF2-40B4-BE49-F238E27FC236}">
                <a16:creationId xmlns:a16="http://schemas.microsoft.com/office/drawing/2014/main" id="{9A5F7199-61E8-4AFE-8C5A-EF39BCD3EDE3}"/>
              </a:ext>
            </a:extLst>
          </p:cNvPr>
          <p:cNvSpPr>
            <a:spLocks xmlns:a="http://schemas.openxmlformats.org/drawingml/2006/main" noGrp="1"/>
          </p:cNvSpPr>
          <p:nvPr/>
        </p:nvSpPr>
        <p:spPr>
          <a:xfrm xmlns:a="http://schemas.openxmlformats.org/drawingml/2006/main">
            <a:off x="9944100" y="3886200"/>
            <a:ext cx="16573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0">
                <a:solidFill>
                  <a:srgbClr val="5E6470"/>
                </a:solidFill>
                <a:latin typeface="Helvetica Neue"/>
                <a:ea typeface="Helvetica Neue"/>
                <a:cs typeface="Helvetica Neue"/>
              </a:defRPr>
            </a:pPr>
            <a:r>
              <a:rPr sz="1575" b="0">
                <a:solidFill>
                  <a:srgbClr val="5E6470"/>
                </a:solidFill>
                <a:latin typeface="Helvetica Neue"/>
                <a:ea typeface="Helvetica Neue"/>
                <a:cs typeface="Helvetica Neue"/>
              </a:rPr>
              <a:t>Talk receives</a:t>
            </a:r>
          </a:p>
          <a:p xmlns:a="http://schemas.openxmlformats.org/drawingml/2006/main">
            <a:pPr algn="l">
              <a:defRPr sz="1575" b="0">
                <a:solidFill>
                  <a:srgbClr val="5E6470"/>
                </a:solidFill>
                <a:latin typeface="Helvetica Neue"/>
                <a:ea typeface="Helvetica Neue"/>
                <a:cs typeface="Helvetica Neue"/>
              </a:defRPr>
            </a:pPr>
            <a:r>
              <a:rPr sz="1575" b="0">
                <a:solidFill>
                  <a:srgbClr val="5E6470"/>
                </a:solidFill>
                <a:latin typeface="Helvetica Neue"/>
                <a:ea typeface="Helvetica Neue"/>
                <a:cs typeface="Helvetica Neue"/>
              </a:rPr>
              <a:t>the result</a:t>
            </a:r>
          </a:p>
        </p:txBody>
      </p:sp>
      <p:sp>
        <p:nvSpPr>
          <p:cNvPr id="25" name="confirm-legacy-bg">
            <a:extLst xmlns:a="http://schemas.openxmlformats.org/drawingml/2006/main">
              <a:ext uri="{FF2B5EF4-FFF2-40B4-BE49-F238E27FC236}">
                <a16:creationId xmlns:a16="http://schemas.microsoft.com/office/drawing/2014/main" id="{4229981F-F8AF-4144-AB00-9A8CED845C23}"/>
              </a:ext>
            </a:extLst>
          </p:cNvPr>
          <p:cNvSpPr>
            <a:spLocks xmlns:a="http://schemas.openxmlformats.org/drawingml/2006/main" noGrp="1"/>
          </p:cNvSpPr>
          <p:nvPr/>
        </p:nvSpPr>
        <p:spPr>
          <a:xfrm xmlns:a="http://schemas.openxmlformats.org/drawingml/2006/main">
            <a:off x="514350" y="5219700"/>
            <a:ext cx="5200650" cy="819150"/>
          </a:xfrm>
          <a:prstGeom xmlns:a="http://schemas.openxmlformats.org/drawingml/2006/main" prst="rect">
            <a:avLst/>
          </a:prstGeom>
          <a:solidFill xmlns:a="http://schemas.openxmlformats.org/drawingml/2006/main">
            <a:srgbClr val="F6F7F8"/>
          </a:solidFill>
          <a:ln xmlns:a="http://schemas.openxmlformats.org/drawingml/2006/main" w="0">
            <a:noFill/>
            <a:prstDash val="solid"/>
          </a:ln>
        </p:spPr>
      </p:sp>
      <p:sp>
        <p:nvSpPr>
          <p:cNvPr id="26" name="confirm-legacy">
            <a:extLst xmlns:a="http://schemas.openxmlformats.org/drawingml/2006/main">
              <a:ext uri="{FF2B5EF4-FFF2-40B4-BE49-F238E27FC236}">
                <a16:creationId xmlns:a16="http://schemas.microsoft.com/office/drawing/2014/main" id="{C1FE1592-D64F-48E9-8293-3E0217F83DFB}"/>
              </a:ext>
            </a:extLst>
          </p:cNvPr>
          <p:cNvSpPr>
            <a:spLocks xmlns:a="http://schemas.openxmlformats.org/drawingml/2006/main" noGrp="1"/>
          </p:cNvSpPr>
          <p:nvPr/>
        </p:nvSpPr>
        <p:spPr>
          <a:xfrm xmlns:a="http://schemas.openxmlformats.org/drawingml/2006/main">
            <a:off x="704850" y="5353050"/>
            <a:ext cx="48196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6111"/>
          </a:bodyPr>
          <a:lstStyle xmlns:a="http://schemas.openxmlformats.org/drawingml/2006/main"/>
          <a:p xmlns:a="http://schemas.openxmlformats.org/drawingml/2006/main">
            <a:pPr algn="l">
              <a:defRPr sz="1500" b="1">
                <a:solidFill>
                  <a:srgbClr val="000000"/>
                </a:solidFill>
                <a:latin typeface="Helvetica Neue"/>
                <a:ea typeface="Helvetica Neue"/>
                <a:cs typeface="Helvetica Neue"/>
              </a:defRPr>
            </a:pPr>
            <a:r>
              <a:rPr sz="1500" b="1">
                <a:solidFill>
                  <a:srgbClr val="000000"/>
                </a:solidFill>
                <a:latin typeface="Helvetica Neue"/>
                <a:ea typeface="Helvetica Neue"/>
                <a:cs typeface="Helvetica Neue"/>
              </a:rPr>
              <a:t>Regular Talk</a:t>
            </a:r>
          </a:p>
          <a:p xmlns:a="http://schemas.openxmlformats.org/drawingml/2006/main">
            <a:pPr algn="l">
              <a:defRPr sz="1500" b="1">
                <a:solidFill>
                  <a:srgbClr val="000000"/>
                </a:solidFill>
                <a:latin typeface="Helvetica Neue"/>
                <a:ea typeface="Helvetica Neue"/>
                <a:cs typeface="Helvetica Neue"/>
              </a:defRPr>
            </a:pPr>
            <a:r>
              <a:rPr sz="1500" b="1">
                <a:solidFill>
                  <a:srgbClr val="000000"/>
                </a:solidFill>
                <a:latin typeface="Helvetica Neue"/>
                <a:ea typeface="Helvetica Neue"/>
                <a:cs typeface="Helvetica Neue"/>
              </a:rPr>
              <a:t>A hidden user-role continuation carries the confirmed result back into the legacy loop.</a:t>
            </a:r>
          </a:p>
        </p:txBody>
      </p:sp>
      <p:sp>
        <p:nvSpPr>
          <p:cNvPr id="27" name="confirm-workflow-bg">
            <a:extLst xmlns:a="http://schemas.openxmlformats.org/drawingml/2006/main">
              <a:ext uri="{FF2B5EF4-FFF2-40B4-BE49-F238E27FC236}">
                <a16:creationId xmlns:a16="http://schemas.microsoft.com/office/drawing/2014/main" id="{9535A125-6745-4C4B-B0E4-A942714B5013}"/>
              </a:ext>
            </a:extLst>
          </p:cNvPr>
          <p:cNvSpPr>
            <a:spLocks xmlns:a="http://schemas.openxmlformats.org/drawingml/2006/main" noGrp="1"/>
          </p:cNvSpPr>
          <p:nvPr/>
        </p:nvSpPr>
        <p:spPr>
          <a:xfrm xmlns:a="http://schemas.openxmlformats.org/drawingml/2006/main">
            <a:off x="5905500" y="5219700"/>
            <a:ext cx="5448300" cy="819150"/>
          </a:xfrm>
          <a:prstGeom xmlns:a="http://schemas.openxmlformats.org/drawingml/2006/main" prst="rect">
            <a:avLst/>
          </a:prstGeom>
          <a:solidFill xmlns:a="http://schemas.openxmlformats.org/drawingml/2006/main">
            <a:srgbClr val="E7F6FD"/>
          </a:solidFill>
          <a:ln xmlns:a="http://schemas.openxmlformats.org/drawingml/2006/main" w="0">
            <a:noFill/>
            <a:prstDash val="solid"/>
          </a:ln>
        </p:spPr>
      </p:sp>
      <p:sp>
        <p:nvSpPr>
          <p:cNvPr id="28" name="confirm-workflow">
            <a:extLst xmlns:a="http://schemas.openxmlformats.org/drawingml/2006/main">
              <a:ext uri="{FF2B5EF4-FFF2-40B4-BE49-F238E27FC236}">
                <a16:creationId xmlns:a16="http://schemas.microsoft.com/office/drawing/2014/main" id="{F8F84073-1C98-4B1A-B4AD-F257CBCC69EB}"/>
              </a:ext>
            </a:extLst>
          </p:cNvPr>
          <p:cNvSpPr>
            <a:spLocks xmlns:a="http://schemas.openxmlformats.org/drawingml/2006/main" noGrp="1"/>
          </p:cNvSpPr>
          <p:nvPr/>
        </p:nvSpPr>
        <p:spPr>
          <a:xfrm xmlns:a="http://schemas.openxmlformats.org/drawingml/2006/main">
            <a:off x="6096000" y="5353050"/>
            <a:ext cx="50673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6111"/>
          </a:bodyPr>
          <a:lstStyle xmlns:a="http://schemas.openxmlformats.org/drawingml/2006/main"/>
          <a:p xmlns:a="http://schemas.openxmlformats.org/drawingml/2006/main">
            <a:pPr algn="l">
              <a:defRPr sz="1500" b="1">
                <a:solidFill>
                  <a:srgbClr val="3D8DFF"/>
                </a:solidFill>
                <a:latin typeface="Helvetica Neue"/>
                <a:ea typeface="Helvetica Neue"/>
                <a:cs typeface="Helvetica Neue"/>
              </a:defRPr>
            </a:pPr>
            <a:r>
              <a:rPr sz="1500" b="1">
                <a:solidFill>
                  <a:srgbClr val="3D8DFF"/>
                </a:solidFill>
                <a:latin typeface="Helvetica Neue"/>
                <a:ea typeface="Helvetica Neue"/>
                <a:cs typeface="Helvetica Neue"/>
              </a:rPr>
              <a:t>plan_work</a:t>
            </a:r>
          </a:p>
          <a:p xmlns:a="http://schemas.openxmlformats.org/drawingml/2006/main">
            <a:pPr algn="l">
              <a:defRPr sz="1500" b="1">
                <a:solidFill>
                  <a:srgbClr val="3D8DFF"/>
                </a:solidFill>
                <a:latin typeface="Helvetica Neue"/>
                <a:ea typeface="Helvetica Neue"/>
                <a:cs typeface="Helvetica Neue"/>
              </a:defRPr>
            </a:pPr>
            <a:r>
              <a:rPr sz="1500" b="1">
                <a:solidFill>
                  <a:srgbClr val="3D8DFF"/>
                </a:solidFill>
                <a:latin typeface="Helvetica Neue"/>
                <a:ea typeface="Helvetica Neue"/>
                <a:cs typeface="Helvetica Neue"/>
              </a:rPr>
              <a:t>/chat/continue turns confirmation into a typed event and resumes the state machine.</a:t>
            </a:r>
          </a:p>
        </p:txBody>
      </p:sp>
    </p:spTree>
    <p:extLst>
      <p:ext uri="{BB962C8B-B14F-4D97-AF65-F5344CB8AC3E}">
        <p14:creationId xmlns:p14="http://schemas.microsoft.com/office/powerpoint/2010/main" val="1848737379"/>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2" name="eyebrow-8">
            <a:extLst xmlns:a="http://schemas.openxmlformats.org/drawingml/2006/main">
              <a:ext uri="{FF2B5EF4-FFF2-40B4-BE49-F238E27FC236}">
                <a16:creationId xmlns:a16="http://schemas.microsoft.com/office/drawing/2014/main" id="{F4548656-5892-41CD-8504-6985ABAA329D}"/>
              </a:ext>
            </a:extLst>
          </p:cNvPr>
          <p:cNvSpPr>
            <a:spLocks xmlns:a="http://schemas.openxmlformats.org/drawingml/2006/main" noGrp="1"/>
          </p:cNvSpPr>
          <p:nvPr/>
        </p:nvSpPr>
        <p:spPr>
          <a:xfrm xmlns:a="http://schemas.openxmlformats.org/drawingml/2006/main">
            <a:off x="495300" y="32385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1">
                <a:solidFill>
                  <a:srgbClr val="5E6470"/>
                </a:solidFill>
                <a:latin typeface="Helvetica Neue"/>
                <a:ea typeface="Helvetica Neue"/>
                <a:cs typeface="Helvetica Neue"/>
              </a:defRPr>
            </a:pPr>
            <a:r>
              <a:rPr sz="1350" b="1">
                <a:solidFill>
                  <a:srgbClr val="5E6470"/>
                </a:solidFill>
                <a:latin typeface="Helvetica Neue"/>
                <a:ea typeface="Helvetica Neue"/>
                <a:cs typeface="Helvetica Neue"/>
              </a:rPr>
              <a:t>HEALTHYFLOW · TALK</a:t>
            </a:r>
          </a:p>
        </p:txBody>
      </p:sp>
      <p:sp>
        <p:nvSpPr>
          <p:cNvPr id="2" name="title-8">
            <a:extLst xmlns:a="http://schemas.openxmlformats.org/drawingml/2006/main">
              <a:ext uri="{FF2B5EF4-FFF2-40B4-BE49-F238E27FC236}">
                <a16:creationId xmlns:a16="http://schemas.microsoft.com/office/drawing/2014/main" id="{129E19E1-8902-4EC0-A98A-BD1642792526}"/>
              </a:ext>
            </a:extLst>
          </p:cNvPr>
          <p:cNvSpPr>
            <a:spLocks xmlns:a="http://schemas.openxmlformats.org/drawingml/2006/main" noGrp="1"/>
          </p:cNvSpPr>
          <p:nvPr/>
        </p:nvSpPr>
        <p:spPr>
          <a:xfrm xmlns:a="http://schemas.openxmlformats.org/drawingml/2006/main">
            <a:off x="495300" y="72390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700" b="1">
                <a:solidFill>
                  <a:srgbClr val="000000"/>
                </a:solidFill>
                <a:latin typeface="Helvetica Neue"/>
                <a:ea typeface="Helvetica Neue"/>
                <a:cs typeface="Helvetica Neue"/>
              </a:defRPr>
            </a:pPr>
            <a:r>
              <a:rPr sz="2700" b="1">
                <a:solidFill>
                  <a:srgbClr val="000000"/>
                </a:solidFill>
                <a:latin typeface="Helvetica Neue"/>
                <a:ea typeface="Helvetica Neue"/>
                <a:cs typeface="Helvetica Neue"/>
              </a:rPr>
              <a:t>plan_work is a state machine—not a larger prompt</a:t>
            </a:r>
          </a:p>
        </p:txBody>
      </p:sp>
      <p:sp>
        <p:nvSpPr>
          <p:cNvPr id="3" name="page-8">
            <a:extLst xmlns:a="http://schemas.openxmlformats.org/drawingml/2006/main">
              <a:ext uri="{FF2B5EF4-FFF2-40B4-BE49-F238E27FC236}">
                <a16:creationId xmlns:a16="http://schemas.microsoft.com/office/drawing/2014/main" id="{AEF7A04D-4E89-428F-8C81-3F07D5674D17}"/>
              </a:ext>
            </a:extLst>
          </p:cNvPr>
          <p:cNvSpPr>
            <a:spLocks xmlns:a="http://schemas.openxmlformats.org/drawingml/2006/main" noGrp="1"/>
          </p:cNvSpPr>
          <p:nvPr/>
        </p:nvSpPr>
        <p:spPr>
          <a:xfrm xmlns:a="http://schemas.openxmlformats.org/drawingml/2006/main">
            <a:off x="11277600" y="626745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E6470"/>
                </a:solidFill>
                <a:latin typeface="Helvetica Neue"/>
                <a:ea typeface="Helvetica Neue"/>
                <a:cs typeface="Helvetica Neue"/>
              </a:defRPr>
            </a:pPr>
            <a:r>
              <a:rPr sz="1125" b="0">
                <a:solidFill>
                  <a:srgbClr val="5E6470"/>
                </a:solidFill>
                <a:latin typeface="Helvetica Neue"/>
                <a:ea typeface="Helvetica Neue"/>
                <a:cs typeface="Helvetica Neue"/>
              </a:rPr>
              <a:t>08</a:t>
            </a:r>
          </a:p>
        </p:txBody>
      </p:sp>
      <p:cxnSp>
        <p:nvCxnSpPr>
          <p:cNvPr id="45" name="lane-1"/>
          <p:cNvCxnSpPr/>
          <p:nvPr/>
        </p:nvCxnSpPr>
        <p:spPr>
          <a:xfrm xmlns:a="http://schemas.openxmlformats.org/drawingml/2006/main">
            <a:off x="1962150" y="2609850"/>
            <a:ext cx="9334500" cy="0"/>
          </a:xfrm>
          <a:prstGeom xmlns:a="http://schemas.openxmlformats.org/drawingml/2006/main" prst="straightConnector1">
            <a:avLst/>
          </a:prstGeom>
          <a:ln xmlns:a="http://schemas.openxmlformats.org/drawingml/2006/main" w="9525">
            <a:solidFill>
              <a:srgbClr val="B8BCC4"/>
            </a:solidFill>
            <a:prstDash val="solid"/>
          </a:ln>
        </p:spPr>
      </p:cxnSp>
      <p:cxnSp>
        <p:nvCxnSpPr>
          <p:cNvPr id="46" name="lane-2"/>
          <p:cNvCxnSpPr/>
          <p:nvPr/>
        </p:nvCxnSpPr>
        <p:spPr>
          <a:xfrm xmlns:a="http://schemas.openxmlformats.org/drawingml/2006/main">
            <a:off x="1962150" y="4000500"/>
            <a:ext cx="9334500" cy="0"/>
          </a:xfrm>
          <a:prstGeom xmlns:a="http://schemas.openxmlformats.org/drawingml/2006/main" prst="straightConnector1">
            <a:avLst/>
          </a:prstGeom>
          <a:ln xmlns:a="http://schemas.openxmlformats.org/drawingml/2006/main" w="9525">
            <a:solidFill>
              <a:srgbClr val="B8BCC4"/>
            </a:solidFill>
            <a:prstDash val="solid"/>
          </a:ln>
        </p:spPr>
      </p:cxnSp>
      <p:cxnSp>
        <p:nvCxnSpPr>
          <p:cNvPr id="47" name="wf-app-1"/>
          <p:cNvCxnSpPr/>
          <p:nvPr/>
        </p:nvCxnSpPr>
        <p:spPr>
          <a:xfrm xmlns:a="http://schemas.openxmlformats.org/drawingml/2006/main">
            <a:off x="3810000" y="2171700"/>
            <a:ext cx="1028700" cy="0"/>
          </a:xfrm>
          <a:prstGeom xmlns:a="http://schemas.openxmlformats.org/drawingml/2006/main" prst="straightConnector1">
            <a:avLst/>
          </a:prstGeom>
          <a:ln xmlns:a="http://schemas.openxmlformats.org/drawingml/2006/main" w="28575">
            <a:solidFill>
              <a:srgbClr val="B8BCC4"/>
            </a:solidFill>
            <a:prstDash val="solid"/>
          </a:ln>
        </p:spPr>
      </p:cxnSp>
      <p:cxnSp>
        <p:nvCxnSpPr>
          <p:cNvPr id="48" name="wf-down-1"/>
          <p:cNvCxnSpPr/>
          <p:nvPr/>
        </p:nvCxnSpPr>
        <p:spPr>
          <a:xfrm xmlns:a="http://schemas.openxmlformats.org/drawingml/2006/main">
            <a:off x="5638800" y="2476500"/>
            <a:ext cx="0" cy="819150"/>
          </a:xfrm>
          <a:prstGeom xmlns:a="http://schemas.openxmlformats.org/drawingml/2006/main" prst="straightConnector1">
            <a:avLst/>
          </a:prstGeom>
          <a:ln xmlns:a="http://schemas.openxmlformats.org/drawingml/2006/main" w="28575">
            <a:solidFill>
              <a:srgbClr val="B8BCC4"/>
            </a:solidFill>
            <a:prstDash val="solid"/>
          </a:ln>
        </p:spPr>
      </p:cxnSp>
      <p:cxnSp>
        <p:nvCxnSpPr>
          <p:cNvPr id="49" name="wf-agent-1"/>
          <p:cNvCxnSpPr/>
          <p:nvPr/>
        </p:nvCxnSpPr>
        <p:spPr>
          <a:xfrm xmlns:a="http://schemas.openxmlformats.org/drawingml/2006/main">
            <a:off x="6438900" y="3486150"/>
            <a:ext cx="990600" cy="0"/>
          </a:xfrm>
          <a:prstGeom xmlns:a="http://schemas.openxmlformats.org/drawingml/2006/main" prst="straightConnector1">
            <a:avLst/>
          </a:prstGeom>
          <a:ln xmlns:a="http://schemas.openxmlformats.org/drawingml/2006/main" w="28575">
            <a:solidFill>
              <a:srgbClr val="B8BCC4"/>
            </a:solidFill>
            <a:prstDash val="solid"/>
          </a:ln>
        </p:spPr>
      </p:cxnSp>
      <p:cxnSp>
        <p:nvCxnSpPr>
          <p:cNvPr id="50" name="wf-down-2"/>
          <p:cNvCxnSpPr/>
          <p:nvPr/>
        </p:nvCxnSpPr>
        <p:spPr>
          <a:xfrm xmlns:a="http://schemas.openxmlformats.org/drawingml/2006/main">
            <a:off x="8210550" y="3810000"/>
            <a:ext cx="0" cy="857250"/>
          </a:xfrm>
          <a:prstGeom xmlns:a="http://schemas.openxmlformats.org/drawingml/2006/main" prst="straightConnector1">
            <a:avLst/>
          </a:prstGeom>
          <a:ln xmlns:a="http://schemas.openxmlformats.org/drawingml/2006/main" w="28575">
            <a:solidFill>
              <a:srgbClr val="B8BCC4"/>
            </a:solidFill>
            <a:prstDash val="solid"/>
          </a:ln>
        </p:spPr>
      </p:cxnSp>
      <p:cxnSp>
        <p:nvCxnSpPr>
          <p:cNvPr id="51" name="wf-human-1"/>
          <p:cNvCxnSpPr/>
          <p:nvPr/>
        </p:nvCxnSpPr>
        <p:spPr>
          <a:xfrm xmlns:a="http://schemas.openxmlformats.org/drawingml/2006/main">
            <a:off x="9010650" y="4857750"/>
            <a:ext cx="857250" cy="0"/>
          </a:xfrm>
          <a:prstGeom xmlns:a="http://schemas.openxmlformats.org/drawingml/2006/main" prst="straightConnector1">
            <a:avLst/>
          </a:prstGeom>
          <a:ln xmlns:a="http://schemas.openxmlformats.org/drawingml/2006/main" w="28575">
            <a:solidFill>
              <a:srgbClr val="B8BCC4"/>
            </a:solidFill>
            <a:prstDash val="solid"/>
          </a:ln>
        </p:spPr>
      </p:cxnSp>
      <p:sp>
        <p:nvSpPr>
          <p:cNvPr id="11" name="lane-app">
            <a:extLst xmlns:a="http://schemas.openxmlformats.org/drawingml/2006/main">
              <a:ext uri="{FF2B5EF4-FFF2-40B4-BE49-F238E27FC236}">
                <a16:creationId xmlns:a16="http://schemas.microsoft.com/office/drawing/2014/main" id="{39C47EC8-EB3B-4F60-A240-69FDCF3BD637}"/>
              </a:ext>
            </a:extLst>
          </p:cNvPr>
          <p:cNvSpPr>
            <a:spLocks xmlns:a="http://schemas.openxmlformats.org/drawingml/2006/main" noGrp="1"/>
          </p:cNvSpPr>
          <p:nvPr/>
        </p:nvSpPr>
        <p:spPr>
          <a:xfrm xmlns:a="http://schemas.openxmlformats.org/drawingml/2006/main">
            <a:off x="514350" y="1924050"/>
            <a:ext cx="1333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5E6470"/>
                </a:solidFill>
                <a:latin typeface="Helvetica Neue"/>
                <a:ea typeface="Helvetica Neue"/>
                <a:cs typeface="Helvetica Neue"/>
              </a:defRPr>
            </a:pPr>
            <a:r>
              <a:rPr sz="1350" b="1">
                <a:solidFill>
                  <a:srgbClr val="5E6470"/>
                </a:solidFill>
                <a:latin typeface="Helvetica Neue"/>
                <a:ea typeface="Helvetica Neue"/>
                <a:cs typeface="Helvetica Neue"/>
              </a:rPr>
              <a:t>APPLICATION</a:t>
            </a:r>
          </a:p>
        </p:txBody>
      </p:sp>
      <p:sp>
        <p:nvSpPr>
          <p:cNvPr id="12" name="lane-agent">
            <a:extLst xmlns:a="http://schemas.openxmlformats.org/drawingml/2006/main">
              <a:ext uri="{FF2B5EF4-FFF2-40B4-BE49-F238E27FC236}">
                <a16:creationId xmlns:a16="http://schemas.microsoft.com/office/drawing/2014/main" id="{5DF64D48-931B-4ABD-999D-4E73FBBCC253}"/>
              </a:ext>
            </a:extLst>
          </p:cNvPr>
          <p:cNvSpPr>
            <a:spLocks xmlns:a="http://schemas.openxmlformats.org/drawingml/2006/main" noGrp="1"/>
          </p:cNvSpPr>
          <p:nvPr/>
        </p:nvSpPr>
        <p:spPr>
          <a:xfrm xmlns:a="http://schemas.openxmlformats.org/drawingml/2006/main">
            <a:off x="514350" y="3314700"/>
            <a:ext cx="1333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3D8DFF"/>
                </a:solidFill>
                <a:latin typeface="Helvetica Neue"/>
                <a:ea typeface="Helvetica Neue"/>
                <a:cs typeface="Helvetica Neue"/>
              </a:defRPr>
            </a:pPr>
            <a:r>
              <a:rPr sz="1350" b="1">
                <a:solidFill>
                  <a:srgbClr val="3D8DFF"/>
                </a:solidFill>
                <a:latin typeface="Helvetica Neue"/>
                <a:ea typeface="Helvetica Neue"/>
                <a:cs typeface="Helvetica Neue"/>
              </a:rPr>
              <a:t>AGENT STAGE</a:t>
            </a:r>
          </a:p>
        </p:txBody>
      </p:sp>
      <p:sp>
        <p:nvSpPr>
          <p:cNvPr id="13" name="lane-human">
            <a:extLst xmlns:a="http://schemas.openxmlformats.org/drawingml/2006/main">
              <a:ext uri="{FF2B5EF4-FFF2-40B4-BE49-F238E27FC236}">
                <a16:creationId xmlns:a16="http://schemas.microsoft.com/office/drawing/2014/main" id="{52AEDA27-EFB4-4215-8B9F-E4D0A2E6A036}"/>
              </a:ext>
            </a:extLst>
          </p:cNvPr>
          <p:cNvSpPr>
            <a:spLocks xmlns:a="http://schemas.openxmlformats.org/drawingml/2006/main" noGrp="1"/>
          </p:cNvSpPr>
          <p:nvPr/>
        </p:nvSpPr>
        <p:spPr>
          <a:xfrm xmlns:a="http://schemas.openxmlformats.org/drawingml/2006/main">
            <a:off x="514350" y="4705350"/>
            <a:ext cx="1333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5E6470"/>
                </a:solidFill>
                <a:latin typeface="Helvetica Neue"/>
                <a:ea typeface="Helvetica Neue"/>
                <a:cs typeface="Helvetica Neue"/>
              </a:defRPr>
            </a:pPr>
            <a:r>
              <a:rPr sz="1350" b="1">
                <a:solidFill>
                  <a:srgbClr val="5E6470"/>
                </a:solidFill>
                <a:latin typeface="Helvetica Neue"/>
                <a:ea typeface="Helvetica Neue"/>
                <a:cs typeface="Helvetica Neue"/>
              </a:rPr>
              <a:t>HUMAN WAIT</a:t>
            </a:r>
          </a:p>
        </p:txBody>
      </p:sp>
      <p:sp>
        <p:nvSpPr>
          <p:cNvPr id="14" name="wf-resolve-project-bg">
            <a:extLst xmlns:a="http://schemas.openxmlformats.org/drawingml/2006/main">
              <a:ext uri="{FF2B5EF4-FFF2-40B4-BE49-F238E27FC236}">
                <a16:creationId xmlns:a16="http://schemas.microsoft.com/office/drawing/2014/main" id="{C2CE0D24-2DAC-460A-B3D2-20FEC74F82D6}"/>
              </a:ext>
            </a:extLst>
          </p:cNvPr>
          <p:cNvSpPr>
            <a:spLocks xmlns:a="http://schemas.openxmlformats.org/drawingml/2006/main" noGrp="1"/>
          </p:cNvSpPr>
          <p:nvPr/>
        </p:nvSpPr>
        <p:spPr>
          <a:xfrm xmlns:a="http://schemas.openxmlformats.org/drawingml/2006/main">
            <a:off x="2266950" y="1771650"/>
            <a:ext cx="1543050" cy="762000"/>
          </a:xfrm>
          <a:prstGeom xmlns:a="http://schemas.openxmlformats.org/drawingml/2006/main" prst="rect">
            <a:avLst/>
          </a:prstGeom>
          <a:solidFill xmlns:a="http://schemas.openxmlformats.org/drawingml/2006/main">
            <a:srgbClr val="F6F7F8"/>
          </a:solidFill>
          <a:ln xmlns:a="http://schemas.openxmlformats.org/drawingml/2006/main" w="0">
            <a:noFill/>
            <a:prstDash val="solid"/>
          </a:ln>
        </p:spPr>
      </p:sp>
      <p:sp>
        <p:nvSpPr>
          <p:cNvPr id="15" name="wf-resolve-project-title">
            <a:extLst xmlns:a="http://schemas.openxmlformats.org/drawingml/2006/main">
              <a:ext uri="{FF2B5EF4-FFF2-40B4-BE49-F238E27FC236}">
                <a16:creationId xmlns:a16="http://schemas.microsoft.com/office/drawing/2014/main" id="{E78CF74A-4E2A-4B88-BFCC-697BC8975C3D}"/>
              </a:ext>
            </a:extLst>
          </p:cNvPr>
          <p:cNvSpPr>
            <a:spLocks xmlns:a="http://schemas.openxmlformats.org/drawingml/2006/main" noGrp="1"/>
          </p:cNvSpPr>
          <p:nvPr/>
        </p:nvSpPr>
        <p:spPr>
          <a:xfrm xmlns:a="http://schemas.openxmlformats.org/drawingml/2006/main">
            <a:off x="2476500" y="1905000"/>
            <a:ext cx="11811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9975"/>
          </a:bodyPr>
          <a:lstStyle xmlns:a="http://schemas.openxmlformats.org/drawingml/2006/main"/>
          <a:p xmlns:a="http://schemas.openxmlformats.org/drawingml/2006/main">
            <a:pPr algn="l">
              <a:defRPr sz="1238" b="1">
                <a:solidFill>
                  <a:srgbClr val="000000"/>
                </a:solidFill>
                <a:latin typeface="Helvetica Neue"/>
                <a:ea typeface="Helvetica Neue"/>
                <a:cs typeface="Helvetica Neue"/>
              </a:defRPr>
            </a:pPr>
            <a:r>
              <a:rPr sz="1238" b="1">
                <a:solidFill>
                  <a:srgbClr val="000000"/>
                </a:solidFill>
                <a:latin typeface="Helvetica Neue"/>
                <a:ea typeface="Helvetica Neue"/>
                <a:cs typeface="Helvetica Neue"/>
              </a:rPr>
              <a:t>Resolve Project</a:t>
            </a:r>
          </a:p>
        </p:txBody>
      </p:sp>
      <p:sp>
        <p:nvSpPr>
          <p:cNvPr id="16" name="wf-resolve-project-body">
            <a:extLst xmlns:a="http://schemas.openxmlformats.org/drawingml/2006/main">
              <a:ext uri="{FF2B5EF4-FFF2-40B4-BE49-F238E27FC236}">
                <a16:creationId xmlns:a16="http://schemas.microsoft.com/office/drawing/2014/main" id="{CD5CB158-3EAE-4165-A242-2E4E7F190B23}"/>
              </a:ext>
            </a:extLst>
          </p:cNvPr>
          <p:cNvSpPr>
            <a:spLocks xmlns:a="http://schemas.openxmlformats.org/drawingml/2006/main" noGrp="1"/>
          </p:cNvSpPr>
          <p:nvPr/>
        </p:nvSpPr>
        <p:spPr>
          <a:xfrm xmlns:a="http://schemas.openxmlformats.org/drawingml/2006/main">
            <a:off x="2476500" y="2152650"/>
            <a:ext cx="11620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a:solidFill>
                  <a:srgbClr val="5E6470"/>
                </a:solidFill>
                <a:latin typeface="Helvetica Neue"/>
                <a:ea typeface="Helvetica Neue"/>
                <a:cs typeface="Helvetica Neue"/>
              </a:defRPr>
            </a:pPr>
            <a:r>
              <a:rPr sz="1125" b="0">
                <a:solidFill>
                  <a:srgbClr val="5E6470"/>
                </a:solidFill>
                <a:latin typeface="Helvetica Neue"/>
                <a:ea typeface="Helvetica Neue"/>
                <a:cs typeface="Helvetica Neue"/>
              </a:rPr>
              <a:t>Verified handoff</a:t>
            </a:r>
          </a:p>
        </p:txBody>
      </p:sp>
      <p:sp>
        <p:nvSpPr>
          <p:cNvPr id="17" name="wf-resolve-scope-bg">
            <a:extLst xmlns:a="http://schemas.openxmlformats.org/drawingml/2006/main">
              <a:ext uri="{FF2B5EF4-FFF2-40B4-BE49-F238E27FC236}">
                <a16:creationId xmlns:a16="http://schemas.microsoft.com/office/drawing/2014/main" id="{1E24A673-F358-42DB-8A47-95C9C1CC161D}"/>
              </a:ext>
            </a:extLst>
          </p:cNvPr>
          <p:cNvSpPr>
            <a:spLocks xmlns:a="http://schemas.openxmlformats.org/drawingml/2006/main" noGrp="1"/>
          </p:cNvSpPr>
          <p:nvPr/>
        </p:nvSpPr>
        <p:spPr>
          <a:xfrm xmlns:a="http://schemas.openxmlformats.org/drawingml/2006/main">
            <a:off x="4838700" y="1771650"/>
            <a:ext cx="1600200" cy="762000"/>
          </a:xfrm>
          <a:prstGeom xmlns:a="http://schemas.openxmlformats.org/drawingml/2006/main" prst="rect">
            <a:avLst/>
          </a:prstGeom>
          <a:solidFill xmlns:a="http://schemas.openxmlformats.org/drawingml/2006/main">
            <a:srgbClr val="F6F7F8"/>
          </a:solidFill>
          <a:ln xmlns:a="http://schemas.openxmlformats.org/drawingml/2006/main" w="0">
            <a:noFill/>
            <a:prstDash val="solid"/>
          </a:ln>
        </p:spPr>
      </p:sp>
      <p:sp>
        <p:nvSpPr>
          <p:cNvPr id="18" name="wf-resolve-scope-title">
            <a:extLst xmlns:a="http://schemas.openxmlformats.org/drawingml/2006/main">
              <a:ext uri="{FF2B5EF4-FFF2-40B4-BE49-F238E27FC236}">
                <a16:creationId xmlns:a16="http://schemas.microsoft.com/office/drawing/2014/main" id="{EF9454CF-0FED-4105-8D3A-8F9CB9F24DCF}"/>
              </a:ext>
            </a:extLst>
          </p:cNvPr>
          <p:cNvSpPr>
            <a:spLocks xmlns:a="http://schemas.openxmlformats.org/drawingml/2006/main" noGrp="1"/>
          </p:cNvSpPr>
          <p:nvPr/>
        </p:nvSpPr>
        <p:spPr>
          <a:xfrm xmlns:a="http://schemas.openxmlformats.org/drawingml/2006/main">
            <a:off x="5048250" y="1905000"/>
            <a:ext cx="1238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38" b="1">
                <a:solidFill>
                  <a:srgbClr val="000000"/>
                </a:solidFill>
                <a:latin typeface="Helvetica Neue"/>
                <a:ea typeface="Helvetica Neue"/>
                <a:cs typeface="Helvetica Neue"/>
              </a:defRPr>
            </a:pPr>
            <a:r>
              <a:rPr sz="1238" b="1">
                <a:solidFill>
                  <a:srgbClr val="000000"/>
                </a:solidFill>
                <a:latin typeface="Helvetica Neue"/>
                <a:ea typeface="Helvetica Neue"/>
                <a:cs typeface="Helvetica Neue"/>
              </a:rPr>
              <a:t>Resolve Scope</a:t>
            </a:r>
          </a:p>
        </p:txBody>
      </p:sp>
      <p:sp>
        <p:nvSpPr>
          <p:cNvPr id="19" name="wf-resolve-scope-body">
            <a:extLst xmlns:a="http://schemas.openxmlformats.org/drawingml/2006/main">
              <a:ext uri="{FF2B5EF4-FFF2-40B4-BE49-F238E27FC236}">
                <a16:creationId xmlns:a16="http://schemas.microsoft.com/office/drawing/2014/main" id="{DA59B5DB-5D19-429F-A161-7A4DC2487BB7}"/>
              </a:ext>
            </a:extLst>
          </p:cNvPr>
          <p:cNvSpPr>
            <a:spLocks xmlns:a="http://schemas.openxmlformats.org/drawingml/2006/main" noGrp="1"/>
          </p:cNvSpPr>
          <p:nvPr/>
        </p:nvSpPr>
        <p:spPr>
          <a:xfrm xmlns:a="http://schemas.openxmlformats.org/drawingml/2006/main">
            <a:off x="5048250" y="2152650"/>
            <a:ext cx="12192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a:solidFill>
                  <a:srgbClr val="5E6470"/>
                </a:solidFill>
                <a:latin typeface="Helvetica Neue"/>
                <a:ea typeface="Helvetica Neue"/>
                <a:cs typeface="Helvetica Neue"/>
              </a:defRPr>
            </a:pPr>
            <a:r>
              <a:rPr sz="1125" b="0">
                <a:solidFill>
                  <a:srgbClr val="5E6470"/>
                </a:solidFill>
                <a:latin typeface="Helvetica Neue"/>
                <a:ea typeface="Helvetica Neue"/>
                <a:cs typeface="Helvetica Neue"/>
              </a:rPr>
              <a:t>Branch on facts</a:t>
            </a:r>
          </a:p>
        </p:txBody>
      </p:sp>
      <p:sp>
        <p:nvSpPr>
          <p:cNvPr id="20" name="wf-review-bg">
            <a:extLst xmlns:a="http://schemas.openxmlformats.org/drawingml/2006/main">
              <a:ext uri="{FF2B5EF4-FFF2-40B4-BE49-F238E27FC236}">
                <a16:creationId xmlns:a16="http://schemas.microsoft.com/office/drawing/2014/main" id="{8AF64479-2522-4696-BA74-5E0D282DEA6F}"/>
              </a:ext>
            </a:extLst>
          </p:cNvPr>
          <p:cNvSpPr>
            <a:spLocks xmlns:a="http://schemas.openxmlformats.org/drawingml/2006/main" noGrp="1"/>
          </p:cNvSpPr>
          <p:nvPr/>
        </p:nvSpPr>
        <p:spPr>
          <a:xfrm xmlns:a="http://schemas.openxmlformats.org/drawingml/2006/main">
            <a:off x="4838700" y="3124200"/>
            <a:ext cx="1600200" cy="762000"/>
          </a:xfrm>
          <a:prstGeom xmlns:a="http://schemas.openxmlformats.org/drawingml/2006/main" prst="rect">
            <a:avLst/>
          </a:prstGeom>
          <a:solidFill xmlns:a="http://schemas.openxmlformats.org/drawingml/2006/main">
            <a:srgbClr val="E7F6FD"/>
          </a:solidFill>
          <a:ln xmlns:a="http://schemas.openxmlformats.org/drawingml/2006/main" w="0">
            <a:noFill/>
            <a:prstDash val="solid"/>
          </a:ln>
        </p:spPr>
      </p:sp>
      <p:sp>
        <p:nvSpPr>
          <p:cNvPr id="21" name="wf-review-accent">
            <a:extLst xmlns:a="http://schemas.openxmlformats.org/drawingml/2006/main">
              <a:ext uri="{FF2B5EF4-FFF2-40B4-BE49-F238E27FC236}">
                <a16:creationId xmlns:a16="http://schemas.microsoft.com/office/drawing/2014/main" id="{51A29C26-EE77-4468-868F-02DA419F11D4}"/>
              </a:ext>
            </a:extLst>
          </p:cNvPr>
          <p:cNvSpPr>
            <a:spLocks xmlns:a="http://schemas.openxmlformats.org/drawingml/2006/main" noGrp="1"/>
          </p:cNvSpPr>
          <p:nvPr/>
        </p:nvSpPr>
        <p:spPr>
          <a:xfrm xmlns:a="http://schemas.openxmlformats.org/drawingml/2006/main">
            <a:off x="4838700" y="3124200"/>
            <a:ext cx="76200" cy="76200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22" name="wf-review-title">
            <a:extLst xmlns:a="http://schemas.openxmlformats.org/drawingml/2006/main">
              <a:ext uri="{FF2B5EF4-FFF2-40B4-BE49-F238E27FC236}">
                <a16:creationId xmlns:a16="http://schemas.microsoft.com/office/drawing/2014/main" id="{24919113-6EBE-422A-A3BA-72F547FCD1A4}"/>
              </a:ext>
            </a:extLst>
          </p:cNvPr>
          <p:cNvSpPr>
            <a:spLocks xmlns:a="http://schemas.openxmlformats.org/drawingml/2006/main" noGrp="1"/>
          </p:cNvSpPr>
          <p:nvPr/>
        </p:nvSpPr>
        <p:spPr>
          <a:xfrm xmlns:a="http://schemas.openxmlformats.org/drawingml/2006/main">
            <a:off x="5048250" y="3257550"/>
            <a:ext cx="1238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38" b="1">
                <a:solidFill>
                  <a:srgbClr val="000000"/>
                </a:solidFill>
                <a:latin typeface="Helvetica Neue"/>
                <a:ea typeface="Helvetica Neue"/>
                <a:cs typeface="Helvetica Neue"/>
              </a:defRPr>
            </a:pPr>
            <a:r>
              <a:rPr sz="1238" b="1">
                <a:solidFill>
                  <a:srgbClr val="000000"/>
                </a:solidFill>
                <a:latin typeface="Helvetica Neue"/>
                <a:ea typeface="Helvetica Neue"/>
                <a:cs typeface="Helvetica Neue"/>
              </a:rPr>
              <a:t>Review</a:t>
            </a:r>
          </a:p>
        </p:txBody>
      </p:sp>
      <p:sp>
        <p:nvSpPr>
          <p:cNvPr id="23" name="wf-review-body">
            <a:extLst xmlns:a="http://schemas.openxmlformats.org/drawingml/2006/main">
              <a:ext uri="{FF2B5EF4-FFF2-40B4-BE49-F238E27FC236}">
                <a16:creationId xmlns:a16="http://schemas.microsoft.com/office/drawing/2014/main" id="{D5D7D08D-F757-4027-87EB-281BDCB62214}"/>
              </a:ext>
            </a:extLst>
          </p:cNvPr>
          <p:cNvSpPr>
            <a:spLocks xmlns:a="http://schemas.openxmlformats.org/drawingml/2006/main" noGrp="1"/>
          </p:cNvSpPr>
          <p:nvPr/>
        </p:nvSpPr>
        <p:spPr>
          <a:xfrm xmlns:a="http://schemas.openxmlformats.org/drawingml/2006/main">
            <a:off x="5048250" y="3505200"/>
            <a:ext cx="12192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a:solidFill>
                  <a:srgbClr val="5E6470"/>
                </a:solidFill>
                <a:latin typeface="Helvetica Neue"/>
                <a:ea typeface="Helvetica Neue"/>
                <a:cs typeface="Helvetica Neue"/>
              </a:defRPr>
            </a:pPr>
            <a:r>
              <a:rPr sz="1125" b="0">
                <a:solidFill>
                  <a:srgbClr val="5E6470"/>
                </a:solidFill>
                <a:latin typeface="Helvetica Neue"/>
                <a:ea typeface="Helvetica Neue"/>
                <a:cs typeface="Helvetica Neue"/>
              </a:rPr>
              <a:t>Alignment · 1 tool</a:t>
            </a:r>
          </a:p>
        </p:txBody>
      </p:sp>
      <p:sp>
        <p:nvSpPr>
          <p:cNvPr id="24" name="wf-draft-task-bg">
            <a:extLst xmlns:a="http://schemas.openxmlformats.org/drawingml/2006/main">
              <a:ext uri="{FF2B5EF4-FFF2-40B4-BE49-F238E27FC236}">
                <a16:creationId xmlns:a16="http://schemas.microsoft.com/office/drawing/2014/main" id="{4395A687-CCC2-4549-9716-9507A1C020E5}"/>
              </a:ext>
            </a:extLst>
          </p:cNvPr>
          <p:cNvSpPr>
            <a:spLocks xmlns:a="http://schemas.openxmlformats.org/drawingml/2006/main" noGrp="1"/>
          </p:cNvSpPr>
          <p:nvPr/>
        </p:nvSpPr>
        <p:spPr>
          <a:xfrm xmlns:a="http://schemas.openxmlformats.org/drawingml/2006/main">
            <a:off x="7429500" y="3124200"/>
            <a:ext cx="1600200" cy="762000"/>
          </a:xfrm>
          <a:prstGeom xmlns:a="http://schemas.openxmlformats.org/drawingml/2006/main" prst="rect">
            <a:avLst/>
          </a:prstGeom>
          <a:solidFill xmlns:a="http://schemas.openxmlformats.org/drawingml/2006/main">
            <a:srgbClr val="E7F6FD"/>
          </a:solidFill>
          <a:ln xmlns:a="http://schemas.openxmlformats.org/drawingml/2006/main" w="0">
            <a:noFill/>
            <a:prstDash val="solid"/>
          </a:ln>
        </p:spPr>
      </p:sp>
      <p:sp>
        <p:nvSpPr>
          <p:cNvPr id="25" name="wf-draft-task-accent">
            <a:extLst xmlns:a="http://schemas.openxmlformats.org/drawingml/2006/main">
              <a:ext uri="{FF2B5EF4-FFF2-40B4-BE49-F238E27FC236}">
                <a16:creationId xmlns:a16="http://schemas.microsoft.com/office/drawing/2014/main" id="{DE8179E5-8E77-42EE-A036-D4AD742DB260}"/>
              </a:ext>
            </a:extLst>
          </p:cNvPr>
          <p:cNvSpPr>
            <a:spLocks xmlns:a="http://schemas.openxmlformats.org/drawingml/2006/main" noGrp="1"/>
          </p:cNvSpPr>
          <p:nvPr/>
        </p:nvSpPr>
        <p:spPr>
          <a:xfrm xmlns:a="http://schemas.openxmlformats.org/drawingml/2006/main">
            <a:off x="7429500" y="3124200"/>
            <a:ext cx="76200" cy="76200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26" name="wf-draft-task-title">
            <a:extLst xmlns:a="http://schemas.openxmlformats.org/drawingml/2006/main">
              <a:ext uri="{FF2B5EF4-FFF2-40B4-BE49-F238E27FC236}">
                <a16:creationId xmlns:a16="http://schemas.microsoft.com/office/drawing/2014/main" id="{BE0665C4-6D3D-4EC3-B72A-4587CE901880}"/>
              </a:ext>
            </a:extLst>
          </p:cNvPr>
          <p:cNvSpPr>
            <a:spLocks xmlns:a="http://schemas.openxmlformats.org/drawingml/2006/main" noGrp="1"/>
          </p:cNvSpPr>
          <p:nvPr/>
        </p:nvSpPr>
        <p:spPr>
          <a:xfrm xmlns:a="http://schemas.openxmlformats.org/drawingml/2006/main">
            <a:off x="7639050" y="3257550"/>
            <a:ext cx="1238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38" b="1">
                <a:solidFill>
                  <a:srgbClr val="000000"/>
                </a:solidFill>
                <a:latin typeface="Helvetica Neue"/>
                <a:ea typeface="Helvetica Neue"/>
                <a:cs typeface="Helvetica Neue"/>
              </a:defRPr>
            </a:pPr>
            <a:r>
              <a:rPr sz="1238" b="1">
                <a:solidFill>
                  <a:srgbClr val="000000"/>
                </a:solidFill>
                <a:latin typeface="Helvetica Neue"/>
                <a:ea typeface="Helvetica Neue"/>
                <a:cs typeface="Helvetica Neue"/>
              </a:rPr>
              <a:t>Draft Task</a:t>
            </a:r>
          </a:p>
        </p:txBody>
      </p:sp>
      <p:sp>
        <p:nvSpPr>
          <p:cNvPr id="27" name="wf-draft-task-body">
            <a:extLst xmlns:a="http://schemas.openxmlformats.org/drawingml/2006/main">
              <a:ext uri="{FF2B5EF4-FFF2-40B4-BE49-F238E27FC236}">
                <a16:creationId xmlns:a16="http://schemas.microsoft.com/office/drawing/2014/main" id="{CC325957-8A67-4AD9-ABE9-AE4FFFC163A5}"/>
              </a:ext>
            </a:extLst>
          </p:cNvPr>
          <p:cNvSpPr>
            <a:spLocks xmlns:a="http://schemas.openxmlformats.org/drawingml/2006/main" noGrp="1"/>
          </p:cNvSpPr>
          <p:nvPr/>
        </p:nvSpPr>
        <p:spPr>
          <a:xfrm xmlns:a="http://schemas.openxmlformats.org/drawingml/2006/main">
            <a:off x="7639050" y="3505200"/>
            <a:ext cx="12192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a:solidFill>
                  <a:srgbClr val="5E6470"/>
                </a:solidFill>
                <a:latin typeface="Helvetica Neue"/>
                <a:ea typeface="Helvetica Neue"/>
                <a:cs typeface="Helvetica Neue"/>
              </a:defRPr>
            </a:pPr>
            <a:r>
              <a:rPr sz="1125" b="0">
                <a:solidFill>
                  <a:srgbClr val="5E6470"/>
                </a:solidFill>
                <a:latin typeface="Helvetica Neue"/>
                <a:ea typeface="Helvetica Neue"/>
                <a:cs typeface="Helvetica Neue"/>
              </a:rPr>
              <a:t>0 tools · one Task</a:t>
            </a:r>
          </a:p>
        </p:txBody>
      </p:sp>
      <p:sp>
        <p:nvSpPr>
          <p:cNvPr id="28" name="wf-draft-focus-bg">
            <a:extLst xmlns:a="http://schemas.openxmlformats.org/drawingml/2006/main">
              <a:ext uri="{FF2B5EF4-FFF2-40B4-BE49-F238E27FC236}">
                <a16:creationId xmlns:a16="http://schemas.microsoft.com/office/drawing/2014/main" id="{F8AE92BB-7CB9-4CFD-B157-408A0FE02512}"/>
              </a:ext>
            </a:extLst>
          </p:cNvPr>
          <p:cNvSpPr>
            <a:spLocks xmlns:a="http://schemas.openxmlformats.org/drawingml/2006/main" noGrp="1"/>
          </p:cNvSpPr>
          <p:nvPr/>
        </p:nvSpPr>
        <p:spPr>
          <a:xfrm xmlns:a="http://schemas.openxmlformats.org/drawingml/2006/main">
            <a:off x="9867900" y="3124200"/>
            <a:ext cx="1600200" cy="762000"/>
          </a:xfrm>
          <a:prstGeom xmlns:a="http://schemas.openxmlformats.org/drawingml/2006/main" prst="rect">
            <a:avLst/>
          </a:prstGeom>
          <a:solidFill xmlns:a="http://schemas.openxmlformats.org/drawingml/2006/main">
            <a:srgbClr val="E7F6FD"/>
          </a:solidFill>
          <a:ln xmlns:a="http://schemas.openxmlformats.org/drawingml/2006/main" w="0">
            <a:noFill/>
            <a:prstDash val="solid"/>
          </a:ln>
        </p:spPr>
      </p:sp>
      <p:sp>
        <p:nvSpPr>
          <p:cNvPr id="29" name="wf-draft-focus-accent">
            <a:extLst xmlns:a="http://schemas.openxmlformats.org/drawingml/2006/main">
              <a:ext uri="{FF2B5EF4-FFF2-40B4-BE49-F238E27FC236}">
                <a16:creationId xmlns:a16="http://schemas.microsoft.com/office/drawing/2014/main" id="{568E9936-14C8-4D03-9475-A3D887EAD744}"/>
              </a:ext>
            </a:extLst>
          </p:cNvPr>
          <p:cNvSpPr>
            <a:spLocks xmlns:a="http://schemas.openxmlformats.org/drawingml/2006/main" noGrp="1"/>
          </p:cNvSpPr>
          <p:nvPr/>
        </p:nvSpPr>
        <p:spPr>
          <a:xfrm xmlns:a="http://schemas.openxmlformats.org/drawingml/2006/main">
            <a:off x="9867900" y="3124200"/>
            <a:ext cx="76200" cy="76200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30" name="wf-draft-focus-title">
            <a:extLst xmlns:a="http://schemas.openxmlformats.org/drawingml/2006/main">
              <a:ext uri="{FF2B5EF4-FFF2-40B4-BE49-F238E27FC236}">
                <a16:creationId xmlns:a16="http://schemas.microsoft.com/office/drawing/2014/main" id="{5B77135C-7FA8-4094-B862-20BBC04EE19A}"/>
              </a:ext>
            </a:extLst>
          </p:cNvPr>
          <p:cNvSpPr>
            <a:spLocks xmlns:a="http://schemas.openxmlformats.org/drawingml/2006/main" noGrp="1"/>
          </p:cNvSpPr>
          <p:nvPr/>
        </p:nvSpPr>
        <p:spPr>
          <a:xfrm xmlns:a="http://schemas.openxmlformats.org/drawingml/2006/main">
            <a:off x="10077450" y="3257550"/>
            <a:ext cx="1238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38" b="1">
                <a:solidFill>
                  <a:srgbClr val="000000"/>
                </a:solidFill>
                <a:latin typeface="Helvetica Neue"/>
                <a:ea typeface="Helvetica Neue"/>
                <a:cs typeface="Helvetica Neue"/>
              </a:defRPr>
            </a:pPr>
            <a:r>
              <a:rPr sz="1238" b="1">
                <a:solidFill>
                  <a:srgbClr val="000000"/>
                </a:solidFill>
                <a:latin typeface="Helvetica Neue"/>
                <a:ea typeface="Helvetica Neue"/>
                <a:cs typeface="Helvetica Neue"/>
              </a:rPr>
              <a:t>Draft Focus</a:t>
            </a:r>
          </a:p>
        </p:txBody>
      </p:sp>
      <p:sp>
        <p:nvSpPr>
          <p:cNvPr id="31" name="wf-draft-focus-body">
            <a:extLst xmlns:a="http://schemas.openxmlformats.org/drawingml/2006/main">
              <a:ext uri="{FF2B5EF4-FFF2-40B4-BE49-F238E27FC236}">
                <a16:creationId xmlns:a16="http://schemas.microsoft.com/office/drawing/2014/main" id="{180D70FD-7F4C-46B6-B040-65548AC0015F}"/>
              </a:ext>
            </a:extLst>
          </p:cNvPr>
          <p:cNvSpPr>
            <a:spLocks xmlns:a="http://schemas.openxmlformats.org/drawingml/2006/main" noGrp="1"/>
          </p:cNvSpPr>
          <p:nvPr/>
        </p:nvSpPr>
        <p:spPr>
          <a:xfrm xmlns:a="http://schemas.openxmlformats.org/drawingml/2006/main">
            <a:off x="10077450" y="3505200"/>
            <a:ext cx="12192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a:solidFill>
                  <a:srgbClr val="5E6470"/>
                </a:solidFill>
                <a:latin typeface="Helvetica Neue"/>
                <a:ea typeface="Helvetica Neue"/>
                <a:cs typeface="Helvetica Neue"/>
              </a:defRPr>
            </a:pPr>
            <a:r>
              <a:rPr sz="1125" b="0">
                <a:solidFill>
                  <a:srgbClr val="5E6470"/>
                </a:solidFill>
                <a:latin typeface="Helvetica Neue"/>
                <a:ea typeface="Helvetica Neue"/>
                <a:cs typeface="Helvetica Neue"/>
              </a:rPr>
              <a:t>Daily Plan tools</a:t>
            </a:r>
          </a:p>
        </p:txBody>
      </p:sp>
      <p:sp>
        <p:nvSpPr>
          <p:cNvPr id="32" name="wf-clarify-bg">
            <a:extLst xmlns:a="http://schemas.openxmlformats.org/drawingml/2006/main">
              <a:ext uri="{FF2B5EF4-FFF2-40B4-BE49-F238E27FC236}">
                <a16:creationId xmlns:a16="http://schemas.microsoft.com/office/drawing/2014/main" id="{A7E2DA0A-1A62-4DF0-B214-DF49E9FA38D4}"/>
              </a:ext>
            </a:extLst>
          </p:cNvPr>
          <p:cNvSpPr>
            <a:spLocks xmlns:a="http://schemas.openxmlformats.org/drawingml/2006/main" noGrp="1"/>
          </p:cNvSpPr>
          <p:nvPr/>
        </p:nvSpPr>
        <p:spPr>
          <a:xfrm xmlns:a="http://schemas.openxmlformats.org/drawingml/2006/main">
            <a:off x="4838700" y="4514850"/>
            <a:ext cx="1600200" cy="781050"/>
          </a:xfrm>
          <a:prstGeom xmlns:a="http://schemas.openxmlformats.org/drawingml/2006/main" prst="rect">
            <a:avLst/>
          </a:prstGeom>
          <a:solidFill xmlns:a="http://schemas.openxmlformats.org/drawingml/2006/main">
            <a:srgbClr val="F6F7F8"/>
          </a:solidFill>
          <a:ln xmlns:a="http://schemas.openxmlformats.org/drawingml/2006/main" w="0">
            <a:noFill/>
            <a:prstDash val="solid"/>
          </a:ln>
        </p:spPr>
      </p:sp>
      <p:sp>
        <p:nvSpPr>
          <p:cNvPr id="33" name="wf-clarify-title">
            <a:extLst xmlns:a="http://schemas.openxmlformats.org/drawingml/2006/main">
              <a:ext uri="{FF2B5EF4-FFF2-40B4-BE49-F238E27FC236}">
                <a16:creationId xmlns:a16="http://schemas.microsoft.com/office/drawing/2014/main" id="{304B4D1A-2506-473C-B4D7-DA3566380D8D}"/>
              </a:ext>
            </a:extLst>
          </p:cNvPr>
          <p:cNvSpPr>
            <a:spLocks xmlns:a="http://schemas.openxmlformats.org/drawingml/2006/main" noGrp="1"/>
          </p:cNvSpPr>
          <p:nvPr/>
        </p:nvSpPr>
        <p:spPr>
          <a:xfrm xmlns:a="http://schemas.openxmlformats.org/drawingml/2006/main">
            <a:off x="5048250" y="4648200"/>
            <a:ext cx="1238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38" b="1">
                <a:solidFill>
                  <a:srgbClr val="000000"/>
                </a:solidFill>
                <a:latin typeface="Helvetica Neue"/>
                <a:ea typeface="Helvetica Neue"/>
                <a:cs typeface="Helvetica Neue"/>
              </a:defRPr>
            </a:pPr>
            <a:r>
              <a:rPr sz="1238" b="1">
                <a:solidFill>
                  <a:srgbClr val="000000"/>
                </a:solidFill>
                <a:latin typeface="Helvetica Neue"/>
                <a:ea typeface="Helvetica Neue"/>
                <a:cs typeface="Helvetica Neue"/>
              </a:rPr>
              <a:t>Clarify</a:t>
            </a:r>
          </a:p>
        </p:txBody>
      </p:sp>
      <p:sp>
        <p:nvSpPr>
          <p:cNvPr id="34" name="wf-clarify-body">
            <a:extLst xmlns:a="http://schemas.openxmlformats.org/drawingml/2006/main">
              <a:ext uri="{FF2B5EF4-FFF2-40B4-BE49-F238E27FC236}">
                <a16:creationId xmlns:a16="http://schemas.microsoft.com/office/drawing/2014/main" id="{34D3B6FD-25F2-423C-A76C-E520B245252E}"/>
              </a:ext>
            </a:extLst>
          </p:cNvPr>
          <p:cNvSpPr>
            <a:spLocks xmlns:a="http://schemas.openxmlformats.org/drawingml/2006/main" noGrp="1"/>
          </p:cNvSpPr>
          <p:nvPr/>
        </p:nvSpPr>
        <p:spPr>
          <a:xfrm xmlns:a="http://schemas.openxmlformats.org/drawingml/2006/main">
            <a:off x="5048250" y="4895850"/>
            <a:ext cx="1219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a:solidFill>
                  <a:srgbClr val="5E6470"/>
                </a:solidFill>
                <a:latin typeface="Helvetica Neue"/>
                <a:ea typeface="Helvetica Neue"/>
                <a:cs typeface="Helvetica Neue"/>
              </a:defRPr>
            </a:pPr>
            <a:r>
              <a:rPr sz="1125" b="0">
                <a:solidFill>
                  <a:srgbClr val="5E6470"/>
                </a:solidFill>
                <a:latin typeface="Helvetica Neue"/>
                <a:ea typeface="Helvetica Neue"/>
                <a:cs typeface="Helvetica Neue"/>
              </a:rPr>
              <a:t>Wait for 1 answer</a:t>
            </a:r>
          </a:p>
        </p:txBody>
      </p:sp>
      <p:sp>
        <p:nvSpPr>
          <p:cNvPr id="35" name="wf-task-confirm-bg">
            <a:extLst xmlns:a="http://schemas.openxmlformats.org/drawingml/2006/main">
              <a:ext uri="{FF2B5EF4-FFF2-40B4-BE49-F238E27FC236}">
                <a16:creationId xmlns:a16="http://schemas.microsoft.com/office/drawing/2014/main" id="{FB671BBD-6B37-4784-B988-9D5E644545EE}"/>
              </a:ext>
            </a:extLst>
          </p:cNvPr>
          <p:cNvSpPr>
            <a:spLocks xmlns:a="http://schemas.openxmlformats.org/drawingml/2006/main" noGrp="1"/>
          </p:cNvSpPr>
          <p:nvPr/>
        </p:nvSpPr>
        <p:spPr>
          <a:xfrm xmlns:a="http://schemas.openxmlformats.org/drawingml/2006/main">
            <a:off x="7429500" y="4514850"/>
            <a:ext cx="1600200" cy="781050"/>
          </a:xfrm>
          <a:prstGeom xmlns:a="http://schemas.openxmlformats.org/drawingml/2006/main" prst="rect">
            <a:avLst/>
          </a:prstGeom>
          <a:solidFill xmlns:a="http://schemas.openxmlformats.org/drawingml/2006/main">
            <a:srgbClr val="F6F7F8"/>
          </a:solidFill>
          <a:ln xmlns:a="http://schemas.openxmlformats.org/drawingml/2006/main" w="0">
            <a:noFill/>
            <a:prstDash val="solid"/>
          </a:ln>
        </p:spPr>
      </p:sp>
      <p:sp>
        <p:nvSpPr>
          <p:cNvPr id="36" name="wf-task-confirm-title">
            <a:extLst xmlns:a="http://schemas.openxmlformats.org/drawingml/2006/main">
              <a:ext uri="{FF2B5EF4-FFF2-40B4-BE49-F238E27FC236}">
                <a16:creationId xmlns:a16="http://schemas.microsoft.com/office/drawing/2014/main" id="{5F94633E-BDD4-4DFE-9EC4-ECA4BC51D8B2}"/>
              </a:ext>
            </a:extLst>
          </p:cNvPr>
          <p:cNvSpPr>
            <a:spLocks xmlns:a="http://schemas.openxmlformats.org/drawingml/2006/main" noGrp="1"/>
          </p:cNvSpPr>
          <p:nvPr/>
        </p:nvSpPr>
        <p:spPr>
          <a:xfrm xmlns:a="http://schemas.openxmlformats.org/drawingml/2006/main">
            <a:off x="7639050" y="4648200"/>
            <a:ext cx="1238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38" b="1">
                <a:solidFill>
                  <a:srgbClr val="000000"/>
                </a:solidFill>
                <a:latin typeface="Helvetica Neue"/>
                <a:ea typeface="Helvetica Neue"/>
                <a:cs typeface="Helvetica Neue"/>
              </a:defRPr>
            </a:pPr>
            <a:r>
              <a:rPr sz="1238" b="1">
                <a:solidFill>
                  <a:srgbClr val="000000"/>
                </a:solidFill>
                <a:latin typeface="Helvetica Neue"/>
                <a:ea typeface="Helvetica Neue"/>
                <a:cs typeface="Helvetica Neue"/>
              </a:rPr>
              <a:t>Task preview</a:t>
            </a:r>
          </a:p>
        </p:txBody>
      </p:sp>
      <p:sp>
        <p:nvSpPr>
          <p:cNvPr id="37" name="wf-task-confirm-body">
            <a:extLst xmlns:a="http://schemas.openxmlformats.org/drawingml/2006/main">
              <a:ext uri="{FF2B5EF4-FFF2-40B4-BE49-F238E27FC236}">
                <a16:creationId xmlns:a16="http://schemas.microsoft.com/office/drawing/2014/main" id="{03462903-1539-48F1-A3EA-2BEE6F5A90D0}"/>
              </a:ext>
            </a:extLst>
          </p:cNvPr>
          <p:cNvSpPr>
            <a:spLocks xmlns:a="http://schemas.openxmlformats.org/drawingml/2006/main" noGrp="1"/>
          </p:cNvSpPr>
          <p:nvPr/>
        </p:nvSpPr>
        <p:spPr>
          <a:xfrm xmlns:a="http://schemas.openxmlformats.org/drawingml/2006/main">
            <a:off x="7639050" y="4895850"/>
            <a:ext cx="1219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a:solidFill>
                  <a:srgbClr val="5E6470"/>
                </a:solidFill>
                <a:latin typeface="Helvetica Neue"/>
                <a:ea typeface="Helvetica Neue"/>
                <a:cs typeface="Helvetica Neue"/>
              </a:defRPr>
            </a:pPr>
            <a:r>
              <a:rPr sz="1125" b="0">
                <a:solidFill>
                  <a:srgbClr val="5E6470"/>
                </a:solidFill>
                <a:latin typeface="Helvetica Neue"/>
                <a:ea typeface="Helvetica Neue"/>
                <a:cs typeface="Helvetica Neue"/>
              </a:rPr>
              <a:t>Confirm or decline</a:t>
            </a:r>
          </a:p>
        </p:txBody>
      </p:sp>
      <p:sp>
        <p:nvSpPr>
          <p:cNvPr id="38" name="wf-focus-confirm-bg">
            <a:extLst xmlns:a="http://schemas.openxmlformats.org/drawingml/2006/main">
              <a:ext uri="{FF2B5EF4-FFF2-40B4-BE49-F238E27FC236}">
                <a16:creationId xmlns:a16="http://schemas.microsoft.com/office/drawing/2014/main" id="{9A4C358B-BF69-4CAC-B604-9CE4C2FB09AA}"/>
              </a:ext>
            </a:extLst>
          </p:cNvPr>
          <p:cNvSpPr>
            <a:spLocks xmlns:a="http://schemas.openxmlformats.org/drawingml/2006/main" noGrp="1"/>
          </p:cNvSpPr>
          <p:nvPr/>
        </p:nvSpPr>
        <p:spPr>
          <a:xfrm xmlns:a="http://schemas.openxmlformats.org/drawingml/2006/main">
            <a:off x="9867900" y="4514850"/>
            <a:ext cx="1600200" cy="781050"/>
          </a:xfrm>
          <a:prstGeom xmlns:a="http://schemas.openxmlformats.org/drawingml/2006/main" prst="rect">
            <a:avLst/>
          </a:prstGeom>
          <a:solidFill xmlns:a="http://schemas.openxmlformats.org/drawingml/2006/main">
            <a:srgbClr val="F6F7F8"/>
          </a:solidFill>
          <a:ln xmlns:a="http://schemas.openxmlformats.org/drawingml/2006/main" w="0">
            <a:noFill/>
            <a:prstDash val="solid"/>
          </a:ln>
        </p:spPr>
      </p:sp>
      <p:sp>
        <p:nvSpPr>
          <p:cNvPr id="39" name="wf-focus-confirm-title">
            <a:extLst xmlns:a="http://schemas.openxmlformats.org/drawingml/2006/main">
              <a:ext uri="{FF2B5EF4-FFF2-40B4-BE49-F238E27FC236}">
                <a16:creationId xmlns:a16="http://schemas.microsoft.com/office/drawing/2014/main" id="{D4729445-CE27-4C3D-856A-561EBCF1BEC2}"/>
              </a:ext>
            </a:extLst>
          </p:cNvPr>
          <p:cNvSpPr>
            <a:spLocks xmlns:a="http://schemas.openxmlformats.org/drawingml/2006/main" noGrp="1"/>
          </p:cNvSpPr>
          <p:nvPr/>
        </p:nvSpPr>
        <p:spPr>
          <a:xfrm xmlns:a="http://schemas.openxmlformats.org/drawingml/2006/main">
            <a:off x="10077450" y="4648200"/>
            <a:ext cx="1238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38" b="1">
                <a:solidFill>
                  <a:srgbClr val="000000"/>
                </a:solidFill>
                <a:latin typeface="Helvetica Neue"/>
                <a:ea typeface="Helvetica Neue"/>
                <a:cs typeface="Helvetica Neue"/>
              </a:defRPr>
            </a:pPr>
            <a:r>
              <a:rPr sz="1238" b="1">
                <a:solidFill>
                  <a:srgbClr val="000000"/>
                </a:solidFill>
                <a:latin typeface="Helvetica Neue"/>
                <a:ea typeface="Helvetica Neue"/>
                <a:cs typeface="Helvetica Neue"/>
              </a:rPr>
              <a:t>Focus preview</a:t>
            </a:r>
          </a:p>
        </p:txBody>
      </p:sp>
      <p:sp>
        <p:nvSpPr>
          <p:cNvPr id="40" name="wf-focus-confirm-body">
            <a:extLst xmlns:a="http://schemas.openxmlformats.org/drawingml/2006/main">
              <a:ext uri="{FF2B5EF4-FFF2-40B4-BE49-F238E27FC236}">
                <a16:creationId xmlns:a16="http://schemas.microsoft.com/office/drawing/2014/main" id="{707416F3-C689-4031-9992-905C4DB64C4A}"/>
              </a:ext>
            </a:extLst>
          </p:cNvPr>
          <p:cNvSpPr>
            <a:spLocks xmlns:a="http://schemas.openxmlformats.org/drawingml/2006/main" noGrp="1"/>
          </p:cNvSpPr>
          <p:nvPr/>
        </p:nvSpPr>
        <p:spPr>
          <a:xfrm xmlns:a="http://schemas.openxmlformats.org/drawingml/2006/main">
            <a:off x="10077450" y="4895850"/>
            <a:ext cx="1219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a:solidFill>
                  <a:srgbClr val="5E6470"/>
                </a:solidFill>
                <a:latin typeface="Helvetica Neue"/>
                <a:ea typeface="Helvetica Neue"/>
                <a:cs typeface="Helvetica Neue"/>
              </a:defRPr>
            </a:pPr>
            <a:r>
              <a:rPr sz="1125" b="0">
                <a:solidFill>
                  <a:srgbClr val="5E6470"/>
                </a:solidFill>
                <a:latin typeface="Helvetica Neue"/>
                <a:ea typeface="Helvetica Neue"/>
                <a:cs typeface="Helvetica Neue"/>
              </a:rPr>
              <a:t>Confirm or decline</a:t>
            </a:r>
          </a:p>
        </p:txBody>
      </p:sp>
      <p:sp>
        <p:nvSpPr>
          <p:cNvPr id="41" name="wf-rule">
            <a:extLst xmlns:a="http://schemas.openxmlformats.org/drawingml/2006/main">
              <a:ext uri="{FF2B5EF4-FFF2-40B4-BE49-F238E27FC236}">
                <a16:creationId xmlns:a16="http://schemas.microsoft.com/office/drawing/2014/main" id="{1E620A54-DEAB-408E-A7B8-9BA27DABA707}"/>
              </a:ext>
            </a:extLst>
          </p:cNvPr>
          <p:cNvSpPr>
            <a:spLocks xmlns:a="http://schemas.openxmlformats.org/drawingml/2006/main" noGrp="1"/>
          </p:cNvSpPr>
          <p:nvPr/>
        </p:nvSpPr>
        <p:spPr>
          <a:xfrm xmlns:a="http://schemas.openxmlformats.org/drawingml/2006/main">
            <a:off x="2266950" y="5657850"/>
            <a:ext cx="92011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8606"/>
          </a:bodyPr>
          <a:lstStyle xmlns:a="http://schemas.openxmlformats.org/drawingml/2006/main"/>
          <a:p xmlns:a="http://schemas.openxmlformats.org/drawingml/2006/main">
            <a:pPr algn="l">
              <a:defRPr sz="1800" b="1">
                <a:solidFill>
                  <a:srgbClr val="000000"/>
                </a:solidFill>
                <a:latin typeface="Helvetica Neue"/>
                <a:ea typeface="Helvetica Neue"/>
                <a:cs typeface="Helvetica Neue"/>
              </a:defRPr>
            </a:pPr>
            <a:r>
              <a:rPr sz="1800" b="1">
                <a:solidFill>
                  <a:srgbClr val="000000"/>
                </a:solidFill>
                <a:latin typeface="Helvetica Neue"/>
                <a:ea typeface="Helvetica Neue"/>
                <a:cs typeface="Helvetica Neue"/>
              </a:rPr>
              <a:t>Each model run gets one job, one tool allowlist, one schema, and its own turn budget.</a:t>
            </a:r>
          </a:p>
        </p:txBody>
      </p:sp>
    </p:spTree>
    <p:extLst>
      <p:ext uri="{BB962C8B-B14F-4D97-AF65-F5344CB8AC3E}">
        <p14:creationId xmlns:p14="http://schemas.microsoft.com/office/powerpoint/2010/main" val="2057455502"/>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eyebrow-9">
            <a:extLst xmlns:a="http://schemas.openxmlformats.org/drawingml/2006/main">
              <a:ext uri="{FF2B5EF4-FFF2-40B4-BE49-F238E27FC236}">
                <a16:creationId xmlns:a16="http://schemas.microsoft.com/office/drawing/2014/main" id="{44F83783-2EBC-4FA1-A177-F496C07AF25A}"/>
              </a:ext>
            </a:extLst>
          </p:cNvPr>
          <p:cNvSpPr>
            <a:spLocks xmlns:a="http://schemas.openxmlformats.org/drawingml/2006/main" noGrp="1"/>
          </p:cNvSpPr>
          <p:nvPr/>
        </p:nvSpPr>
        <p:spPr>
          <a:xfrm xmlns:a="http://schemas.openxmlformats.org/drawingml/2006/main">
            <a:off x="495300" y="32385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1">
                <a:solidFill>
                  <a:srgbClr val="5E6470"/>
                </a:solidFill>
                <a:latin typeface="Helvetica Neue"/>
                <a:ea typeface="Helvetica Neue"/>
                <a:cs typeface="Helvetica Neue"/>
              </a:defRPr>
            </a:pPr>
            <a:r>
              <a:rPr sz="1350" b="1">
                <a:solidFill>
                  <a:srgbClr val="5E6470"/>
                </a:solidFill>
                <a:latin typeface="Helvetica Neue"/>
                <a:ea typeface="Helvetica Neue"/>
                <a:cs typeface="Helvetica Neue"/>
              </a:rPr>
              <a:t>HEALTHYFLOW · TALK</a:t>
            </a:r>
          </a:p>
        </p:txBody>
      </p:sp>
      <p:sp>
        <p:nvSpPr>
          <p:cNvPr id="2" name="title-9">
            <a:extLst xmlns:a="http://schemas.openxmlformats.org/drawingml/2006/main">
              <a:ext uri="{FF2B5EF4-FFF2-40B4-BE49-F238E27FC236}">
                <a16:creationId xmlns:a16="http://schemas.microsoft.com/office/drawing/2014/main" id="{3FF25379-114C-4459-860A-84F45993CDEA}"/>
              </a:ext>
            </a:extLst>
          </p:cNvPr>
          <p:cNvSpPr>
            <a:spLocks xmlns:a="http://schemas.openxmlformats.org/drawingml/2006/main" noGrp="1"/>
          </p:cNvSpPr>
          <p:nvPr/>
        </p:nvSpPr>
        <p:spPr>
          <a:xfrm xmlns:a="http://schemas.openxmlformats.org/drawingml/2006/main">
            <a:off x="495300" y="72390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8305"/>
          </a:bodyPr>
          <a:lstStyle xmlns:a="http://schemas.openxmlformats.org/drawingml/2006/main"/>
          <a:p xmlns:a="http://schemas.openxmlformats.org/drawingml/2006/main">
            <a:pPr algn="l">
              <a:defRPr sz="3600" b="1">
                <a:solidFill>
                  <a:srgbClr val="000000"/>
                </a:solidFill>
                <a:latin typeface="Helvetica Neue"/>
                <a:ea typeface="Helvetica Neue"/>
                <a:cs typeface="Helvetica Neue"/>
              </a:defRPr>
            </a:pPr>
            <a:r>
              <a:rPr sz="3600" b="1">
                <a:solidFill>
                  <a:srgbClr val="000000"/>
                </a:solidFill>
                <a:latin typeface="Helvetica Neue"/>
                <a:ea typeface="Helvetica Neue"/>
                <a:cs typeface="Helvetica Neue"/>
              </a:rPr>
              <a:t>Attachments, speech, and recovery wrap the core</a:t>
            </a:r>
          </a:p>
        </p:txBody>
      </p:sp>
      <p:sp>
        <p:nvSpPr>
          <p:cNvPr id="3" name="page-9">
            <a:extLst xmlns:a="http://schemas.openxmlformats.org/drawingml/2006/main">
              <a:ext uri="{FF2B5EF4-FFF2-40B4-BE49-F238E27FC236}">
                <a16:creationId xmlns:a16="http://schemas.microsoft.com/office/drawing/2014/main" id="{FCC52E9A-0444-4323-9BFA-FC28188D8C5E}"/>
              </a:ext>
            </a:extLst>
          </p:cNvPr>
          <p:cNvSpPr>
            <a:spLocks xmlns:a="http://schemas.openxmlformats.org/drawingml/2006/main" noGrp="1"/>
          </p:cNvSpPr>
          <p:nvPr/>
        </p:nvSpPr>
        <p:spPr>
          <a:xfrm xmlns:a="http://schemas.openxmlformats.org/drawingml/2006/main">
            <a:off x="11277600" y="626745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E6470"/>
                </a:solidFill>
                <a:latin typeface="Helvetica Neue"/>
                <a:ea typeface="Helvetica Neue"/>
                <a:cs typeface="Helvetica Neue"/>
              </a:defRPr>
            </a:pPr>
            <a:r>
              <a:rPr sz="1125" b="0">
                <a:solidFill>
                  <a:srgbClr val="5E6470"/>
                </a:solidFill>
                <a:latin typeface="Helvetica Neue"/>
                <a:ea typeface="Helvetica Neue"/>
                <a:cs typeface="Helvetica Neue"/>
              </a:rPr>
              <a:t>09</a:t>
            </a:r>
          </a:p>
        </p:txBody>
      </p:sp>
      <p:cxnSp>
        <p:nvCxnSpPr>
          <p:cNvPr id="20" name="edge-v1"/>
          <p:cNvCxnSpPr/>
          <p:nvPr/>
        </p:nvCxnSpPr>
        <p:spPr>
          <a:xfrm xmlns:a="http://schemas.openxmlformats.org/drawingml/2006/main">
            <a:off x="4076700" y="1809750"/>
            <a:ext cx="0" cy="3886200"/>
          </a:xfrm>
          <a:prstGeom xmlns:a="http://schemas.openxmlformats.org/drawingml/2006/main" prst="straightConnector1">
            <a:avLst/>
          </a:prstGeom>
          <a:ln xmlns:a="http://schemas.openxmlformats.org/drawingml/2006/main" w="19050">
            <a:solidFill>
              <a:srgbClr val="B8BCC4"/>
            </a:solidFill>
            <a:prstDash val="solid"/>
          </a:ln>
        </p:spPr>
      </p:cxnSp>
      <p:cxnSp>
        <p:nvCxnSpPr>
          <p:cNvPr id="21" name="edge-v2"/>
          <p:cNvCxnSpPr/>
          <p:nvPr/>
        </p:nvCxnSpPr>
        <p:spPr>
          <a:xfrm xmlns:a="http://schemas.openxmlformats.org/drawingml/2006/main">
            <a:off x="8020050" y="1809750"/>
            <a:ext cx="0" cy="3886200"/>
          </a:xfrm>
          <a:prstGeom xmlns:a="http://schemas.openxmlformats.org/drawingml/2006/main" prst="straightConnector1">
            <a:avLst/>
          </a:prstGeom>
          <a:ln xmlns:a="http://schemas.openxmlformats.org/drawingml/2006/main" w="19050">
            <a:solidFill>
              <a:srgbClr val="B8BCC4"/>
            </a:solidFill>
            <a:prstDash val="solid"/>
          </a:ln>
        </p:spPr>
      </p:cxnSp>
      <p:sp>
        <p:nvSpPr>
          <p:cNvPr id="6" name="edge-input-index">
            <a:extLst xmlns:a="http://schemas.openxmlformats.org/drawingml/2006/main">
              <a:ext uri="{FF2B5EF4-FFF2-40B4-BE49-F238E27FC236}">
                <a16:creationId xmlns:a16="http://schemas.microsoft.com/office/drawing/2014/main" id="{EEEBBDB0-B723-4FC6-A247-97E4F9C7CC6A}"/>
              </a:ext>
            </a:extLst>
          </p:cNvPr>
          <p:cNvSpPr>
            <a:spLocks xmlns:a="http://schemas.openxmlformats.org/drawingml/2006/main" noGrp="1"/>
          </p:cNvSpPr>
          <p:nvPr/>
        </p:nvSpPr>
        <p:spPr>
          <a:xfrm xmlns:a="http://schemas.openxmlformats.org/drawingml/2006/main">
            <a:off x="514350" y="1885950"/>
            <a:ext cx="666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0909"/>
          </a:bodyPr>
          <a:lstStyle xmlns:a="http://schemas.openxmlformats.org/drawingml/2006/main"/>
          <a:p xmlns:a="http://schemas.openxmlformats.org/drawingml/2006/main">
            <a:pPr algn="l">
              <a:defRPr sz="3300" b="1">
                <a:solidFill>
                  <a:srgbClr val="3D8DFF"/>
                </a:solidFill>
                <a:latin typeface="Helvetica Neue"/>
                <a:ea typeface="Helvetica Neue"/>
                <a:cs typeface="Helvetica Neue"/>
              </a:defRPr>
            </a:pPr>
            <a:r>
              <a:rPr sz="3300" b="1">
                <a:solidFill>
                  <a:srgbClr val="3D8DFF"/>
                </a:solidFill>
                <a:latin typeface="Helvetica Neue"/>
                <a:ea typeface="Helvetica Neue"/>
                <a:cs typeface="Helvetica Neue"/>
              </a:rPr>
              <a:t>01</a:t>
            </a:r>
          </a:p>
        </p:txBody>
      </p:sp>
      <p:sp>
        <p:nvSpPr>
          <p:cNvPr id="7" name="edge-input-title">
            <a:extLst xmlns:a="http://schemas.openxmlformats.org/drawingml/2006/main">
              <a:ext uri="{FF2B5EF4-FFF2-40B4-BE49-F238E27FC236}">
                <a16:creationId xmlns:a16="http://schemas.microsoft.com/office/drawing/2014/main" id="{E0F84F12-F470-4822-BA73-BCC9F76D3AD2}"/>
              </a:ext>
            </a:extLst>
          </p:cNvPr>
          <p:cNvSpPr>
            <a:spLocks xmlns:a="http://schemas.openxmlformats.org/drawingml/2006/main" noGrp="1"/>
          </p:cNvSpPr>
          <p:nvPr/>
        </p:nvSpPr>
        <p:spPr>
          <a:xfrm xmlns:a="http://schemas.openxmlformats.org/drawingml/2006/main">
            <a:off x="514350" y="2514600"/>
            <a:ext cx="3143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400" b="1">
                <a:solidFill>
                  <a:srgbClr val="000000"/>
                </a:solidFill>
                <a:latin typeface="Helvetica Neue"/>
                <a:ea typeface="Helvetica Neue"/>
                <a:cs typeface="Helvetica Neue"/>
              </a:defRPr>
            </a:pPr>
            <a:r>
              <a:rPr sz="2400" b="1">
                <a:solidFill>
                  <a:srgbClr val="000000"/>
                </a:solidFill>
                <a:latin typeface="Helvetica Neue"/>
                <a:ea typeface="Helvetica Neue"/>
                <a:cs typeface="Helvetica Neue"/>
              </a:rPr>
              <a:t>Input edge</a:t>
            </a:r>
          </a:p>
        </p:txBody>
      </p:sp>
      <p:sp>
        <p:nvSpPr>
          <p:cNvPr id="8" name="edge-input-body">
            <a:extLst xmlns:a="http://schemas.openxmlformats.org/drawingml/2006/main">
              <a:ext uri="{FF2B5EF4-FFF2-40B4-BE49-F238E27FC236}">
                <a16:creationId xmlns:a16="http://schemas.microsoft.com/office/drawing/2014/main" id="{180E375D-E3A9-467D-82DF-3453DB7E41DF}"/>
              </a:ext>
            </a:extLst>
          </p:cNvPr>
          <p:cNvSpPr>
            <a:spLocks xmlns:a="http://schemas.openxmlformats.org/drawingml/2006/main" noGrp="1"/>
          </p:cNvSpPr>
          <p:nvPr/>
        </p:nvSpPr>
        <p:spPr>
          <a:xfrm xmlns:a="http://schemas.openxmlformats.org/drawingml/2006/main">
            <a:off x="514350" y="3162300"/>
            <a:ext cx="3143250" cy="2038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0">
                <a:solidFill>
                  <a:srgbClr val="5E6470"/>
                </a:solidFill>
                <a:latin typeface="Helvetica Neue"/>
                <a:ea typeface="Helvetica Neue"/>
                <a:cs typeface="Helvetica Neue"/>
              </a:defRPr>
            </a:pPr>
            <a:r>
              <a:rPr sz="1575" b="0">
                <a:solidFill>
                  <a:srgbClr val="5E6470"/>
                </a:solidFill>
                <a:latin typeface="Helvetica Neue"/>
                <a:ea typeface="Helvetica Neue"/>
                <a:cs typeface="Helvetica Neue"/>
              </a:rPr>
              <a:t>• One image or text attachment</a:t>
            </a:r>
          </a:p>
          <a:p xmlns:a="http://schemas.openxmlformats.org/drawingml/2006/main">
            <a:pPr algn="l">
              <a:defRPr sz="1575" b="0">
                <a:solidFill>
                  <a:srgbClr val="5E6470"/>
                </a:solidFill>
                <a:latin typeface="Helvetica Neue"/>
                <a:ea typeface="Helvetica Neue"/>
                <a:cs typeface="Helvetica Neue"/>
              </a:defRPr>
            </a:pPr>
            <a:r>
              <a:rPr sz="1575" b="0">
                <a:solidFill>
                  <a:srgbClr val="5E6470"/>
                </a:solidFill>
                <a:latin typeface="Helvetica Neue"/>
                <a:ea typeface="Helvetica Neue"/>
                <a:cs typeface="Helvetica Neue"/>
              </a:rPr>
              <a:t>• Only the latest user turn receives it</a:t>
            </a:r>
          </a:p>
          <a:p xmlns:a="http://schemas.openxmlformats.org/drawingml/2006/main">
            <a:pPr algn="l">
              <a:defRPr sz="1575" b="0">
                <a:solidFill>
                  <a:srgbClr val="5E6470"/>
                </a:solidFill>
                <a:latin typeface="Helvetica Neue"/>
                <a:ea typeface="Helvetica Neue"/>
                <a:cs typeface="Helvetica Neue"/>
              </a:defRPr>
            </a:pPr>
            <a:r>
              <a:rPr sz="1575" b="0">
                <a:solidFill>
                  <a:srgbClr val="5E6470"/>
                </a:solidFill>
                <a:latin typeface="Helvetica Neue"/>
                <a:ea typeface="Helvetica Neue"/>
                <a:cs typeface="Helvetica Neue"/>
              </a:rPr>
              <a:t>• Image inspection is bounded to the request</a:t>
            </a:r>
          </a:p>
          <a:p xmlns:a="http://schemas.openxmlformats.org/drawingml/2006/main">
            <a:pPr algn="l">
              <a:defRPr sz="1575" b="0">
                <a:solidFill>
                  <a:srgbClr val="5E6470"/>
                </a:solidFill>
                <a:latin typeface="Helvetica Neue"/>
                <a:ea typeface="Helvetica Neue"/>
                <a:cs typeface="Helvetica Neue"/>
              </a:defRPr>
            </a:pPr>
            <a:r>
              <a:rPr sz="1575" b="0">
                <a:solidFill>
                  <a:srgbClr val="5E6470"/>
                </a:solidFill>
                <a:latin typeface="Helvetica Neue"/>
                <a:ea typeface="Helvetica Neue"/>
                <a:cs typeface="Helvetica Neue"/>
              </a:rPr>
              <a:t>• plan_work currently rejects attachments</a:t>
            </a:r>
          </a:p>
        </p:txBody>
      </p:sp>
      <p:sp>
        <p:nvSpPr>
          <p:cNvPr id="9" name="edge-output-index">
            <a:extLst xmlns:a="http://schemas.openxmlformats.org/drawingml/2006/main">
              <a:ext uri="{FF2B5EF4-FFF2-40B4-BE49-F238E27FC236}">
                <a16:creationId xmlns:a16="http://schemas.microsoft.com/office/drawing/2014/main" id="{F7341B2A-0A18-4565-BBAA-9888E3FB3418}"/>
              </a:ext>
            </a:extLst>
          </p:cNvPr>
          <p:cNvSpPr>
            <a:spLocks xmlns:a="http://schemas.openxmlformats.org/drawingml/2006/main" noGrp="1"/>
          </p:cNvSpPr>
          <p:nvPr/>
        </p:nvSpPr>
        <p:spPr>
          <a:xfrm xmlns:a="http://schemas.openxmlformats.org/drawingml/2006/main">
            <a:off x="4476750" y="1885950"/>
            <a:ext cx="666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0909"/>
          </a:bodyPr>
          <a:lstStyle xmlns:a="http://schemas.openxmlformats.org/drawingml/2006/main"/>
          <a:p xmlns:a="http://schemas.openxmlformats.org/drawingml/2006/main">
            <a:pPr algn="l">
              <a:defRPr sz="3300" b="1">
                <a:solidFill>
                  <a:srgbClr val="3D8DFF"/>
                </a:solidFill>
                <a:latin typeface="Helvetica Neue"/>
                <a:ea typeface="Helvetica Neue"/>
                <a:cs typeface="Helvetica Neue"/>
              </a:defRPr>
            </a:pPr>
            <a:r>
              <a:rPr sz="3300" b="1">
                <a:solidFill>
                  <a:srgbClr val="3D8DFF"/>
                </a:solidFill>
                <a:latin typeface="Helvetica Neue"/>
                <a:ea typeface="Helvetica Neue"/>
                <a:cs typeface="Helvetica Neue"/>
              </a:rPr>
              <a:t>02</a:t>
            </a:r>
          </a:p>
        </p:txBody>
      </p:sp>
      <p:sp>
        <p:nvSpPr>
          <p:cNvPr id="10" name="edge-output-title">
            <a:extLst xmlns:a="http://schemas.openxmlformats.org/drawingml/2006/main">
              <a:ext uri="{FF2B5EF4-FFF2-40B4-BE49-F238E27FC236}">
                <a16:creationId xmlns:a16="http://schemas.microsoft.com/office/drawing/2014/main" id="{40AD1CAF-CDF7-42F9-BF2C-874D1CB5B252}"/>
              </a:ext>
            </a:extLst>
          </p:cNvPr>
          <p:cNvSpPr>
            <a:spLocks xmlns:a="http://schemas.openxmlformats.org/drawingml/2006/main" noGrp="1"/>
          </p:cNvSpPr>
          <p:nvPr/>
        </p:nvSpPr>
        <p:spPr>
          <a:xfrm xmlns:a="http://schemas.openxmlformats.org/drawingml/2006/main">
            <a:off x="4476750" y="2514600"/>
            <a:ext cx="3143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400" b="1">
                <a:solidFill>
                  <a:srgbClr val="000000"/>
                </a:solidFill>
                <a:latin typeface="Helvetica Neue"/>
                <a:ea typeface="Helvetica Neue"/>
                <a:cs typeface="Helvetica Neue"/>
              </a:defRPr>
            </a:pPr>
            <a:r>
              <a:rPr sz="2400" b="1">
                <a:solidFill>
                  <a:srgbClr val="000000"/>
                </a:solidFill>
                <a:latin typeface="Helvetica Neue"/>
                <a:ea typeface="Helvetica Neue"/>
                <a:cs typeface="Helvetica Neue"/>
              </a:rPr>
              <a:t>Output edge</a:t>
            </a:r>
          </a:p>
        </p:txBody>
      </p:sp>
      <p:sp>
        <p:nvSpPr>
          <p:cNvPr id="11" name="edge-output-body">
            <a:extLst xmlns:a="http://schemas.openxmlformats.org/drawingml/2006/main">
              <a:ext uri="{FF2B5EF4-FFF2-40B4-BE49-F238E27FC236}">
                <a16:creationId xmlns:a16="http://schemas.microsoft.com/office/drawing/2014/main" id="{B2D04400-8869-4E34-A5CA-7D0551B46B74}"/>
              </a:ext>
            </a:extLst>
          </p:cNvPr>
          <p:cNvSpPr>
            <a:spLocks xmlns:a="http://schemas.openxmlformats.org/drawingml/2006/main" noGrp="1"/>
          </p:cNvSpPr>
          <p:nvPr/>
        </p:nvSpPr>
        <p:spPr>
          <a:xfrm xmlns:a="http://schemas.openxmlformats.org/drawingml/2006/main">
            <a:off x="4476750" y="3162300"/>
            <a:ext cx="3143250" cy="2038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0">
                <a:solidFill>
                  <a:srgbClr val="5E6470"/>
                </a:solidFill>
                <a:latin typeface="Helvetica Neue"/>
                <a:ea typeface="Helvetica Neue"/>
                <a:cs typeface="Helvetica Neue"/>
              </a:defRPr>
            </a:pPr>
            <a:r>
              <a:rPr sz="1575" b="0">
                <a:solidFill>
                  <a:srgbClr val="5E6470"/>
                </a:solidFill>
                <a:latin typeface="Helvetica Neue"/>
                <a:ea typeface="Helvetica Neue"/>
                <a:cs typeface="Helvetica Neue"/>
              </a:rPr>
              <a:t>• Speech is client-side only</a:t>
            </a:r>
          </a:p>
          <a:p xmlns:a="http://schemas.openxmlformats.org/drawingml/2006/main">
            <a:pPr algn="l">
              <a:defRPr sz="1575" b="0">
                <a:solidFill>
                  <a:srgbClr val="5E6470"/>
                </a:solidFill>
                <a:latin typeface="Helvetica Neue"/>
                <a:ea typeface="Helvetica Neue"/>
                <a:cs typeface="Helvetica Neue"/>
              </a:defRPr>
            </a:pPr>
            <a:r>
              <a:rPr sz="1575" b="0">
                <a:solidFill>
                  <a:srgbClr val="5E6470"/>
                </a:solidFill>
                <a:latin typeface="Helvetica Neue"/>
                <a:ea typeface="Helvetica Neue"/>
                <a:cs typeface="Helvetica Neue"/>
              </a:rPr>
              <a:t>• Assistant messages can Speak</a:t>
            </a:r>
          </a:p>
          <a:p xmlns:a="http://schemas.openxmlformats.org/drawingml/2006/main">
            <a:pPr algn="l">
              <a:defRPr sz="1575" b="0">
                <a:solidFill>
                  <a:srgbClr val="5E6470"/>
                </a:solidFill>
                <a:latin typeface="Helvetica Neue"/>
                <a:ea typeface="Helvetica Neue"/>
                <a:cs typeface="Helvetica Neue"/>
              </a:defRPr>
            </a:pPr>
            <a:r>
              <a:rPr sz="1575" b="0">
                <a:solidFill>
                  <a:srgbClr val="5E6470"/>
                </a:solidFill>
                <a:latin typeface="Helvetica Neue"/>
                <a:ea typeface="Helvetica Neue"/>
                <a:cs typeface="Helvetica Neue"/>
              </a:rPr>
              <a:t>• Pause, Resume, Stop, Replay, switch</a:t>
            </a:r>
          </a:p>
          <a:p xmlns:a="http://schemas.openxmlformats.org/drawingml/2006/main">
            <a:pPr algn="l">
              <a:defRPr sz="1575" b="0">
                <a:solidFill>
                  <a:srgbClr val="5E6470"/>
                </a:solidFill>
                <a:latin typeface="Helvetica Neue"/>
                <a:ea typeface="Helvetica Neue"/>
                <a:cs typeface="Helvetica Neue"/>
              </a:defRPr>
            </a:pPr>
            <a:r>
              <a:rPr sz="1575" b="0">
                <a:solidFill>
                  <a:srgbClr val="5E6470"/>
                </a:solidFill>
                <a:latin typeface="Helvetica Neue"/>
                <a:ea typeface="Helvetica Neue"/>
                <a:cs typeface="Helvetica Neue"/>
              </a:rPr>
              <a:t>• Backgrounding pauses playback</a:t>
            </a:r>
          </a:p>
        </p:txBody>
      </p:sp>
      <p:sp>
        <p:nvSpPr>
          <p:cNvPr id="12" name="edge-recovery-index">
            <a:extLst xmlns:a="http://schemas.openxmlformats.org/drawingml/2006/main">
              <a:ext uri="{FF2B5EF4-FFF2-40B4-BE49-F238E27FC236}">
                <a16:creationId xmlns:a16="http://schemas.microsoft.com/office/drawing/2014/main" id="{2AC57AFF-AE7F-436F-99D7-23B16AA8F54D}"/>
              </a:ext>
            </a:extLst>
          </p:cNvPr>
          <p:cNvSpPr>
            <a:spLocks xmlns:a="http://schemas.openxmlformats.org/drawingml/2006/main" noGrp="1"/>
          </p:cNvSpPr>
          <p:nvPr/>
        </p:nvSpPr>
        <p:spPr>
          <a:xfrm xmlns:a="http://schemas.openxmlformats.org/drawingml/2006/main">
            <a:off x="8420100" y="1885950"/>
            <a:ext cx="666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0909"/>
          </a:bodyPr>
          <a:lstStyle xmlns:a="http://schemas.openxmlformats.org/drawingml/2006/main"/>
          <a:p xmlns:a="http://schemas.openxmlformats.org/drawingml/2006/main">
            <a:pPr algn="l">
              <a:defRPr sz="3300" b="1">
                <a:solidFill>
                  <a:srgbClr val="3D8DFF"/>
                </a:solidFill>
                <a:latin typeface="Helvetica Neue"/>
                <a:ea typeface="Helvetica Neue"/>
                <a:cs typeface="Helvetica Neue"/>
              </a:defRPr>
            </a:pPr>
            <a:r>
              <a:rPr sz="3300" b="1">
                <a:solidFill>
                  <a:srgbClr val="3D8DFF"/>
                </a:solidFill>
                <a:latin typeface="Helvetica Neue"/>
                <a:ea typeface="Helvetica Neue"/>
                <a:cs typeface="Helvetica Neue"/>
              </a:rPr>
              <a:t>03</a:t>
            </a:r>
          </a:p>
        </p:txBody>
      </p:sp>
      <p:sp>
        <p:nvSpPr>
          <p:cNvPr id="13" name="edge-recovery-title">
            <a:extLst xmlns:a="http://schemas.openxmlformats.org/drawingml/2006/main">
              <a:ext uri="{FF2B5EF4-FFF2-40B4-BE49-F238E27FC236}">
                <a16:creationId xmlns:a16="http://schemas.microsoft.com/office/drawing/2014/main" id="{9DA23F9B-A0A1-4240-933E-1B3AE4FFE393}"/>
              </a:ext>
            </a:extLst>
          </p:cNvPr>
          <p:cNvSpPr>
            <a:spLocks xmlns:a="http://schemas.openxmlformats.org/drawingml/2006/main" noGrp="1"/>
          </p:cNvSpPr>
          <p:nvPr/>
        </p:nvSpPr>
        <p:spPr>
          <a:xfrm xmlns:a="http://schemas.openxmlformats.org/drawingml/2006/main">
            <a:off x="8420100" y="2514600"/>
            <a:ext cx="3143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400" b="1">
                <a:solidFill>
                  <a:srgbClr val="000000"/>
                </a:solidFill>
                <a:latin typeface="Helvetica Neue"/>
                <a:ea typeface="Helvetica Neue"/>
                <a:cs typeface="Helvetica Neue"/>
              </a:defRPr>
            </a:pPr>
            <a:r>
              <a:rPr sz="2400" b="1">
                <a:solidFill>
                  <a:srgbClr val="000000"/>
                </a:solidFill>
                <a:latin typeface="Helvetica Neue"/>
                <a:ea typeface="Helvetica Neue"/>
                <a:cs typeface="Helvetica Neue"/>
              </a:rPr>
              <a:t>Recovery edge</a:t>
            </a:r>
          </a:p>
        </p:txBody>
      </p:sp>
      <p:sp>
        <p:nvSpPr>
          <p:cNvPr id="14" name="edge-recovery-body">
            <a:extLst xmlns:a="http://schemas.openxmlformats.org/drawingml/2006/main">
              <a:ext uri="{FF2B5EF4-FFF2-40B4-BE49-F238E27FC236}">
                <a16:creationId xmlns:a16="http://schemas.microsoft.com/office/drawing/2014/main" id="{421CD164-4DDC-4250-B437-16C39C292FA8}"/>
              </a:ext>
            </a:extLst>
          </p:cNvPr>
          <p:cNvSpPr>
            <a:spLocks xmlns:a="http://schemas.openxmlformats.org/drawingml/2006/main" noGrp="1"/>
          </p:cNvSpPr>
          <p:nvPr/>
        </p:nvSpPr>
        <p:spPr>
          <a:xfrm xmlns:a="http://schemas.openxmlformats.org/drawingml/2006/main">
            <a:off x="8420100" y="3162300"/>
            <a:ext cx="3143250" cy="2038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0">
                <a:solidFill>
                  <a:srgbClr val="5E6470"/>
                </a:solidFill>
                <a:latin typeface="Helvetica Neue"/>
                <a:ea typeface="Helvetica Neue"/>
                <a:cs typeface="Helvetica Neue"/>
              </a:defRPr>
            </a:pPr>
            <a:r>
              <a:rPr sz="1575" b="0">
                <a:solidFill>
                  <a:srgbClr val="5E6470"/>
                </a:solidFill>
                <a:latin typeface="Helvetica Neue"/>
                <a:ea typeface="Helvetica Neue"/>
                <a:cs typeface="Helvetica Neue"/>
              </a:rPr>
              <a:t>• Cancel aborts the active request</a:t>
            </a:r>
          </a:p>
          <a:p xmlns:a="http://schemas.openxmlformats.org/drawingml/2006/main">
            <a:pPr algn="l">
              <a:defRPr sz="1575" b="0">
                <a:solidFill>
                  <a:srgbClr val="5E6470"/>
                </a:solidFill>
                <a:latin typeface="Helvetica Neue"/>
                <a:ea typeface="Helvetica Neue"/>
                <a:cs typeface="Helvetica Neue"/>
              </a:defRPr>
            </a:pPr>
            <a:r>
              <a:rPr sz="1575" b="0">
                <a:solidFill>
                  <a:srgbClr val="5E6470"/>
                </a:solidFill>
                <a:latin typeface="Helvetica Neue"/>
                <a:ea typeface="Helvetica Neue"/>
                <a:cs typeface="Helvetica Neue"/>
              </a:rPr>
              <a:t>• Retry replays the captured request</a:t>
            </a:r>
          </a:p>
          <a:p xmlns:a="http://schemas.openxmlformats.org/drawingml/2006/main">
            <a:pPr algn="l">
              <a:defRPr sz="1575" b="0">
                <a:solidFill>
                  <a:srgbClr val="5E6470"/>
                </a:solidFill>
                <a:latin typeface="Helvetica Neue"/>
                <a:ea typeface="Helvetica Neue"/>
                <a:cs typeface="Helvetica Neue"/>
              </a:defRPr>
            </a:pPr>
            <a:r>
              <a:rPr sz="1575" b="0">
                <a:solidFill>
                  <a:srgbClr val="5E6470"/>
                </a:solidFill>
                <a:latin typeface="Helvetica Neue"/>
                <a:ea typeface="Helvetica Neue"/>
                <a:cs typeface="Helvetica Neue"/>
              </a:rPr>
              <a:t>• No duplicate user message</a:t>
            </a:r>
          </a:p>
          <a:p xmlns:a="http://schemas.openxmlformats.org/drawingml/2006/main">
            <a:pPr algn="l">
              <a:defRPr sz="1575" b="0">
                <a:solidFill>
                  <a:srgbClr val="5E6470"/>
                </a:solidFill>
                <a:latin typeface="Helvetica Neue"/>
                <a:ea typeface="Helvetica Neue"/>
                <a:cs typeface="Helvetica Neue"/>
              </a:defRPr>
            </a:pPr>
            <a:r>
              <a:rPr sz="1575" b="0">
                <a:solidFill>
                  <a:srgbClr val="5E6470"/>
                </a:solidFill>
                <a:latin typeface="Helvetica Neue"/>
                <a:ea typeface="Helvetica Neue"/>
                <a:cs typeface="Helvetica Neue"/>
              </a:rPr>
              <a:t>• Failures stay readable and explicit</a:t>
            </a:r>
          </a:p>
        </p:txBody>
      </p:sp>
      <p:sp>
        <p:nvSpPr>
          <p:cNvPr id="15" name="edge-foot-bg">
            <a:extLst xmlns:a="http://schemas.openxmlformats.org/drawingml/2006/main">
              <a:ext uri="{FF2B5EF4-FFF2-40B4-BE49-F238E27FC236}">
                <a16:creationId xmlns:a16="http://schemas.microsoft.com/office/drawing/2014/main" id="{99030F29-62D3-4633-B3BB-5AE34DC14932}"/>
              </a:ext>
            </a:extLst>
          </p:cNvPr>
          <p:cNvSpPr>
            <a:spLocks xmlns:a="http://schemas.openxmlformats.org/drawingml/2006/main" noGrp="1"/>
          </p:cNvSpPr>
          <p:nvPr/>
        </p:nvSpPr>
        <p:spPr>
          <a:xfrm xmlns:a="http://schemas.openxmlformats.org/drawingml/2006/main">
            <a:off x="514350" y="5581650"/>
            <a:ext cx="10839450" cy="514350"/>
          </a:xfrm>
          <a:prstGeom xmlns:a="http://schemas.openxmlformats.org/drawingml/2006/main" prst="rect">
            <a:avLst/>
          </a:prstGeom>
          <a:solidFill xmlns:a="http://schemas.openxmlformats.org/drawingml/2006/main">
            <a:srgbClr val="F6F7F8"/>
          </a:solidFill>
          <a:ln xmlns:a="http://schemas.openxmlformats.org/drawingml/2006/main" w="0">
            <a:noFill/>
            <a:prstDash val="solid"/>
          </a:ln>
        </p:spPr>
      </p:sp>
      <p:sp>
        <p:nvSpPr>
          <p:cNvPr id="16" name="edge-foot">
            <a:extLst xmlns:a="http://schemas.openxmlformats.org/drawingml/2006/main">
              <a:ext uri="{FF2B5EF4-FFF2-40B4-BE49-F238E27FC236}">
                <a16:creationId xmlns:a16="http://schemas.microsoft.com/office/drawing/2014/main" id="{CE04E568-2152-4FFB-AA6E-EC3F85FB62BA}"/>
              </a:ext>
            </a:extLst>
          </p:cNvPr>
          <p:cNvSpPr>
            <a:spLocks xmlns:a="http://schemas.openxmlformats.org/drawingml/2006/main" noGrp="1"/>
          </p:cNvSpPr>
          <p:nvPr/>
        </p:nvSpPr>
        <p:spPr>
          <a:xfrm xmlns:a="http://schemas.openxmlformats.org/drawingml/2006/main">
            <a:off x="742950" y="5724525"/>
            <a:ext cx="10344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000000"/>
                </a:solidFill>
                <a:latin typeface="Helvetica Neue"/>
                <a:ea typeface="Helvetica Neue"/>
                <a:cs typeface="Helvetica Neue"/>
              </a:defRPr>
            </a:pPr>
            <a:r>
              <a:rPr sz="1650" b="1">
                <a:solidFill>
                  <a:srgbClr val="000000"/>
                </a:solidFill>
                <a:latin typeface="Helvetica Neue"/>
                <a:ea typeface="Helvetica Neue"/>
                <a:cs typeface="Helvetica Neue"/>
              </a:rPr>
              <a:t>These behaviors change interaction—not the system prompt or backend workflow contract.</a:t>
            </a:r>
          </a:p>
        </p:txBody>
      </p:sp>
    </p:spTree>
    <p:extLst>
      <p:ext uri="{BB962C8B-B14F-4D97-AF65-F5344CB8AC3E}">
        <p14:creationId xmlns:p14="http://schemas.microsoft.com/office/powerpoint/2010/main" val="2026776535"/>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eyebrow-10">
            <a:extLst xmlns:a="http://schemas.openxmlformats.org/drawingml/2006/main">
              <a:ext uri="{FF2B5EF4-FFF2-40B4-BE49-F238E27FC236}">
                <a16:creationId xmlns:a16="http://schemas.microsoft.com/office/drawing/2014/main" id="{0CDE20D0-3F52-49F8-854E-F4C674B7B009}"/>
              </a:ext>
            </a:extLst>
          </p:cNvPr>
          <p:cNvSpPr>
            <a:spLocks xmlns:a="http://schemas.openxmlformats.org/drawingml/2006/main" noGrp="1"/>
          </p:cNvSpPr>
          <p:nvPr/>
        </p:nvSpPr>
        <p:spPr>
          <a:xfrm xmlns:a="http://schemas.openxmlformats.org/drawingml/2006/main">
            <a:off x="495300" y="32385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1">
                <a:solidFill>
                  <a:srgbClr val="5E6470"/>
                </a:solidFill>
                <a:latin typeface="Helvetica Neue"/>
                <a:ea typeface="Helvetica Neue"/>
                <a:cs typeface="Helvetica Neue"/>
              </a:defRPr>
            </a:pPr>
            <a:r>
              <a:rPr sz="1350" b="1">
                <a:solidFill>
                  <a:srgbClr val="5E6470"/>
                </a:solidFill>
                <a:latin typeface="Helvetica Neue"/>
                <a:ea typeface="Helvetica Neue"/>
                <a:cs typeface="Helvetica Neue"/>
              </a:rPr>
              <a:t>HEALTHYFLOW · TALK</a:t>
            </a:r>
          </a:p>
        </p:txBody>
      </p:sp>
      <p:sp>
        <p:nvSpPr>
          <p:cNvPr id="2" name="title-10">
            <a:extLst xmlns:a="http://schemas.openxmlformats.org/drawingml/2006/main">
              <a:ext uri="{FF2B5EF4-FFF2-40B4-BE49-F238E27FC236}">
                <a16:creationId xmlns:a16="http://schemas.microsoft.com/office/drawing/2014/main" id="{EB75C8E4-3323-4DBA-876F-406244A594BA}"/>
              </a:ext>
            </a:extLst>
          </p:cNvPr>
          <p:cNvSpPr>
            <a:spLocks xmlns:a="http://schemas.openxmlformats.org/drawingml/2006/main" noGrp="1"/>
          </p:cNvSpPr>
          <p:nvPr/>
        </p:nvSpPr>
        <p:spPr>
          <a:xfrm xmlns:a="http://schemas.openxmlformats.org/drawingml/2006/main">
            <a:off x="495300" y="72390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000000"/>
                </a:solidFill>
                <a:latin typeface="Helvetica Neue"/>
                <a:ea typeface="Helvetica Neue"/>
                <a:cs typeface="Helvetica Neue"/>
              </a:defRPr>
            </a:pPr>
            <a:r>
              <a:rPr sz="2250" b="1">
                <a:solidFill>
                  <a:srgbClr val="000000"/>
                </a:solidFill>
                <a:latin typeface="Helvetica Neue"/>
                <a:ea typeface="Helvetica Neue"/>
                <a:cs typeface="Helvetica Neue"/>
              </a:rPr>
              <a:t>Conversation and machine state persist separately</a:t>
            </a:r>
          </a:p>
        </p:txBody>
      </p:sp>
      <p:sp>
        <p:nvSpPr>
          <p:cNvPr id="3" name="page-10">
            <a:extLst xmlns:a="http://schemas.openxmlformats.org/drawingml/2006/main">
              <a:ext uri="{FF2B5EF4-FFF2-40B4-BE49-F238E27FC236}">
                <a16:creationId xmlns:a16="http://schemas.microsoft.com/office/drawing/2014/main" id="{BBE1ACA8-6232-4658-A1FB-4D994A8E1A1C}"/>
              </a:ext>
            </a:extLst>
          </p:cNvPr>
          <p:cNvSpPr>
            <a:spLocks xmlns:a="http://schemas.openxmlformats.org/drawingml/2006/main" noGrp="1"/>
          </p:cNvSpPr>
          <p:nvPr/>
        </p:nvSpPr>
        <p:spPr>
          <a:xfrm xmlns:a="http://schemas.openxmlformats.org/drawingml/2006/main">
            <a:off x="11277600" y="626745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E6470"/>
                </a:solidFill>
                <a:latin typeface="Helvetica Neue"/>
                <a:ea typeface="Helvetica Neue"/>
                <a:cs typeface="Helvetica Neue"/>
              </a:defRPr>
            </a:pPr>
            <a:r>
              <a:rPr sz="1125" b="0">
                <a:solidFill>
                  <a:srgbClr val="5E6470"/>
                </a:solidFill>
                <a:latin typeface="Helvetica Neue"/>
                <a:ea typeface="Helvetica Neue"/>
                <a:cs typeface="Helvetica Neue"/>
              </a:rPr>
              <a:t>10</a:t>
            </a:r>
          </a:p>
        </p:txBody>
      </p:sp>
      <p:sp>
        <p:nvSpPr>
          <p:cNvPr id="4" name="persist-bg-0">
            <a:extLst xmlns:a="http://schemas.openxmlformats.org/drawingml/2006/main">
              <a:ext uri="{FF2B5EF4-FFF2-40B4-BE49-F238E27FC236}">
                <a16:creationId xmlns:a16="http://schemas.microsoft.com/office/drawing/2014/main" id="{E8EB13A5-0F17-4F2D-A222-67DCEC294231}"/>
              </a:ext>
            </a:extLst>
          </p:cNvPr>
          <p:cNvSpPr>
            <a:spLocks xmlns:a="http://schemas.openxmlformats.org/drawingml/2006/main" noGrp="1"/>
          </p:cNvSpPr>
          <p:nvPr/>
        </p:nvSpPr>
        <p:spPr>
          <a:xfrm xmlns:a="http://schemas.openxmlformats.org/drawingml/2006/main">
            <a:off x="514350" y="1809750"/>
            <a:ext cx="10839450" cy="1104900"/>
          </a:xfrm>
          <a:prstGeom xmlns:a="http://schemas.openxmlformats.org/drawingml/2006/main" prst="rect">
            <a:avLst/>
          </a:prstGeom>
          <a:solidFill xmlns:a="http://schemas.openxmlformats.org/drawingml/2006/main">
            <a:srgbClr val="F6F7F8"/>
          </a:solidFill>
          <a:ln xmlns:a="http://schemas.openxmlformats.org/drawingml/2006/main" w="0">
            <a:noFill/>
            <a:prstDash val="solid"/>
          </a:ln>
        </p:spPr>
      </p:sp>
      <p:sp>
        <p:nvSpPr>
          <p:cNvPr id="5" name="persist-label-0">
            <a:extLst xmlns:a="http://schemas.openxmlformats.org/drawingml/2006/main">
              <a:ext uri="{FF2B5EF4-FFF2-40B4-BE49-F238E27FC236}">
                <a16:creationId xmlns:a16="http://schemas.microsoft.com/office/drawing/2014/main" id="{18FA175A-3163-414B-9687-E56F81C35D57}"/>
              </a:ext>
            </a:extLst>
          </p:cNvPr>
          <p:cNvSpPr>
            <a:spLocks xmlns:a="http://schemas.openxmlformats.org/drawingml/2006/main" noGrp="1"/>
          </p:cNvSpPr>
          <p:nvPr/>
        </p:nvSpPr>
        <p:spPr>
          <a:xfrm xmlns:a="http://schemas.openxmlformats.org/drawingml/2006/main">
            <a:off x="723900" y="19812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5E6470"/>
                </a:solidFill>
                <a:latin typeface="Helvetica Neue"/>
                <a:ea typeface="Helvetica Neue"/>
                <a:cs typeface="Helvetica Neue"/>
              </a:defRPr>
            </a:pPr>
            <a:r>
              <a:rPr sz="1275" b="1">
                <a:solidFill>
                  <a:srgbClr val="5E6470"/>
                </a:solidFill>
                <a:latin typeface="Helvetica Neue"/>
                <a:ea typeface="Helvetica Neue"/>
                <a:cs typeface="Helvetica Neue"/>
              </a:rPr>
              <a:t>CONVERSATION ARCHIVE</a:t>
            </a:r>
          </a:p>
        </p:txBody>
      </p:sp>
      <p:sp>
        <p:nvSpPr>
          <p:cNvPr id="6" name="persist-title-0">
            <a:extLst xmlns:a="http://schemas.openxmlformats.org/drawingml/2006/main">
              <a:ext uri="{FF2B5EF4-FFF2-40B4-BE49-F238E27FC236}">
                <a16:creationId xmlns:a16="http://schemas.microsoft.com/office/drawing/2014/main" id="{26429462-F52A-4582-8749-9D39472CCBCA}"/>
              </a:ext>
            </a:extLst>
          </p:cNvPr>
          <p:cNvSpPr>
            <a:spLocks xmlns:a="http://schemas.openxmlformats.org/drawingml/2006/main" noGrp="1"/>
          </p:cNvSpPr>
          <p:nvPr/>
        </p:nvSpPr>
        <p:spPr>
          <a:xfrm xmlns:a="http://schemas.openxmlformats.org/drawingml/2006/main">
            <a:off x="3238500" y="1981200"/>
            <a:ext cx="3143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100" b="1">
                <a:solidFill>
                  <a:srgbClr val="000000"/>
                </a:solidFill>
                <a:latin typeface="Helvetica Neue"/>
                <a:ea typeface="Helvetica Neue"/>
                <a:cs typeface="Helvetica Neue"/>
              </a:defRPr>
            </a:pPr>
            <a:r>
              <a:rPr sz="2100" b="1">
                <a:solidFill>
                  <a:srgbClr val="000000"/>
                </a:solidFill>
                <a:latin typeface="Helvetica Neue"/>
                <a:ea typeface="Helvetica Neue"/>
                <a:cs typeface="Helvetica Neue"/>
              </a:rPr>
              <a:t>What the person sees</a:t>
            </a:r>
          </a:p>
        </p:txBody>
      </p:sp>
      <p:sp>
        <p:nvSpPr>
          <p:cNvPr id="7" name="persist-body-0">
            <a:extLst xmlns:a="http://schemas.openxmlformats.org/drawingml/2006/main">
              <a:ext uri="{FF2B5EF4-FFF2-40B4-BE49-F238E27FC236}">
                <a16:creationId xmlns:a16="http://schemas.microsoft.com/office/drawing/2014/main" id="{076AECC3-3976-4049-B7DE-D4A05ACE2CFA}"/>
              </a:ext>
            </a:extLst>
          </p:cNvPr>
          <p:cNvSpPr>
            <a:spLocks xmlns:a="http://schemas.openxmlformats.org/drawingml/2006/main" noGrp="1"/>
          </p:cNvSpPr>
          <p:nvPr/>
        </p:nvSpPr>
        <p:spPr>
          <a:xfrm xmlns:a="http://schemas.openxmlformats.org/drawingml/2006/main">
            <a:off x="6667500" y="1981200"/>
            <a:ext cx="43624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0">
                <a:solidFill>
                  <a:srgbClr val="5E6470"/>
                </a:solidFill>
                <a:latin typeface="Helvetica Neue"/>
                <a:ea typeface="Helvetica Neue"/>
                <a:cs typeface="Helvetica Neue"/>
              </a:defRPr>
            </a:pPr>
            <a:r>
              <a:rPr sz="1425" b="0">
                <a:solidFill>
                  <a:srgbClr val="5E6470"/>
                </a:solidFill>
                <a:latin typeface="Helvetica Neue"/>
                <a:ea typeface="Helvetica Neue"/>
                <a:cs typeface="Helvetica Neue"/>
              </a:rPr>
              <a:t>Messages, previews, errors, titles, selected model, and timestamps. Backend snapshots accept up to 200 messages.</a:t>
            </a:r>
          </a:p>
        </p:txBody>
      </p:sp>
      <p:sp>
        <p:nvSpPr>
          <p:cNvPr id="8" name="persist-bg-1">
            <a:extLst xmlns:a="http://schemas.openxmlformats.org/drawingml/2006/main">
              <a:ext uri="{FF2B5EF4-FFF2-40B4-BE49-F238E27FC236}">
                <a16:creationId xmlns:a16="http://schemas.microsoft.com/office/drawing/2014/main" id="{7509C861-7A43-4E31-9CEE-0B7C806A5F05}"/>
              </a:ext>
            </a:extLst>
          </p:cNvPr>
          <p:cNvSpPr>
            <a:spLocks xmlns:a="http://schemas.openxmlformats.org/drawingml/2006/main" noGrp="1"/>
          </p:cNvSpPr>
          <p:nvPr/>
        </p:nvSpPr>
        <p:spPr>
          <a:xfrm xmlns:a="http://schemas.openxmlformats.org/drawingml/2006/main">
            <a:off x="514350" y="3181350"/>
            <a:ext cx="10839450" cy="1104900"/>
          </a:xfrm>
          <a:prstGeom xmlns:a="http://schemas.openxmlformats.org/drawingml/2006/main" prst="rect">
            <a:avLst/>
          </a:prstGeom>
          <a:solidFill xmlns:a="http://schemas.openxmlformats.org/drawingml/2006/main">
            <a:srgbClr val="E7F6FD"/>
          </a:solidFill>
          <a:ln xmlns:a="http://schemas.openxmlformats.org/drawingml/2006/main" w="0">
            <a:noFill/>
            <a:prstDash val="solid"/>
          </a:ln>
        </p:spPr>
      </p:sp>
      <p:sp>
        <p:nvSpPr>
          <p:cNvPr id="9" name="persist-label-1">
            <a:extLst xmlns:a="http://schemas.openxmlformats.org/drawingml/2006/main">
              <a:ext uri="{FF2B5EF4-FFF2-40B4-BE49-F238E27FC236}">
                <a16:creationId xmlns:a16="http://schemas.microsoft.com/office/drawing/2014/main" id="{58A34FDA-B617-48CD-BEED-EA3CCA070A2F}"/>
              </a:ext>
            </a:extLst>
          </p:cNvPr>
          <p:cNvSpPr>
            <a:spLocks xmlns:a="http://schemas.openxmlformats.org/drawingml/2006/main" noGrp="1"/>
          </p:cNvSpPr>
          <p:nvPr/>
        </p:nvSpPr>
        <p:spPr>
          <a:xfrm xmlns:a="http://schemas.openxmlformats.org/drawingml/2006/main">
            <a:off x="723900" y="33528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3D8DFF"/>
                </a:solidFill>
                <a:latin typeface="Helvetica Neue"/>
                <a:ea typeface="Helvetica Neue"/>
                <a:cs typeface="Helvetica Neue"/>
              </a:defRPr>
            </a:pPr>
            <a:r>
              <a:rPr sz="1275" b="1">
                <a:solidFill>
                  <a:srgbClr val="3D8DFF"/>
                </a:solidFill>
                <a:latin typeface="Helvetica Neue"/>
                <a:ea typeface="Helvetica Neue"/>
                <a:cs typeface="Helvetica Neue"/>
              </a:rPr>
              <a:t>REQUEST WINDOW</a:t>
            </a:r>
          </a:p>
        </p:txBody>
      </p:sp>
      <p:sp>
        <p:nvSpPr>
          <p:cNvPr id="10" name="persist-title-1">
            <a:extLst xmlns:a="http://schemas.openxmlformats.org/drawingml/2006/main">
              <a:ext uri="{FF2B5EF4-FFF2-40B4-BE49-F238E27FC236}">
                <a16:creationId xmlns:a16="http://schemas.microsoft.com/office/drawing/2014/main" id="{BB45C7FE-C5B6-40F1-9DCB-49C09AEBC29C}"/>
              </a:ext>
            </a:extLst>
          </p:cNvPr>
          <p:cNvSpPr>
            <a:spLocks xmlns:a="http://schemas.openxmlformats.org/drawingml/2006/main" noGrp="1"/>
          </p:cNvSpPr>
          <p:nvPr/>
        </p:nvSpPr>
        <p:spPr>
          <a:xfrm xmlns:a="http://schemas.openxmlformats.org/drawingml/2006/main">
            <a:off x="3238500" y="3352800"/>
            <a:ext cx="3143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5877"/>
          </a:bodyPr>
          <a:lstStyle xmlns:a="http://schemas.openxmlformats.org/drawingml/2006/main"/>
          <a:p xmlns:a="http://schemas.openxmlformats.org/drawingml/2006/main">
            <a:pPr algn="l">
              <a:defRPr sz="2100" b="1">
                <a:solidFill>
                  <a:srgbClr val="000000"/>
                </a:solidFill>
                <a:latin typeface="Helvetica Neue"/>
                <a:ea typeface="Helvetica Neue"/>
                <a:cs typeface="Helvetica Neue"/>
              </a:defRPr>
            </a:pPr>
            <a:r>
              <a:rPr sz="2100" b="1">
                <a:solidFill>
                  <a:srgbClr val="000000"/>
                </a:solidFill>
                <a:latin typeface="Helvetica Neue"/>
                <a:ea typeface="Helvetica Neue"/>
                <a:cs typeface="Helvetica Neue"/>
              </a:rPr>
              <a:t>What the model sees now</a:t>
            </a:r>
          </a:p>
        </p:txBody>
      </p:sp>
      <p:sp>
        <p:nvSpPr>
          <p:cNvPr id="11" name="persist-body-1">
            <a:extLst xmlns:a="http://schemas.openxmlformats.org/drawingml/2006/main">
              <a:ext uri="{FF2B5EF4-FFF2-40B4-BE49-F238E27FC236}">
                <a16:creationId xmlns:a16="http://schemas.microsoft.com/office/drawing/2014/main" id="{96E0581C-9A18-4A28-91CA-C207D36C1817}"/>
              </a:ext>
            </a:extLst>
          </p:cNvPr>
          <p:cNvSpPr>
            <a:spLocks xmlns:a="http://schemas.openxmlformats.org/drawingml/2006/main" noGrp="1"/>
          </p:cNvSpPr>
          <p:nvPr/>
        </p:nvSpPr>
        <p:spPr>
          <a:xfrm xmlns:a="http://schemas.openxmlformats.org/drawingml/2006/main">
            <a:off x="6667500" y="3352800"/>
            <a:ext cx="43624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0">
                <a:solidFill>
                  <a:srgbClr val="5E6470"/>
                </a:solidFill>
                <a:latin typeface="Helvetica Neue"/>
                <a:ea typeface="Helvetica Neue"/>
                <a:cs typeface="Helvetica Neue"/>
              </a:defRPr>
            </a:pPr>
            <a:r>
              <a:rPr sz="1425" b="0">
                <a:solidFill>
                  <a:srgbClr val="5E6470"/>
                </a:solidFill>
                <a:latin typeface="Helvetica Neue"/>
                <a:ea typeface="Helvetica Neue"/>
                <a:cs typeface="Helvetica Neue"/>
              </a:rPr>
              <a:t>Latest 30 messages in regular Talk. Latest 12 messages inside a structured workflow stage.</a:t>
            </a:r>
          </a:p>
        </p:txBody>
      </p:sp>
      <p:sp>
        <p:nvSpPr>
          <p:cNvPr id="12" name="persist-bg-2">
            <a:extLst xmlns:a="http://schemas.openxmlformats.org/drawingml/2006/main">
              <a:ext uri="{FF2B5EF4-FFF2-40B4-BE49-F238E27FC236}">
                <a16:creationId xmlns:a16="http://schemas.microsoft.com/office/drawing/2014/main" id="{815BC0A4-B2EF-478B-A631-8E7FD1B614D6}"/>
              </a:ext>
            </a:extLst>
          </p:cNvPr>
          <p:cNvSpPr>
            <a:spLocks xmlns:a="http://schemas.openxmlformats.org/drawingml/2006/main" noGrp="1"/>
          </p:cNvSpPr>
          <p:nvPr/>
        </p:nvSpPr>
        <p:spPr>
          <a:xfrm xmlns:a="http://schemas.openxmlformats.org/drawingml/2006/main">
            <a:off x="514350" y="4552950"/>
            <a:ext cx="10839450" cy="1104900"/>
          </a:xfrm>
          <a:prstGeom xmlns:a="http://schemas.openxmlformats.org/drawingml/2006/main" prst="rect">
            <a:avLst/>
          </a:prstGeom>
          <a:solidFill xmlns:a="http://schemas.openxmlformats.org/drawingml/2006/main">
            <a:srgbClr val="F6F7F8"/>
          </a:solidFill>
          <a:ln xmlns:a="http://schemas.openxmlformats.org/drawingml/2006/main" w="0">
            <a:noFill/>
            <a:prstDash val="solid"/>
          </a:ln>
        </p:spPr>
      </p:sp>
      <p:sp>
        <p:nvSpPr>
          <p:cNvPr id="13" name="persist-label-2">
            <a:extLst xmlns:a="http://schemas.openxmlformats.org/drawingml/2006/main">
              <a:ext uri="{FF2B5EF4-FFF2-40B4-BE49-F238E27FC236}">
                <a16:creationId xmlns:a16="http://schemas.microsoft.com/office/drawing/2014/main" id="{FF9FEEC8-2052-4E9B-95D1-4F9BAD574D1C}"/>
              </a:ext>
            </a:extLst>
          </p:cNvPr>
          <p:cNvSpPr>
            <a:spLocks xmlns:a="http://schemas.openxmlformats.org/drawingml/2006/main" noGrp="1"/>
          </p:cNvSpPr>
          <p:nvPr/>
        </p:nvSpPr>
        <p:spPr>
          <a:xfrm xmlns:a="http://schemas.openxmlformats.org/drawingml/2006/main">
            <a:off x="723900" y="47244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5E6470"/>
                </a:solidFill>
                <a:latin typeface="Helvetica Neue"/>
                <a:ea typeface="Helvetica Neue"/>
                <a:cs typeface="Helvetica Neue"/>
              </a:defRPr>
            </a:pPr>
            <a:r>
              <a:rPr sz="1275" b="1">
                <a:solidFill>
                  <a:srgbClr val="5E6470"/>
                </a:solidFill>
                <a:latin typeface="Helvetica Neue"/>
                <a:ea typeface="Helvetica Neue"/>
                <a:cs typeface="Helvetica Neue"/>
              </a:rPr>
              <a:t>WORKFLOW CHECKPOINT</a:t>
            </a:r>
          </a:p>
        </p:txBody>
      </p:sp>
      <p:sp>
        <p:nvSpPr>
          <p:cNvPr id="14" name="persist-title-2">
            <a:extLst xmlns:a="http://schemas.openxmlformats.org/drawingml/2006/main">
              <a:ext uri="{FF2B5EF4-FFF2-40B4-BE49-F238E27FC236}">
                <a16:creationId xmlns:a16="http://schemas.microsoft.com/office/drawing/2014/main" id="{4D697CBF-318C-449E-9021-A3AF344424D6}"/>
              </a:ext>
            </a:extLst>
          </p:cNvPr>
          <p:cNvSpPr>
            <a:spLocks xmlns:a="http://schemas.openxmlformats.org/drawingml/2006/main" noGrp="1"/>
          </p:cNvSpPr>
          <p:nvPr/>
        </p:nvSpPr>
        <p:spPr>
          <a:xfrm xmlns:a="http://schemas.openxmlformats.org/drawingml/2006/main">
            <a:off x="3238500" y="4724400"/>
            <a:ext cx="3143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3245"/>
          </a:bodyPr>
          <a:lstStyle xmlns:a="http://schemas.openxmlformats.org/drawingml/2006/main"/>
          <a:p xmlns:a="http://schemas.openxmlformats.org/drawingml/2006/main">
            <a:pPr algn="l">
              <a:defRPr sz="2100" b="1">
                <a:solidFill>
                  <a:srgbClr val="000000"/>
                </a:solidFill>
                <a:latin typeface="Helvetica Neue"/>
                <a:ea typeface="Helvetica Neue"/>
                <a:cs typeface="Helvetica Neue"/>
              </a:defRPr>
            </a:pPr>
            <a:r>
              <a:rPr sz="2100" b="1">
                <a:solidFill>
                  <a:srgbClr val="000000"/>
                </a:solidFill>
                <a:latin typeface="Helvetica Neue"/>
                <a:ea typeface="Helvetica Neue"/>
                <a:cs typeface="Helvetica Neue"/>
              </a:rPr>
              <a:t>What the application resumes</a:t>
            </a:r>
          </a:p>
        </p:txBody>
      </p:sp>
      <p:sp>
        <p:nvSpPr>
          <p:cNvPr id="15" name="persist-body-2">
            <a:extLst xmlns:a="http://schemas.openxmlformats.org/drawingml/2006/main">
              <a:ext uri="{FF2B5EF4-FFF2-40B4-BE49-F238E27FC236}">
                <a16:creationId xmlns:a16="http://schemas.microsoft.com/office/drawing/2014/main" id="{DC874BBD-E1CC-41A5-83BB-EC8418B70625}"/>
              </a:ext>
            </a:extLst>
          </p:cNvPr>
          <p:cNvSpPr>
            <a:spLocks xmlns:a="http://schemas.openxmlformats.org/drawingml/2006/main" noGrp="1"/>
          </p:cNvSpPr>
          <p:nvPr/>
        </p:nvSpPr>
        <p:spPr>
          <a:xfrm xmlns:a="http://schemas.openxmlformats.org/drawingml/2006/main">
            <a:off x="6667500" y="4724400"/>
            <a:ext cx="43624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0">
                <a:solidFill>
                  <a:srgbClr val="5E6470"/>
                </a:solidFill>
                <a:latin typeface="Helvetica Neue"/>
                <a:ea typeface="Helvetica Neue"/>
                <a:cs typeface="Helvetica Neue"/>
              </a:defRPr>
            </a:pPr>
            <a:r>
              <a:rPr sz="1425" b="0">
                <a:solidFill>
                  <a:srgbClr val="5E6470"/>
                </a:solidFill>
                <a:latin typeface="Helvetica Neue"/>
                <a:ea typeface="Helvetica Neue"/>
                <a:cs typeface="Helvetica Neue"/>
              </a:rPr>
              <a:t>Workflow, stage, revision, verified ids, pending action, model, runtime and instruction versions, and last error.</a:t>
            </a:r>
          </a:p>
        </p:txBody>
      </p:sp>
    </p:spTree>
    <p:extLst>
      <p:ext uri="{BB962C8B-B14F-4D97-AF65-F5344CB8AC3E}">
        <p14:creationId xmlns:p14="http://schemas.microsoft.com/office/powerpoint/2010/main" val="1168732814"/>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eyebrow-11">
            <a:extLst xmlns:a="http://schemas.openxmlformats.org/drawingml/2006/main">
              <a:ext uri="{FF2B5EF4-FFF2-40B4-BE49-F238E27FC236}">
                <a16:creationId xmlns:a16="http://schemas.microsoft.com/office/drawing/2014/main" id="{634E76DD-2431-40B0-BF7F-5E5E34B6FA19}"/>
              </a:ext>
            </a:extLst>
          </p:cNvPr>
          <p:cNvSpPr>
            <a:spLocks xmlns:a="http://schemas.openxmlformats.org/drawingml/2006/main" noGrp="1"/>
          </p:cNvSpPr>
          <p:nvPr/>
        </p:nvSpPr>
        <p:spPr>
          <a:xfrm xmlns:a="http://schemas.openxmlformats.org/drawingml/2006/main">
            <a:off x="495300" y="32385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1">
                <a:solidFill>
                  <a:srgbClr val="5E6470"/>
                </a:solidFill>
                <a:latin typeface="Helvetica Neue"/>
                <a:ea typeface="Helvetica Neue"/>
                <a:cs typeface="Helvetica Neue"/>
              </a:defRPr>
            </a:pPr>
            <a:r>
              <a:rPr sz="1350" b="1">
                <a:solidFill>
                  <a:srgbClr val="5E6470"/>
                </a:solidFill>
                <a:latin typeface="Helvetica Neue"/>
                <a:ea typeface="Helvetica Neue"/>
                <a:cs typeface="Helvetica Neue"/>
              </a:rPr>
              <a:t>HEALTHYFLOW · TALK</a:t>
            </a:r>
          </a:p>
        </p:txBody>
      </p:sp>
      <p:sp>
        <p:nvSpPr>
          <p:cNvPr id="2" name="title-11">
            <a:extLst xmlns:a="http://schemas.openxmlformats.org/drawingml/2006/main">
              <a:ext uri="{FF2B5EF4-FFF2-40B4-BE49-F238E27FC236}">
                <a16:creationId xmlns:a16="http://schemas.microsoft.com/office/drawing/2014/main" id="{A2392D38-7571-44AA-95A9-9AA4E38322B4}"/>
              </a:ext>
            </a:extLst>
          </p:cNvPr>
          <p:cNvSpPr>
            <a:spLocks xmlns:a="http://schemas.openxmlformats.org/drawingml/2006/main" noGrp="1"/>
          </p:cNvSpPr>
          <p:nvPr/>
        </p:nvSpPr>
        <p:spPr>
          <a:xfrm xmlns:a="http://schemas.openxmlformats.org/drawingml/2006/main">
            <a:off x="495300" y="72390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600" b="1">
                <a:solidFill>
                  <a:srgbClr val="000000"/>
                </a:solidFill>
                <a:latin typeface="Helvetica Neue"/>
                <a:ea typeface="Helvetica Neue"/>
                <a:cs typeface="Helvetica Neue"/>
              </a:defRPr>
            </a:pPr>
            <a:r>
              <a:rPr sz="3600" b="1">
                <a:solidFill>
                  <a:srgbClr val="000000"/>
                </a:solidFill>
                <a:latin typeface="Helvetica Neue"/>
                <a:ea typeface="Helvetica Neue"/>
                <a:cs typeface="Helvetica Neue"/>
              </a:rPr>
              <a:t>Safety is mature; the whole-day boundary is not</a:t>
            </a:r>
          </a:p>
        </p:txBody>
      </p:sp>
      <p:sp>
        <p:nvSpPr>
          <p:cNvPr id="3" name="page-11">
            <a:extLst xmlns:a="http://schemas.openxmlformats.org/drawingml/2006/main">
              <a:ext uri="{FF2B5EF4-FFF2-40B4-BE49-F238E27FC236}">
                <a16:creationId xmlns:a16="http://schemas.microsoft.com/office/drawing/2014/main" id="{8554ACB3-9643-435F-9E27-BA9281915DEB}"/>
              </a:ext>
            </a:extLst>
          </p:cNvPr>
          <p:cNvSpPr>
            <a:spLocks xmlns:a="http://schemas.openxmlformats.org/drawingml/2006/main" noGrp="1"/>
          </p:cNvSpPr>
          <p:nvPr/>
        </p:nvSpPr>
        <p:spPr>
          <a:xfrm xmlns:a="http://schemas.openxmlformats.org/drawingml/2006/main">
            <a:off x="11277600" y="626745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E6470"/>
                </a:solidFill>
                <a:latin typeface="Helvetica Neue"/>
                <a:ea typeface="Helvetica Neue"/>
                <a:cs typeface="Helvetica Neue"/>
              </a:defRPr>
            </a:pPr>
            <a:r>
              <a:rPr sz="1125" b="0">
                <a:solidFill>
                  <a:srgbClr val="5E6470"/>
                </a:solidFill>
                <a:latin typeface="Helvetica Neue"/>
                <a:ea typeface="Helvetica Neue"/>
                <a:cs typeface="Helvetica Neue"/>
              </a:rPr>
              <a:t>11</a:t>
            </a:r>
          </a:p>
        </p:txBody>
      </p:sp>
      <p:cxnSp>
        <p:nvCxnSpPr>
          <p:cNvPr id="14" name="boundary-split"/>
          <p:cNvCxnSpPr/>
          <p:nvPr/>
        </p:nvCxnSpPr>
        <p:spPr>
          <a:xfrm xmlns:a="http://schemas.openxmlformats.org/drawingml/2006/main">
            <a:off x="6076950" y="1885950"/>
            <a:ext cx="0" cy="3733800"/>
          </a:xfrm>
          <a:prstGeom xmlns:a="http://schemas.openxmlformats.org/drawingml/2006/main" prst="straightConnector1">
            <a:avLst/>
          </a:prstGeom>
          <a:ln xmlns:a="http://schemas.openxmlformats.org/drawingml/2006/main" w="19050">
            <a:solidFill>
              <a:srgbClr val="B8BCC4"/>
            </a:solidFill>
            <a:prstDash val="solid"/>
          </a:ln>
        </p:spPr>
      </p:cxnSp>
      <p:sp>
        <p:nvSpPr>
          <p:cNvPr id="5" name="strong-label">
            <a:extLst xmlns:a="http://schemas.openxmlformats.org/drawingml/2006/main">
              <a:ext uri="{FF2B5EF4-FFF2-40B4-BE49-F238E27FC236}">
                <a16:creationId xmlns:a16="http://schemas.microsoft.com/office/drawing/2014/main" id="{948D258D-51B2-49B2-B360-AC1B7EDE7621}"/>
              </a:ext>
            </a:extLst>
          </p:cNvPr>
          <p:cNvSpPr>
            <a:spLocks xmlns:a="http://schemas.openxmlformats.org/drawingml/2006/main" noGrp="1"/>
          </p:cNvSpPr>
          <p:nvPr/>
        </p:nvSpPr>
        <p:spPr>
          <a:xfrm xmlns:a="http://schemas.openxmlformats.org/drawingml/2006/main">
            <a:off x="514350" y="1943100"/>
            <a:ext cx="2857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3D8DFF"/>
                </a:solidFill>
                <a:latin typeface="Helvetica Neue"/>
                <a:ea typeface="Helvetica Neue"/>
                <a:cs typeface="Helvetica Neue"/>
              </a:defRPr>
            </a:pPr>
            <a:r>
              <a:rPr sz="1500" b="1">
                <a:solidFill>
                  <a:srgbClr val="3D8DFF"/>
                </a:solidFill>
                <a:latin typeface="Helvetica Neue"/>
                <a:ea typeface="Helvetica Neue"/>
                <a:cs typeface="Helvetica Neue"/>
              </a:rPr>
              <a:t>STRONG TODAY</a:t>
            </a:r>
          </a:p>
        </p:txBody>
      </p:sp>
      <p:sp>
        <p:nvSpPr>
          <p:cNvPr id="6" name="strong-body">
            <a:extLst xmlns:a="http://schemas.openxmlformats.org/drawingml/2006/main">
              <a:ext uri="{FF2B5EF4-FFF2-40B4-BE49-F238E27FC236}">
                <a16:creationId xmlns:a16="http://schemas.microsoft.com/office/drawing/2014/main" id="{F46D118E-DA32-4346-8D3F-43B812F8277D}"/>
              </a:ext>
            </a:extLst>
          </p:cNvPr>
          <p:cNvSpPr>
            <a:spLocks xmlns:a="http://schemas.openxmlformats.org/drawingml/2006/main" noGrp="1"/>
          </p:cNvSpPr>
          <p:nvPr/>
        </p:nvSpPr>
        <p:spPr>
          <a:xfrm xmlns:a="http://schemas.openxmlformats.org/drawingml/2006/main">
            <a:off x="514350" y="2552700"/>
            <a:ext cx="4762500" cy="2857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725" b="0">
                <a:solidFill>
                  <a:srgbClr val="000000"/>
                </a:solidFill>
                <a:latin typeface="Helvetica Neue"/>
                <a:ea typeface="Helvetica Neue"/>
                <a:cs typeface="Helvetica Neue"/>
              </a:defRPr>
            </a:pPr>
            <a:r>
              <a:rPr sz="1725" b="0">
                <a:solidFill>
                  <a:srgbClr val="000000"/>
                </a:solidFill>
                <a:latin typeface="Helvetica Neue"/>
                <a:ea typeface="Helvetica Neue"/>
                <a:cs typeface="Helvetica Neue"/>
              </a:rPr>
              <a:t>• Server-keyed model access</a:t>
            </a:r>
          </a:p>
          <a:p xmlns:a="http://schemas.openxmlformats.org/drawingml/2006/main">
            <a:pPr algn="l">
              <a:defRPr sz="1725" b="0">
                <a:solidFill>
                  <a:srgbClr val="000000"/>
                </a:solidFill>
                <a:latin typeface="Helvetica Neue"/>
                <a:ea typeface="Helvetica Neue"/>
                <a:cs typeface="Helvetica Neue"/>
              </a:defRPr>
            </a:pPr>
            <a:r>
              <a:rPr sz="1725" b="0">
                <a:solidFill>
                  <a:srgbClr val="000000"/>
                </a:solidFill>
                <a:latin typeface="Helvetica Neue"/>
                <a:ea typeface="Helvetica Neue"/>
                <a:cs typeface="Helvetica Neue"/>
              </a:rPr>
              <a:t>• Visible preview for every write</a:t>
            </a:r>
          </a:p>
          <a:p xmlns:a="http://schemas.openxmlformats.org/drawingml/2006/main">
            <a:pPr algn="l">
              <a:defRPr sz="1725" b="0">
                <a:solidFill>
                  <a:srgbClr val="000000"/>
                </a:solidFill>
                <a:latin typeface="Helvetica Neue"/>
                <a:ea typeface="Helvetica Neue"/>
                <a:cs typeface="Helvetica Neue"/>
              </a:defRPr>
            </a:pPr>
            <a:r>
              <a:rPr sz="1725" b="0">
                <a:solidFill>
                  <a:srgbClr val="000000"/>
                </a:solidFill>
                <a:latin typeface="Helvetica Neue"/>
                <a:ea typeface="Helvetica Neue"/>
                <a:cs typeface="Helvetica Neue"/>
              </a:rPr>
              <a:t>• Fresh Item ids required in the same turn</a:t>
            </a:r>
          </a:p>
          <a:p xmlns:a="http://schemas.openxmlformats.org/drawingml/2006/main">
            <a:pPr algn="l">
              <a:defRPr sz="1725" b="0">
                <a:solidFill>
                  <a:srgbClr val="000000"/>
                </a:solidFill>
                <a:latin typeface="Helvetica Neue"/>
                <a:ea typeface="Helvetica Neue"/>
                <a:cs typeface="Helvetica Neue"/>
              </a:defRPr>
            </a:pPr>
            <a:r>
              <a:rPr sz="1725" b="0">
                <a:solidFill>
                  <a:srgbClr val="000000"/>
                </a:solidFill>
                <a:latin typeface="Helvetica Neue"/>
                <a:ea typeface="Helvetica Neue"/>
                <a:cs typeface="Helvetica Neue"/>
              </a:rPr>
              <a:t>• Explicit timezone and date context</a:t>
            </a:r>
          </a:p>
          <a:p xmlns:a="http://schemas.openxmlformats.org/drawingml/2006/main">
            <a:pPr algn="l">
              <a:defRPr sz="1725" b="0">
                <a:solidFill>
                  <a:srgbClr val="000000"/>
                </a:solidFill>
                <a:latin typeface="Helvetica Neue"/>
                <a:ea typeface="Helvetica Neue"/>
                <a:cs typeface="Helvetica Neue"/>
              </a:defRPr>
            </a:pPr>
            <a:r>
              <a:rPr sz="1725" b="0">
                <a:solidFill>
                  <a:srgbClr val="000000"/>
                </a:solidFill>
                <a:latin typeface="Helvetica Neue"/>
                <a:ea typeface="Helvetica Neue"/>
                <a:cs typeface="Helvetica Neue"/>
              </a:rPr>
              <a:t>• Application-owned structured workflow</a:t>
            </a:r>
          </a:p>
          <a:p xmlns:a="http://schemas.openxmlformats.org/drawingml/2006/main">
            <a:pPr algn="l">
              <a:defRPr sz="1725" b="0">
                <a:solidFill>
                  <a:srgbClr val="000000"/>
                </a:solidFill>
                <a:latin typeface="Helvetica Neue"/>
                <a:ea typeface="Helvetica Neue"/>
                <a:cs typeface="Helvetica Neue"/>
              </a:defRPr>
            </a:pPr>
            <a:r>
              <a:rPr sz="1725" b="0">
                <a:solidFill>
                  <a:srgbClr val="000000"/>
                </a:solidFill>
                <a:latin typeface="Helvetica Neue"/>
                <a:ea typeface="Helvetica Neue"/>
                <a:cs typeface="Helvetica Neue"/>
              </a:rPr>
              <a:t>• Cancellation, retry, and readable failures</a:t>
            </a:r>
          </a:p>
        </p:txBody>
      </p:sp>
      <p:sp>
        <p:nvSpPr>
          <p:cNvPr id="7" name="boundary-label">
            <a:extLst xmlns:a="http://schemas.openxmlformats.org/drawingml/2006/main">
              <a:ext uri="{FF2B5EF4-FFF2-40B4-BE49-F238E27FC236}">
                <a16:creationId xmlns:a16="http://schemas.microsoft.com/office/drawing/2014/main" id="{E746F562-17A1-46DD-821C-1EE96535CE2B}"/>
              </a:ext>
            </a:extLst>
          </p:cNvPr>
          <p:cNvSpPr>
            <a:spLocks xmlns:a="http://schemas.openxmlformats.org/drawingml/2006/main" noGrp="1"/>
          </p:cNvSpPr>
          <p:nvPr/>
        </p:nvSpPr>
        <p:spPr>
          <a:xfrm xmlns:a="http://schemas.openxmlformats.org/drawingml/2006/main">
            <a:off x="6591300" y="1943100"/>
            <a:ext cx="3429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5E6470"/>
                </a:solidFill>
                <a:latin typeface="Helvetica Neue"/>
                <a:ea typeface="Helvetica Neue"/>
                <a:cs typeface="Helvetica Neue"/>
              </a:defRPr>
            </a:pPr>
            <a:r>
              <a:rPr sz="1500" b="1">
                <a:solidFill>
                  <a:srgbClr val="5E6470"/>
                </a:solidFill>
                <a:latin typeface="Helvetica Neue"/>
                <a:ea typeface="Helvetica Neue"/>
                <a:cs typeface="Helvetica Neue"/>
              </a:rPr>
              <a:t>CURRENT BOUNDARIES</a:t>
            </a:r>
          </a:p>
        </p:txBody>
      </p:sp>
      <p:sp>
        <p:nvSpPr>
          <p:cNvPr id="8" name="boundary-body">
            <a:extLst xmlns:a="http://schemas.openxmlformats.org/drawingml/2006/main">
              <a:ext uri="{FF2B5EF4-FFF2-40B4-BE49-F238E27FC236}">
                <a16:creationId xmlns:a16="http://schemas.microsoft.com/office/drawing/2014/main" id="{848B903D-EB22-4833-80A9-396BC60B0A0F}"/>
              </a:ext>
            </a:extLst>
          </p:cNvPr>
          <p:cNvSpPr>
            <a:spLocks xmlns:a="http://schemas.openxmlformats.org/drawingml/2006/main" noGrp="1"/>
          </p:cNvSpPr>
          <p:nvPr/>
        </p:nvSpPr>
        <p:spPr>
          <a:xfrm xmlns:a="http://schemas.openxmlformats.org/drawingml/2006/main">
            <a:off x="6591300" y="2552700"/>
            <a:ext cx="4762500" cy="2857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0">
                <a:solidFill>
                  <a:srgbClr val="5E6470"/>
                </a:solidFill>
                <a:latin typeface="Helvetica Neue"/>
                <a:ea typeface="Helvetica Neue"/>
                <a:cs typeface="Helvetica Neue"/>
              </a:defRPr>
            </a:pPr>
            <a:r>
              <a:rPr sz="1650" b="0">
                <a:solidFill>
                  <a:srgbClr val="5E6470"/>
                </a:solidFill>
                <a:latin typeface="Helvetica Neue"/>
                <a:ea typeface="Helvetica Neue"/>
                <a:cs typeface="Helvetica Neue"/>
              </a:rPr>
              <a:t>• Regular get_today omits Calendar, Daily Plan, and Capacity</a:t>
            </a:r>
          </a:p>
          <a:p xmlns:a="http://schemas.openxmlformats.org/drawingml/2006/main">
            <a:pPr algn="l">
              <a:defRPr sz="1650" b="0">
                <a:solidFill>
                  <a:srgbClr val="5E6470"/>
                </a:solidFill>
                <a:latin typeface="Helvetica Neue"/>
                <a:ea typeface="Helvetica Neue"/>
                <a:cs typeface="Helvetica Neue"/>
              </a:defRPr>
            </a:pPr>
            <a:r>
              <a:rPr sz="1650" b="0">
                <a:solidFill>
                  <a:srgbClr val="5E6470"/>
                </a:solidFill>
                <a:latin typeface="Helvetica Neue"/>
                <a:ea typeface="Helvetica Neue"/>
                <a:cs typeface="Helvetica Neue"/>
              </a:rPr>
              <a:t>• The regular tool loop is capped at four iterations</a:t>
            </a:r>
          </a:p>
          <a:p xmlns:a="http://schemas.openxmlformats.org/drawingml/2006/main">
            <a:pPr algn="l">
              <a:defRPr sz="1650" b="0">
                <a:solidFill>
                  <a:srgbClr val="5E6470"/>
                </a:solidFill>
                <a:latin typeface="Helvetica Neue"/>
                <a:ea typeface="Helvetica Neue"/>
                <a:cs typeface="Helvetica Neue"/>
              </a:defRPr>
            </a:pPr>
            <a:r>
              <a:rPr sz="1650" b="0">
                <a:solidFill>
                  <a:srgbClr val="5E6470"/>
                </a:solidFill>
                <a:latin typeface="Helvetica Neue"/>
                <a:ea typeface="Helvetica Neue"/>
                <a:cs typeface="Helvetica Neue"/>
              </a:rPr>
              <a:t>• Only plan_work is registered as a durable workflow</a:t>
            </a:r>
          </a:p>
          <a:p xmlns:a="http://schemas.openxmlformats.org/drawingml/2006/main">
            <a:pPr algn="l">
              <a:defRPr sz="1650" b="0">
                <a:solidFill>
                  <a:srgbClr val="5E6470"/>
                </a:solidFill>
                <a:latin typeface="Helvetica Neue"/>
                <a:ea typeface="Helvetica Neue"/>
                <a:cs typeface="Helvetica Neue"/>
              </a:defRPr>
            </a:pPr>
            <a:r>
              <a:rPr sz="1650" b="0">
                <a:solidFill>
                  <a:srgbClr val="5E6470"/>
                </a:solidFill>
                <a:latin typeface="Helvetica Neue"/>
                <a:ea typeface="Helvetica Neue"/>
                <a:cs typeface="Helvetica Neue"/>
              </a:rPr>
              <a:t>• Work remains parked behind a release flag</a:t>
            </a:r>
          </a:p>
          <a:p xmlns:a="http://schemas.openxmlformats.org/drawingml/2006/main">
            <a:pPr algn="l">
              <a:defRPr sz="1650" b="0">
                <a:solidFill>
                  <a:srgbClr val="5E6470"/>
                </a:solidFill>
                <a:latin typeface="Helvetica Neue"/>
                <a:ea typeface="Helvetica Neue"/>
                <a:cs typeface="Helvetica Neue"/>
              </a:defRPr>
            </a:pPr>
            <a:r>
              <a:rPr sz="1650" b="0">
                <a:solidFill>
                  <a:srgbClr val="5E6470"/>
                </a:solidFill>
                <a:latin typeface="Helvetica Neue"/>
                <a:ea typeface="Helvetica Neue"/>
                <a:cs typeface="Helvetica Neue"/>
              </a:rPr>
              <a:t>• Structured workflow attachments are rejected</a:t>
            </a:r>
          </a:p>
          <a:p xmlns:a="http://schemas.openxmlformats.org/drawingml/2006/main">
            <a:pPr algn="l">
              <a:defRPr sz="1650" b="0">
                <a:solidFill>
                  <a:srgbClr val="5E6470"/>
                </a:solidFill>
                <a:latin typeface="Helvetica Neue"/>
                <a:ea typeface="Helvetica Neue"/>
                <a:cs typeface="Helvetica Neue"/>
              </a:defRPr>
            </a:pPr>
            <a:r>
              <a:rPr sz="1650" b="0">
                <a:solidFill>
                  <a:srgbClr val="5E6470"/>
                </a:solidFill>
                <a:latin typeface="Helvetica Neue"/>
                <a:ea typeface="Helvetica Neue"/>
                <a:cs typeface="Helvetica Neue"/>
              </a:rPr>
              <a:t>• Guest Local-day state is not carried in the Talk request</a:t>
            </a:r>
          </a:p>
        </p:txBody>
      </p:sp>
      <p:sp>
        <p:nvSpPr>
          <p:cNvPr id="9" name="target-quote-bg">
            <a:extLst xmlns:a="http://schemas.openxmlformats.org/drawingml/2006/main">
              <a:ext uri="{FF2B5EF4-FFF2-40B4-BE49-F238E27FC236}">
                <a16:creationId xmlns:a16="http://schemas.microsoft.com/office/drawing/2014/main" id="{7F2E8994-9845-4956-A696-CA9467FEF78A}"/>
              </a:ext>
            </a:extLst>
          </p:cNvPr>
          <p:cNvSpPr>
            <a:spLocks xmlns:a="http://schemas.openxmlformats.org/drawingml/2006/main" noGrp="1"/>
          </p:cNvSpPr>
          <p:nvPr/>
        </p:nvSpPr>
        <p:spPr>
          <a:xfrm xmlns:a="http://schemas.openxmlformats.org/drawingml/2006/main">
            <a:off x="514350" y="5734050"/>
            <a:ext cx="10839450" cy="476250"/>
          </a:xfrm>
          <a:prstGeom xmlns:a="http://schemas.openxmlformats.org/drawingml/2006/main" prst="rect">
            <a:avLst/>
          </a:prstGeom>
          <a:solidFill xmlns:a="http://schemas.openxmlformats.org/drawingml/2006/main">
            <a:srgbClr val="E7F6FD"/>
          </a:solidFill>
          <a:ln xmlns:a="http://schemas.openxmlformats.org/drawingml/2006/main" w="0">
            <a:noFill/>
            <a:prstDash val="solid"/>
          </a:ln>
        </p:spPr>
      </p:sp>
      <p:sp>
        <p:nvSpPr>
          <p:cNvPr id="10" name="target-quote">
            <a:extLst xmlns:a="http://schemas.openxmlformats.org/drawingml/2006/main">
              <a:ext uri="{FF2B5EF4-FFF2-40B4-BE49-F238E27FC236}">
                <a16:creationId xmlns:a16="http://schemas.microsoft.com/office/drawing/2014/main" id="{4533CCF1-620A-40F7-B85F-E12BDA0CC6AC}"/>
              </a:ext>
            </a:extLst>
          </p:cNvPr>
          <p:cNvSpPr>
            <a:spLocks xmlns:a="http://schemas.openxmlformats.org/drawingml/2006/main" noGrp="1"/>
          </p:cNvSpPr>
          <p:nvPr/>
        </p:nvSpPr>
        <p:spPr>
          <a:xfrm xmlns:a="http://schemas.openxmlformats.org/drawingml/2006/main">
            <a:off x="742950" y="5838825"/>
            <a:ext cx="10344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1">
                <a:solidFill>
                  <a:srgbClr val="3D8DFF"/>
                </a:solidFill>
                <a:latin typeface="Helvetica Neue"/>
                <a:ea typeface="Helvetica Neue"/>
                <a:cs typeface="Helvetica Neue"/>
              </a:defRPr>
            </a:pPr>
            <a:r>
              <a:rPr sz="1800" b="1">
                <a:solidFill>
                  <a:srgbClr val="3D8DFF"/>
                </a:solidFill>
                <a:latin typeface="Helvetica Neue"/>
                <a:ea typeface="Helvetica Neue"/>
                <a:cs typeface="Helvetica Neue"/>
              </a:rPr>
              <a:t>Target: “Say it, and it lands on one honest clock.”</a:t>
            </a:r>
          </a:p>
        </p:txBody>
      </p:sp>
    </p:spTree>
    <p:extLst>
      <p:ext uri="{BB962C8B-B14F-4D97-AF65-F5344CB8AC3E}">
        <p14:creationId xmlns:p14="http://schemas.microsoft.com/office/powerpoint/2010/main" val="445087567"/>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closing-eyebrow">
            <a:extLst xmlns:a="http://schemas.openxmlformats.org/drawingml/2006/main">
              <a:ext uri="{FF2B5EF4-FFF2-40B4-BE49-F238E27FC236}">
                <a16:creationId xmlns:a16="http://schemas.microsoft.com/office/drawing/2014/main" id="{B8CF0BE6-2475-4DC5-8153-E33D5C9D71B9}"/>
              </a:ext>
            </a:extLst>
          </p:cNvPr>
          <p:cNvSpPr>
            <a:spLocks xmlns:a="http://schemas.openxmlformats.org/drawingml/2006/main" noGrp="1"/>
          </p:cNvSpPr>
          <p:nvPr/>
        </p:nvSpPr>
        <p:spPr>
          <a:xfrm xmlns:a="http://schemas.openxmlformats.org/drawingml/2006/main">
            <a:off x="495300" y="400050"/>
            <a:ext cx="3810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5E6470"/>
                </a:solidFill>
                <a:latin typeface="Helvetica Neue"/>
                <a:ea typeface="Helvetica Neue"/>
                <a:cs typeface="Helvetica Neue"/>
              </a:defRPr>
            </a:pPr>
            <a:r>
              <a:rPr sz="1500" b="1">
                <a:solidFill>
                  <a:srgbClr val="5E6470"/>
                </a:solidFill>
                <a:latin typeface="Helvetica Neue"/>
                <a:ea typeface="Helvetica Neue"/>
                <a:cs typeface="Helvetica Neue"/>
              </a:rPr>
              <a:t>THE MENTAL MODEL</a:t>
            </a:r>
          </a:p>
        </p:txBody>
      </p:sp>
      <p:sp>
        <p:nvSpPr>
          <p:cNvPr id="2" name="closing-lead-0">
            <a:extLst xmlns:a="http://schemas.openxmlformats.org/drawingml/2006/main">
              <a:ext uri="{FF2B5EF4-FFF2-40B4-BE49-F238E27FC236}">
                <a16:creationId xmlns:a16="http://schemas.microsoft.com/office/drawing/2014/main" id="{E0CA51B5-6B7A-4002-BC9A-332F0322C0C0}"/>
              </a:ext>
            </a:extLst>
          </p:cNvPr>
          <p:cNvSpPr>
            <a:spLocks xmlns:a="http://schemas.openxmlformats.org/drawingml/2006/main" noGrp="1"/>
          </p:cNvSpPr>
          <p:nvPr/>
        </p:nvSpPr>
        <p:spPr>
          <a:xfrm xmlns:a="http://schemas.openxmlformats.org/drawingml/2006/main">
            <a:off x="514350" y="1390650"/>
            <a:ext cx="285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450" b="1">
                <a:solidFill>
                  <a:srgbClr val="000000"/>
                </a:solidFill>
                <a:latin typeface="Helvetica Neue"/>
                <a:ea typeface="Helvetica Neue"/>
                <a:cs typeface="Helvetica Neue"/>
              </a:defRPr>
            </a:pPr>
            <a:r>
              <a:rPr sz="3450" b="1">
                <a:solidFill>
                  <a:srgbClr val="000000"/>
                </a:solidFill>
                <a:latin typeface="Helvetica Neue"/>
                <a:ea typeface="Helvetica Neue"/>
                <a:cs typeface="Helvetica Neue"/>
              </a:rPr>
              <a:t>Composer</a:t>
            </a:r>
          </a:p>
        </p:txBody>
      </p:sp>
      <p:sp>
        <p:nvSpPr>
          <p:cNvPr id="3" name="closing-rest-0">
            <a:extLst xmlns:a="http://schemas.openxmlformats.org/drawingml/2006/main">
              <a:ext uri="{FF2B5EF4-FFF2-40B4-BE49-F238E27FC236}">
                <a16:creationId xmlns:a16="http://schemas.microsoft.com/office/drawing/2014/main" id="{0F536C21-D51E-40A5-B50D-6B02836EA165}"/>
              </a:ext>
            </a:extLst>
          </p:cNvPr>
          <p:cNvSpPr>
            <a:spLocks xmlns:a="http://schemas.openxmlformats.org/drawingml/2006/main" noGrp="1"/>
          </p:cNvSpPr>
          <p:nvPr/>
        </p:nvSpPr>
        <p:spPr>
          <a:xfrm xmlns:a="http://schemas.openxmlformats.org/drawingml/2006/main">
            <a:off x="3429000" y="1428750"/>
            <a:ext cx="8001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700" b="0">
                <a:solidFill>
                  <a:srgbClr val="5E6470"/>
                </a:solidFill>
                <a:latin typeface="Helvetica Neue"/>
                <a:ea typeface="Helvetica Neue"/>
                <a:cs typeface="Helvetica Neue"/>
              </a:defRPr>
            </a:pPr>
            <a:r>
              <a:rPr sz="2700" b="0">
                <a:solidFill>
                  <a:srgbClr val="5E6470"/>
                </a:solidFill>
                <a:latin typeface="Helvetica Neue"/>
                <a:ea typeface="Helvetica Neue"/>
                <a:cs typeface="Helvetica Neue"/>
              </a:rPr>
              <a:t>owns interaction.</a:t>
            </a:r>
          </a:p>
        </p:txBody>
      </p:sp>
      <p:sp>
        <p:nvSpPr>
          <p:cNvPr id="4" name="closing-lead-1">
            <a:extLst xmlns:a="http://schemas.openxmlformats.org/drawingml/2006/main">
              <a:ext uri="{FF2B5EF4-FFF2-40B4-BE49-F238E27FC236}">
                <a16:creationId xmlns:a16="http://schemas.microsoft.com/office/drawing/2014/main" id="{6FDC5188-059C-45BA-BC95-EC544444EEC8}"/>
              </a:ext>
            </a:extLst>
          </p:cNvPr>
          <p:cNvSpPr>
            <a:spLocks xmlns:a="http://schemas.openxmlformats.org/drawingml/2006/main" noGrp="1"/>
          </p:cNvSpPr>
          <p:nvPr/>
        </p:nvSpPr>
        <p:spPr>
          <a:xfrm xmlns:a="http://schemas.openxmlformats.org/drawingml/2006/main">
            <a:off x="514350" y="2362200"/>
            <a:ext cx="285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450" b="1">
                <a:solidFill>
                  <a:srgbClr val="000000"/>
                </a:solidFill>
                <a:latin typeface="Helvetica Neue"/>
                <a:ea typeface="Helvetica Neue"/>
                <a:cs typeface="Helvetica Neue"/>
              </a:defRPr>
            </a:pPr>
            <a:r>
              <a:rPr sz="3450" b="1">
                <a:solidFill>
                  <a:srgbClr val="000000"/>
                </a:solidFill>
                <a:latin typeface="Helvetica Neue"/>
                <a:ea typeface="Helvetica Neue"/>
                <a:cs typeface="Helvetica Neue"/>
              </a:rPr>
              <a:t>Route</a:t>
            </a:r>
          </a:p>
        </p:txBody>
      </p:sp>
      <p:sp>
        <p:nvSpPr>
          <p:cNvPr id="5" name="closing-rest-1">
            <a:extLst xmlns:a="http://schemas.openxmlformats.org/drawingml/2006/main">
              <a:ext uri="{FF2B5EF4-FFF2-40B4-BE49-F238E27FC236}">
                <a16:creationId xmlns:a16="http://schemas.microsoft.com/office/drawing/2014/main" id="{27567A58-CCCC-41D5-A79C-07B88EB0219A}"/>
              </a:ext>
            </a:extLst>
          </p:cNvPr>
          <p:cNvSpPr>
            <a:spLocks xmlns:a="http://schemas.openxmlformats.org/drawingml/2006/main" noGrp="1"/>
          </p:cNvSpPr>
          <p:nvPr/>
        </p:nvSpPr>
        <p:spPr>
          <a:xfrm xmlns:a="http://schemas.openxmlformats.org/drawingml/2006/main">
            <a:off x="3429000" y="2400300"/>
            <a:ext cx="8001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700" b="0">
                <a:solidFill>
                  <a:srgbClr val="5E6470"/>
                </a:solidFill>
                <a:latin typeface="Helvetica Neue"/>
                <a:ea typeface="Helvetica Neue"/>
                <a:cs typeface="Helvetica Neue"/>
              </a:defRPr>
            </a:pPr>
            <a:r>
              <a:rPr sz="2700" b="0">
                <a:solidFill>
                  <a:srgbClr val="5E6470"/>
                </a:solidFill>
                <a:latin typeface="Helvetica Neue"/>
                <a:ea typeface="Helvetica Neue"/>
                <a:cs typeface="Helvetica Neue"/>
              </a:rPr>
              <a:t>owns engine selection.</a:t>
            </a:r>
          </a:p>
        </p:txBody>
      </p:sp>
      <p:sp>
        <p:nvSpPr>
          <p:cNvPr id="6" name="closing-lead-2">
            <a:extLst xmlns:a="http://schemas.openxmlformats.org/drawingml/2006/main">
              <a:ext uri="{FF2B5EF4-FFF2-40B4-BE49-F238E27FC236}">
                <a16:creationId xmlns:a16="http://schemas.microsoft.com/office/drawing/2014/main" id="{3CFC8C31-4142-463C-92A8-2722F40E79E6}"/>
              </a:ext>
            </a:extLst>
          </p:cNvPr>
          <p:cNvSpPr>
            <a:spLocks xmlns:a="http://schemas.openxmlformats.org/drawingml/2006/main" noGrp="1"/>
          </p:cNvSpPr>
          <p:nvPr/>
        </p:nvSpPr>
        <p:spPr>
          <a:xfrm xmlns:a="http://schemas.openxmlformats.org/drawingml/2006/main">
            <a:off x="514350" y="3333750"/>
            <a:ext cx="285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450" b="1">
                <a:solidFill>
                  <a:srgbClr val="000000"/>
                </a:solidFill>
                <a:latin typeface="Helvetica Neue"/>
                <a:ea typeface="Helvetica Neue"/>
                <a:cs typeface="Helvetica Neue"/>
              </a:defRPr>
            </a:pPr>
            <a:r>
              <a:rPr sz="3450" b="1">
                <a:solidFill>
                  <a:srgbClr val="000000"/>
                </a:solidFill>
                <a:latin typeface="Helvetica Neue"/>
                <a:ea typeface="Helvetica Neue"/>
                <a:cs typeface="Helvetica Neue"/>
              </a:rPr>
              <a:t>Model</a:t>
            </a:r>
          </a:p>
        </p:txBody>
      </p:sp>
      <p:sp>
        <p:nvSpPr>
          <p:cNvPr id="7" name="closing-rest-2">
            <a:extLst xmlns:a="http://schemas.openxmlformats.org/drawingml/2006/main">
              <a:ext uri="{FF2B5EF4-FFF2-40B4-BE49-F238E27FC236}">
                <a16:creationId xmlns:a16="http://schemas.microsoft.com/office/drawing/2014/main" id="{C492CAEB-8F49-4889-B1E3-F4B15F06F402}"/>
              </a:ext>
            </a:extLst>
          </p:cNvPr>
          <p:cNvSpPr>
            <a:spLocks xmlns:a="http://schemas.openxmlformats.org/drawingml/2006/main" noGrp="1"/>
          </p:cNvSpPr>
          <p:nvPr/>
        </p:nvSpPr>
        <p:spPr>
          <a:xfrm xmlns:a="http://schemas.openxmlformats.org/drawingml/2006/main">
            <a:off x="3429000" y="3371850"/>
            <a:ext cx="8001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700" b="0">
                <a:solidFill>
                  <a:srgbClr val="5E6470"/>
                </a:solidFill>
                <a:latin typeface="Helvetica Neue"/>
                <a:ea typeface="Helvetica Neue"/>
                <a:cs typeface="Helvetica Neue"/>
              </a:defRPr>
            </a:pPr>
            <a:r>
              <a:rPr sz="2700" b="0">
                <a:solidFill>
                  <a:srgbClr val="5E6470"/>
                </a:solidFill>
                <a:latin typeface="Helvetica Neue"/>
                <a:ea typeface="Helvetica Neue"/>
                <a:cs typeface="Helvetica Neue"/>
              </a:rPr>
              <a:t>proposes through bounded tools.</a:t>
            </a:r>
          </a:p>
        </p:txBody>
      </p:sp>
      <p:sp>
        <p:nvSpPr>
          <p:cNvPr id="8" name="closing-lead-3">
            <a:extLst xmlns:a="http://schemas.openxmlformats.org/drawingml/2006/main">
              <a:ext uri="{FF2B5EF4-FFF2-40B4-BE49-F238E27FC236}">
                <a16:creationId xmlns:a16="http://schemas.microsoft.com/office/drawing/2014/main" id="{505AA945-E908-4B70-8616-78502A234832}"/>
              </a:ext>
            </a:extLst>
          </p:cNvPr>
          <p:cNvSpPr>
            <a:spLocks xmlns:a="http://schemas.openxmlformats.org/drawingml/2006/main" noGrp="1"/>
          </p:cNvSpPr>
          <p:nvPr/>
        </p:nvSpPr>
        <p:spPr>
          <a:xfrm xmlns:a="http://schemas.openxmlformats.org/drawingml/2006/main">
            <a:off x="514350" y="4305300"/>
            <a:ext cx="285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450" b="1">
                <a:solidFill>
                  <a:srgbClr val="3D8DFF"/>
                </a:solidFill>
                <a:latin typeface="Helvetica Neue"/>
                <a:ea typeface="Helvetica Neue"/>
                <a:cs typeface="Helvetica Neue"/>
              </a:defRPr>
            </a:pPr>
            <a:r>
              <a:rPr sz="3450" b="1">
                <a:solidFill>
                  <a:srgbClr val="3D8DFF"/>
                </a:solidFill>
                <a:latin typeface="Helvetica Neue"/>
                <a:ea typeface="Helvetica Neue"/>
                <a:cs typeface="Helvetica Neue"/>
              </a:rPr>
              <a:t>Application</a:t>
            </a:r>
          </a:p>
        </p:txBody>
      </p:sp>
      <p:sp>
        <p:nvSpPr>
          <p:cNvPr id="9" name="closing-rest-3">
            <a:extLst xmlns:a="http://schemas.openxmlformats.org/drawingml/2006/main">
              <a:ext uri="{FF2B5EF4-FFF2-40B4-BE49-F238E27FC236}">
                <a16:creationId xmlns:a16="http://schemas.microsoft.com/office/drawing/2014/main" id="{EF9E38E6-A76B-4DF7-B8AC-6A52B1E5B558}"/>
              </a:ext>
            </a:extLst>
          </p:cNvPr>
          <p:cNvSpPr>
            <a:spLocks xmlns:a="http://schemas.openxmlformats.org/drawingml/2006/main" noGrp="1"/>
          </p:cNvSpPr>
          <p:nvPr/>
        </p:nvSpPr>
        <p:spPr>
          <a:xfrm xmlns:a="http://schemas.openxmlformats.org/drawingml/2006/main">
            <a:off x="3429000" y="4343400"/>
            <a:ext cx="8001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700" b="0">
                <a:solidFill>
                  <a:srgbClr val="5E6470"/>
                </a:solidFill>
                <a:latin typeface="Helvetica Neue"/>
                <a:ea typeface="Helvetica Neue"/>
                <a:cs typeface="Helvetica Neue"/>
              </a:defRPr>
            </a:pPr>
            <a:r>
              <a:rPr sz="2700" b="0">
                <a:solidFill>
                  <a:srgbClr val="5E6470"/>
                </a:solidFill>
                <a:latin typeface="Helvetica Neue"/>
                <a:ea typeface="Helvetica Neue"/>
                <a:cs typeface="Helvetica Neue"/>
              </a:rPr>
              <a:t>owns truth, confirmation, and persistence.</a:t>
            </a:r>
          </a:p>
        </p:txBody>
      </p:sp>
      <p:sp>
        <p:nvSpPr>
          <p:cNvPr id="10" name="closing-rule">
            <a:extLst xmlns:a="http://schemas.openxmlformats.org/drawingml/2006/main">
              <a:ext uri="{FF2B5EF4-FFF2-40B4-BE49-F238E27FC236}">
                <a16:creationId xmlns:a16="http://schemas.microsoft.com/office/drawing/2014/main" id="{F1DEE1D7-CFFA-4606-86D8-322C8DB75C54}"/>
              </a:ext>
            </a:extLst>
          </p:cNvPr>
          <p:cNvSpPr>
            <a:spLocks xmlns:a="http://schemas.openxmlformats.org/drawingml/2006/main" noGrp="1"/>
          </p:cNvSpPr>
          <p:nvPr/>
        </p:nvSpPr>
        <p:spPr>
          <a:xfrm xmlns:a="http://schemas.openxmlformats.org/drawingml/2006/main">
            <a:off x="514350" y="5562600"/>
            <a:ext cx="10839450" cy="38100"/>
          </a:xfrm>
          <a:prstGeom xmlns:a="http://schemas.openxmlformats.org/drawingml/2006/main" prst="rect">
            <a:avLst/>
          </a:prstGeom>
          <a:solidFill xmlns:a="http://schemas.openxmlformats.org/drawingml/2006/main">
            <a:srgbClr val="000000"/>
          </a:solidFill>
          <a:ln xmlns:a="http://schemas.openxmlformats.org/drawingml/2006/main" w="0">
            <a:noFill/>
            <a:prstDash val="solid"/>
          </a:ln>
        </p:spPr>
      </p:sp>
      <p:sp>
        <p:nvSpPr>
          <p:cNvPr id="11" name="closing-sub">
            <a:extLst xmlns:a="http://schemas.openxmlformats.org/drawingml/2006/main">
              <a:ext uri="{FF2B5EF4-FFF2-40B4-BE49-F238E27FC236}">
                <a16:creationId xmlns:a16="http://schemas.microsoft.com/office/drawing/2014/main" id="{A07055BE-D0E0-4F1D-A7F5-05EED3D1DCA3}"/>
              </a:ext>
            </a:extLst>
          </p:cNvPr>
          <p:cNvSpPr>
            <a:spLocks xmlns:a="http://schemas.openxmlformats.org/drawingml/2006/main" noGrp="1"/>
          </p:cNvSpPr>
          <p:nvPr/>
        </p:nvSpPr>
        <p:spPr>
          <a:xfrm xmlns:a="http://schemas.openxmlformats.org/drawingml/2006/main">
            <a:off x="514350" y="5886450"/>
            <a:ext cx="10096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75" b="1">
                <a:solidFill>
                  <a:srgbClr val="000000"/>
                </a:solidFill>
                <a:latin typeface="Helvetica Neue"/>
                <a:ea typeface="Helvetica Neue"/>
                <a:cs typeface="Helvetica Neue"/>
              </a:defRPr>
            </a:pPr>
            <a:r>
              <a:rPr sz="1875" b="1">
                <a:solidFill>
                  <a:srgbClr val="000000"/>
                </a:solidFill>
                <a:latin typeface="Helvetica Neue"/>
                <a:ea typeface="Helvetica Neue"/>
                <a:cs typeface="Helvetica Neue"/>
              </a:rPr>
              <a:t>That separation is what makes Talk safe—and shows exactly where future work belongs.</a:t>
            </a:r>
          </a:p>
        </p:txBody>
      </p:sp>
      <p:sp>
        <p:nvSpPr>
          <p:cNvPr id="12" name="closing-page">
            <a:extLst xmlns:a="http://schemas.openxmlformats.org/drawingml/2006/main">
              <a:ext uri="{FF2B5EF4-FFF2-40B4-BE49-F238E27FC236}">
                <a16:creationId xmlns:a16="http://schemas.microsoft.com/office/drawing/2014/main" id="{3423B6DC-AEB3-45B9-9EE3-96AD9935622D}"/>
              </a:ext>
            </a:extLst>
          </p:cNvPr>
          <p:cNvSpPr>
            <a:spLocks xmlns:a="http://schemas.openxmlformats.org/drawingml/2006/main" noGrp="1"/>
          </p:cNvSpPr>
          <p:nvPr/>
        </p:nvSpPr>
        <p:spPr>
          <a:xfrm xmlns:a="http://schemas.openxmlformats.org/drawingml/2006/main">
            <a:off x="11277600" y="626745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E6470"/>
                </a:solidFill>
                <a:latin typeface="Helvetica Neue"/>
                <a:ea typeface="Helvetica Neue"/>
                <a:cs typeface="Helvetica Neue"/>
              </a:defRPr>
            </a:pPr>
            <a:r>
              <a:rPr sz="1125" b="0">
                <a:solidFill>
                  <a:srgbClr val="5E6470"/>
                </a:solidFill>
                <a:latin typeface="Helvetica Neue"/>
                <a:ea typeface="Helvetica Neue"/>
                <a:cs typeface="Helvetica Neue"/>
              </a:rPr>
              <a:t>12</a:t>
            </a:r>
          </a:p>
        </p:txBody>
      </p:sp>
    </p:spTree>
    <p:extLst>
      <p:ext uri="{BB962C8B-B14F-4D97-AF65-F5344CB8AC3E}">
        <p14:creationId xmlns:p14="http://schemas.microsoft.com/office/powerpoint/2010/main" val="42303450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2026-08-26T09:26:51.0030000Z</dcterms:created>
  <dcterms:modified xsi:type="dcterms:W3CDTF">2026-08-26T09:26:51.0030000Z</dcterms:modified>
</coreProperties>
</file>